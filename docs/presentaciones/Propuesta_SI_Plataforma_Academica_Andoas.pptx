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Nunito Sans Bold" charset="1" panose="00000000000000000000"/>
      <p:regular r:id="rId29"/>
    </p:embeddedFont>
    <p:embeddedFont>
      <p:font typeface="Rubik Bold" charset="1" panose="00000800000000000000"/>
      <p:regular r:id="rId30"/>
    </p:embeddedFont>
    <p:embeddedFont>
      <p:font typeface="Nunito Sans" charset="1" panose="000000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2.xml" Type="http://schemas.openxmlformats.org/officeDocument/2006/relationships/notesSlide"/><Relationship Id="rId33" Target="notesSlides/notesSlide3.xml" Type="http://schemas.openxmlformats.org/officeDocument/2006/relationships/notesSlide"/><Relationship Id="rId34" Target="notesSlides/notesSlide4.xml" Type="http://schemas.openxmlformats.org/officeDocument/2006/relationships/notesSlide"/><Relationship Id="rId35" Target="notesSlides/notesSlide5.xml" Type="http://schemas.openxmlformats.org/officeDocument/2006/relationships/notesSlide"/><Relationship Id="rId36" Target="notesSlides/notesSlide6.xml" Type="http://schemas.openxmlformats.org/officeDocument/2006/relationships/notesSlide"/><Relationship Id="rId37" Target="notesSlides/notesSlide7.xml" Type="http://schemas.openxmlformats.org/officeDocument/2006/relationships/notesSlide"/><Relationship Id="rId38" Target="notesSlides/notesSlide8.xml" Type="http://schemas.openxmlformats.org/officeDocument/2006/relationships/notesSlide"/><Relationship Id="rId39" Target="notesSlides/notesSlide9.xml" Type="http://schemas.openxmlformats.org/officeDocument/2006/relationships/notesSlide"/><Relationship Id="rId4" Target="theme/theme1.xml" Type="http://schemas.openxmlformats.org/officeDocument/2006/relationships/theme"/><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notesSlides/notesSlide13.xml" Type="http://schemas.openxmlformats.org/officeDocument/2006/relationships/notesSlide"/><Relationship Id="rId44" Target="notesSlides/notesSlide14.xml" Type="http://schemas.openxmlformats.org/officeDocument/2006/relationships/notesSlide"/><Relationship Id="rId45" Target="notesSlides/notesSlide15.xml" Type="http://schemas.openxmlformats.org/officeDocument/2006/relationships/notesSlide"/><Relationship Id="rId46" Target="notesSlides/notesSlide16.xml" Type="http://schemas.openxmlformats.org/officeDocument/2006/relationships/notesSlide"/><Relationship Id="rId47" Target="notesSlides/notesSlide17.xml" Type="http://schemas.openxmlformats.org/officeDocument/2006/relationships/notesSlide"/><Relationship Id="rId48" Target="notesSlides/notesSlide18.xml" Type="http://schemas.openxmlformats.org/officeDocument/2006/relationships/notesSlide"/><Relationship Id="rId49" Target="notesSlides/notesSlide19.xml" Type="http://schemas.openxmlformats.org/officeDocument/2006/relationships/notesSlide"/><Relationship Id="rId5" Target="tableStyles.xml" Type="http://schemas.openxmlformats.org/officeDocument/2006/relationships/tableStyles"/><Relationship Id="rId50" Target="notesSlides/notesSlide20.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Presentación de la propuesta de SI. Mensaje central: digitalizamos la planificación y las notas del colegio y, como novedad, avisamos a los padres el mismo día en que su hijo baja de 7 o falta sin justificar, con una notificación gratis en el celular y el mensaje de WhatsApp listo para enviar.</a:t>
            </a:r>
          </a:p>
          <a:p>
            <a:r>
              <a:rPr lang="en-U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Contar el proceso actual: el docente planifica en Word o papel, califica en su propio Excel y calcula a mano. El problema que más duele a las familias es el tercero: se enteran tarde del bajo rendimiento y de las faltas. Ese es el que resuelve nuestra novedad.</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Este es el corazón de la propuesta. No esperamos a la junta de curso ni a que el estudiante cuente: el sistema detecta la situación al registrar la nota o la asistencia y avisa. El aviso va por niveles: 1) notificación push de la aplicación, gratis y automática; 2) WhatsApp asistido: el docente o la secretaría lo envía con un clic, también gratis; 3) WhatsApp automático por la API oficial, solo si el colegio decide pagar el costo por mensaje. Requisitos RF-29 a RF-35 y RNF-05; cambio CR-01 pendiente de aprobación del vicerrector.</a:t>
            </a:r>
          </a:p>
          <a:p>
            <a:r>
              <a:rPr lang="en-U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Explicar los cinco pasos. Recalcar los controles: verificación del número y autorización (riesgo R6, vulnerabilidad V3), antiduplicados (RF-34), mensaje sin la nota exacta para proteger datos de menores, historial con el canal usado (RF-33) y cola sin conexión (RF-35). El envío es por push gratis y por WhatsApp con un clic; el WhatsApp automático es opcional y de pago.</a:t>
            </a:r>
          </a:p>
          <a:p>
            <a:r>
              <a:rPr lang="en-U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Objetivo general y los cinco específicos del Entregable 2. El tercero es la novedad. El quinto es medible: comparamos el tiempo antes y después con docentes piloto (indicador I-10).</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Alcance del Entregable 2. En el Entregable 1 se mencionó el correo; en esta versión los avisos van por notificación push y WhatsApp, y solo son tres mensajes: confirmación de autorización, promedio bajo y falta sin justificar. Atrasos, tareas próximas y comunicados se ven dentro de la aplicación.</a:t>
            </a:r>
          </a:p>
          <a:p>
            <a:r>
              <a:rPr lang="en-U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Roles: Product Owner = vicerrector; Scrum Master y equipo de desarrollo = los tres integrantes, con responsables por área que rotan en los módulos. Ramas dev, test y main. Priorización con la matriz de Wiegers (valor, costo y riesgo).</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Cronograma de la planificación v2. Los avisos van en el sprint 8 porque, según Wiegers, tienen alto valor pero también alto costo y riesgo, y dependen de que ya existan las notas y la asistencia. Su diseño (eventos, outbox y los tres canales) se prepara desde el sprint 3.</a:t>
            </a:r>
          </a:p>
          <a:p>
            <a:r>
              <a:rPr lang="en-U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Cumple el requisito de la docente: al menos 3 microservicios con base relacional y varios lenguajes. Notificaciones está aislado porque depende de un proveedor externo: si WhatsApp falla, el registro de notas sigue funcionando. El evento se guarda en la misma transacción que la nota (patrón outbox), así ningún aviso se pierde.</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Lenguajes: Java en identidad, TypeScript en académico y en la PWA, Python en notificaciones. IDEs por integrante: IntelliJ para Java, VS Code para TypeScript, PyCharm para Python y DBeaver para las bases. El pipeline bloquea cualquier cambio con secretos, dependencias vulnerables o que no pase el quality gate.</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Resumen del SRS por módulos. Destacar los requisitos de WhatsApp. RNF clave: RNF-01 sin conexión, RNF-02 exactitud del 100 % con la hoja oficial, RNF-04 privacidad, RNF-06 60 docentes y 400 estudiantes simultáneos, RNF-12 a 15 seguridad.</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Diagrama generado con PlantUML (archivo casos_de_uso.puml). El caso central es "Enviar aviso al representante", que extiende a "Registrar notas y asistencia" bajo la condición promedio menor a 7 o falta sin justificar, e incluye "Verificar consentimiento y evitar duplicados" y "Registrar envío y estado de entrega". Si el colegio decide que la justificación de faltas la registra Inspección, se cambia el actor. Para la exposición pueden reemplazar la imagen por su propia captura exportada en alta resolución.</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Tabla del Taller 1.2. Destacar V3 porque es la vulnerabilidad propia de la novedad: un número mal digitado podría enviar datos de un menor a un tercero. Por eso el mensaje nunca dice la nota, solo pide revisar el portal.</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Política del Taller 1.2. La regla 2 es la que protege la novedad. La última tarjeta resume cómo se verifica todo automáticamente en el pipeline.</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Restricciones del Entregable 3, más la restricción académica de la docente. La del proveedor de WhatsApp afecta a la novedad: la API oficial de Meta cobra por cada mensaje y solo permite plantillas aprobadas. Por eso el aviso principal es la notificación push (gratis) y el WhatsApp asistido (gratis, con un clic); el WhatsApp automático queda listo y se activa solo si el colegio lo paga.</a:t>
            </a:r>
          </a:p>
          <a:p>
            <a:r>
              <a:rPr lang="en-U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Supuestos del Entregable 3. En verde, los dos que dependen de la novedad.</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Mostrar los riesgos altos y los dos de la novedad (en verde). R10 se reduce con los avisos por niveles: el sistema avisa aunque el proveedor de WhatsApp no esté activo. R14 aparece por usar microservicios. Si el tiempo no alcanza, se recortan primero RF-08, RF-26/27 y RF-36, de prioridad Media.</a:t>
            </a:r>
          </a:p>
          <a:p>
            <a:r>
              <a:rPr lang="en-U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Las cifras son metas de aceptación, no resultados aún: 460 usuarios viene de RNF-06; 100 % de RNF-02; 0,5 s es el umbral que fijamos para la prueba de carga. Los avisos se prueban con un proveedor simulado en el CI, con notificaciones push reales y con el número de prueba gratuito de WhatsApp en el sprint 8.</a:t>
            </a:r>
          </a:p>
          <a:p>
            <a:r>
              <a:rPr lang="en-U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Solo tres mensajes: confirmación de autorización, promedio bajo y falta sin justificar. Ninguno incluye la nota exacta, solo la materia, para proteger a los menores si el número es equivocado. Los tres tienen el botón No recibir avisos. El mismo texto se usa en los tres canales: notificación push (gratis, automática), WhatsApp asistido (gratis, un clic) y WhatsApp automático (de pago, opcional). La imagen es una vista previa con datos ficticios.</a:t>
            </a:r>
          </a:p>
          <a:p>
            <a:r>
              <a:rPr lang="en-U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Cerrar con los tres beneficios y abrir preguntas. Preguntas probables: ¿cuánto cuesta WhatsApp? (nada obligatorio: push y WhatsApp asistido son gratis; el automático cobra unos centavos por mensaje y es opcional); ¿qué pasa si el padre no autoriza? (no se envía y el aviso queda en el tablero); ¿por qué tres microservicios? (aislar el proveedor externo y los datos de identidad).</a:t>
            </a:r>
          </a:p>
          <a:p>
            <a:r>
              <a:rPr lang="en-U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3.png" Type="http://schemas.openxmlformats.org/officeDocument/2006/relationships/image"/><Relationship Id="rId4" Target="../media/image1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3.png" Type="http://schemas.openxmlformats.org/officeDocument/2006/relationships/image"/><Relationship Id="rId4" Target="../media/image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F2A22"/>
        </a:solidFill>
      </p:bgPr>
    </p:bg>
    <p:spTree>
      <p:nvGrpSpPr>
        <p:cNvPr id="1" name=""/>
        <p:cNvGrpSpPr/>
        <p:nvPr/>
      </p:nvGrpSpPr>
      <p:grpSpPr>
        <a:xfrm>
          <a:off x="0" y="0"/>
          <a:ext cx="0" cy="0"/>
          <a:chOff x="0" y="0"/>
          <a:chExt cx="0" cy="0"/>
        </a:xfrm>
      </p:grpSpPr>
      <p:sp>
        <p:nvSpPr>
          <p:cNvPr name="Freeform 2" id="2"/>
          <p:cNvSpPr/>
          <p:nvPr/>
        </p:nvSpPr>
        <p:spPr>
          <a:xfrm flipH="false" flipV="false" rot="0">
            <a:off x="11239500" y="0"/>
            <a:ext cx="7048500" cy="10287000"/>
          </a:xfrm>
          <a:custGeom>
            <a:avLst/>
            <a:gdLst/>
            <a:ahLst/>
            <a:cxnLst/>
            <a:rect r="r" b="b" t="t" l="l"/>
            <a:pathLst>
              <a:path h="10287000" w="7048500">
                <a:moveTo>
                  <a:pt x="0" y="0"/>
                </a:moveTo>
                <a:lnTo>
                  <a:pt x="7048500" y="0"/>
                </a:lnTo>
                <a:lnTo>
                  <a:pt x="70485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13144500" y="2857500"/>
            <a:ext cx="3429000" cy="3429000"/>
            <a:chOff x="0" y="0"/>
            <a:chExt cx="4572000" cy="4572000"/>
          </a:xfrm>
        </p:grpSpPr>
        <p:sp>
          <p:nvSpPr>
            <p:cNvPr name="Freeform 4" id="4"/>
            <p:cNvSpPr/>
            <p:nvPr/>
          </p:nvSpPr>
          <p:spPr>
            <a:xfrm flipH="false" flipV="false" rot="0">
              <a:off x="0" y="0"/>
              <a:ext cx="4572000" cy="4572000"/>
            </a:xfrm>
            <a:custGeom>
              <a:avLst/>
              <a:gdLst/>
              <a:ahLst/>
              <a:cxnLst/>
              <a:rect r="r" b="b" t="t" l="l"/>
              <a:pathLst>
                <a:path h="4572000" w="4572000">
                  <a:moveTo>
                    <a:pt x="0" y="0"/>
                  </a:moveTo>
                  <a:lnTo>
                    <a:pt x="4572000" y="0"/>
                  </a:lnTo>
                  <a:lnTo>
                    <a:pt x="4572000" y="4572000"/>
                  </a:lnTo>
                  <a:lnTo>
                    <a:pt x="0" y="4572000"/>
                  </a:lnTo>
                  <a:lnTo>
                    <a:pt x="0" y="0"/>
                  </a:lnTo>
                  <a:close/>
                </a:path>
              </a:pathLst>
            </a:custGeom>
            <a:blipFill>
              <a:blip r:embed="rId5"/>
              <a:stretch>
                <a:fillRect l="0" t="0" r="0" b="0"/>
              </a:stretch>
            </a:blipFill>
          </p:spPr>
        </p:sp>
      </p:grpSp>
      <p:sp>
        <p:nvSpPr>
          <p:cNvPr name="TextBox 5" id="5"/>
          <p:cNvSpPr txBox="true"/>
          <p:nvPr/>
        </p:nvSpPr>
        <p:spPr>
          <a:xfrm rot="0">
            <a:off x="1219200" y="1181100"/>
            <a:ext cx="16325088" cy="449580"/>
          </a:xfrm>
          <a:prstGeom prst="rect">
            <a:avLst/>
          </a:prstGeom>
        </p:spPr>
        <p:txBody>
          <a:bodyPr anchor="t" rtlCol="false" tIns="0" lIns="0" bIns="0" rIns="0">
            <a:spAutoFit/>
          </a:bodyPr>
          <a:lstStyle/>
          <a:p>
            <a:pPr algn="l">
              <a:lnSpc>
                <a:spcPts val="2940"/>
              </a:lnSpc>
            </a:pPr>
            <a:r>
              <a:rPr lang="en-US" b="true" sz="2100" spc="225">
                <a:solidFill>
                  <a:srgbClr val="4ADE80"/>
                </a:solidFill>
                <a:latin typeface="Nunito Sans Bold"/>
                <a:ea typeface="Nunito Sans Bold"/>
                <a:cs typeface="Nunito Sans Bold"/>
                <a:sym typeface="Nunito Sans Bold"/>
              </a:rPr>
              <a:t>PROPUESTA DE SISTEMA DE INFORMACIÓN</a:t>
            </a:r>
          </a:p>
        </p:txBody>
      </p:sp>
      <p:sp>
        <p:nvSpPr>
          <p:cNvPr name="TextBox 6" id="6"/>
          <p:cNvSpPr txBox="true"/>
          <p:nvPr/>
        </p:nvSpPr>
        <p:spPr>
          <a:xfrm rot="0">
            <a:off x="1219200" y="3272790"/>
            <a:ext cx="10791825" cy="2164080"/>
          </a:xfrm>
          <a:prstGeom prst="rect">
            <a:avLst/>
          </a:prstGeom>
        </p:spPr>
        <p:txBody>
          <a:bodyPr anchor="t" rtlCol="false" tIns="0" lIns="0" bIns="0" rIns="0">
            <a:spAutoFit/>
          </a:bodyPr>
          <a:lstStyle/>
          <a:p>
            <a:pPr algn="l">
              <a:lnSpc>
                <a:spcPts val="8820"/>
              </a:lnSpc>
            </a:pPr>
            <a:r>
              <a:rPr lang="en-US" sz="8400" b="true">
                <a:solidFill>
                  <a:srgbClr val="F5F6F0"/>
                </a:solidFill>
                <a:latin typeface="Rubik Bold"/>
                <a:ea typeface="Rubik Bold"/>
                <a:cs typeface="Rubik Bold"/>
                <a:sym typeface="Rubik Bold"/>
              </a:rPr>
              <a:t>Plataforma de Gestión Académica</a:t>
            </a:r>
          </a:p>
        </p:txBody>
      </p:sp>
      <p:sp>
        <p:nvSpPr>
          <p:cNvPr name="TextBox 7" id="7"/>
          <p:cNvSpPr txBox="true"/>
          <p:nvPr/>
        </p:nvSpPr>
        <p:spPr>
          <a:xfrm rot="0">
            <a:off x="1219200" y="5665470"/>
            <a:ext cx="10791825" cy="1104900"/>
          </a:xfrm>
          <a:prstGeom prst="rect">
            <a:avLst/>
          </a:prstGeom>
        </p:spPr>
        <p:txBody>
          <a:bodyPr anchor="t" rtlCol="false" tIns="0" lIns="0" bIns="0" rIns="0">
            <a:spAutoFit/>
          </a:bodyPr>
          <a:lstStyle/>
          <a:p>
            <a:pPr algn="l">
              <a:lnSpc>
                <a:spcPts val="4050"/>
              </a:lnSpc>
            </a:pPr>
            <a:r>
              <a:rPr lang="en-US" sz="3000">
                <a:solidFill>
                  <a:srgbClr val="B9CCC2"/>
                </a:solidFill>
                <a:latin typeface="Nunito Sans"/>
                <a:ea typeface="Nunito Sans"/>
                <a:cs typeface="Nunito Sans"/>
                <a:sym typeface="Nunito Sans"/>
              </a:rPr>
              <a:t>Planificación, calificaciones y avisos inmediatos a los representantes, incluso sin internet.</a:t>
            </a:r>
          </a:p>
        </p:txBody>
      </p:sp>
      <p:sp>
        <p:nvSpPr>
          <p:cNvPr name="TextBox 8" id="8"/>
          <p:cNvSpPr txBox="true"/>
          <p:nvPr/>
        </p:nvSpPr>
        <p:spPr>
          <a:xfrm rot="0">
            <a:off x="1219200" y="8260080"/>
            <a:ext cx="16325088" cy="449580"/>
          </a:xfrm>
          <a:prstGeom prst="rect">
            <a:avLst/>
          </a:prstGeom>
        </p:spPr>
        <p:txBody>
          <a:bodyPr anchor="t" rtlCol="false" tIns="0" lIns="0" bIns="0" rIns="0">
            <a:spAutoFit/>
          </a:bodyPr>
          <a:lstStyle/>
          <a:p>
            <a:pPr algn="l">
              <a:lnSpc>
                <a:spcPts val="2940"/>
              </a:lnSpc>
            </a:pPr>
            <a:r>
              <a:rPr lang="en-US" sz="2100" b="true">
                <a:solidFill>
                  <a:srgbClr val="F5F6F0"/>
                </a:solidFill>
                <a:latin typeface="Nunito Sans Bold"/>
                <a:ea typeface="Nunito Sans Bold"/>
                <a:cs typeface="Nunito Sans Bold"/>
                <a:sym typeface="Nunito Sans Bold"/>
              </a:rPr>
              <a:t>Unidad Educativa “Andoas” · Puyo, Pastaza</a:t>
            </a:r>
          </a:p>
        </p:txBody>
      </p:sp>
      <p:sp>
        <p:nvSpPr>
          <p:cNvPr name="TextBox 9" id="9"/>
          <p:cNvSpPr txBox="true"/>
          <p:nvPr/>
        </p:nvSpPr>
        <p:spPr>
          <a:xfrm rot="0">
            <a:off x="1219200" y="8719185"/>
            <a:ext cx="16325088" cy="386715"/>
          </a:xfrm>
          <a:prstGeom prst="rect">
            <a:avLst/>
          </a:prstGeom>
        </p:spPr>
        <p:txBody>
          <a:bodyPr anchor="t" rtlCol="false" tIns="0" lIns="0" bIns="0" rIns="0">
            <a:spAutoFit/>
          </a:bodyPr>
          <a:lstStyle/>
          <a:p>
            <a:pPr algn="l">
              <a:lnSpc>
                <a:spcPts val="2520"/>
              </a:lnSpc>
            </a:pPr>
            <a:r>
              <a:rPr lang="en-US" sz="1800">
                <a:solidFill>
                  <a:srgbClr val="B9CCC2"/>
                </a:solidFill>
                <a:latin typeface="Nunito Sans"/>
                <a:ea typeface="Nunito Sans"/>
                <a:cs typeface="Nunito Sans"/>
                <a:sym typeface="Nunito Sans"/>
              </a:rPr>
              <a:t>Acuña · Arboleda · Bonifaz — Construcción y Evolución del Software, NRC 36847 · Ing. Mayra Alvarez · ESPE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EL PROBLEMA HOY</a:t>
            </a:r>
          </a:p>
        </p:txBody>
      </p:sp>
      <p:sp>
        <p:nvSpPr>
          <p:cNvPr name="TextBox 3" id="3"/>
          <p:cNvSpPr txBox="true"/>
          <p:nvPr/>
        </p:nvSpPr>
        <p:spPr>
          <a:xfrm rot="0">
            <a:off x="1219200" y="1756410"/>
            <a:ext cx="16325088" cy="1508760"/>
          </a:xfrm>
          <a:prstGeom prst="rect">
            <a:avLst/>
          </a:prstGeom>
        </p:spPr>
        <p:txBody>
          <a:bodyPr anchor="t" rtlCol="false" tIns="0" lIns="0" bIns="0" rIns="0">
            <a:spAutoFit/>
          </a:bodyPr>
          <a:lstStyle/>
          <a:p>
            <a:pPr algn="l">
              <a:lnSpc>
                <a:spcPts val="5940"/>
              </a:lnSpc>
            </a:pPr>
            <a:r>
              <a:rPr lang="en-US" sz="5400" b="true">
                <a:solidFill>
                  <a:srgbClr val="13261F"/>
                </a:solidFill>
                <a:latin typeface="Rubik Bold"/>
                <a:ea typeface="Rubik Bold"/>
                <a:cs typeface="Rubik Bold"/>
                <a:sym typeface="Rubik Bold"/>
              </a:rPr>
              <a:t>Todo depende del papel, del Excel y de que el estudiante cuente</a:t>
            </a:r>
          </a:p>
        </p:txBody>
      </p:sp>
      <p:grpSp>
        <p:nvGrpSpPr>
          <p:cNvPr name="Group 4" id="4"/>
          <p:cNvGrpSpPr/>
          <p:nvPr/>
        </p:nvGrpSpPr>
        <p:grpSpPr>
          <a:xfrm rot="0">
            <a:off x="1219200" y="3760470"/>
            <a:ext cx="7791450" cy="1908810"/>
            <a:chOff x="0" y="0"/>
            <a:chExt cx="10388600" cy="2545080"/>
          </a:xfrm>
        </p:grpSpPr>
        <p:sp>
          <p:nvSpPr>
            <p:cNvPr name="Freeform 5" id="5"/>
            <p:cNvSpPr/>
            <p:nvPr/>
          </p:nvSpPr>
          <p:spPr>
            <a:xfrm flipH="false" flipV="false" rot="0">
              <a:off x="0" y="0"/>
              <a:ext cx="10388600" cy="2545080"/>
            </a:xfrm>
            <a:custGeom>
              <a:avLst/>
              <a:gdLst/>
              <a:ahLst/>
              <a:cxnLst/>
              <a:rect r="r" b="b" t="t" l="l"/>
              <a:pathLst>
                <a:path h="2545080" w="10388600">
                  <a:moveTo>
                    <a:pt x="0" y="248920"/>
                  </a:moveTo>
                  <a:cubicBezTo>
                    <a:pt x="0" y="111379"/>
                    <a:pt x="111379" y="0"/>
                    <a:pt x="248920" y="0"/>
                  </a:cubicBezTo>
                  <a:lnTo>
                    <a:pt x="10139680" y="0"/>
                  </a:lnTo>
                  <a:cubicBezTo>
                    <a:pt x="10277221" y="0"/>
                    <a:pt x="10388600" y="111379"/>
                    <a:pt x="10388600" y="248920"/>
                  </a:cubicBezTo>
                  <a:lnTo>
                    <a:pt x="10388600" y="2296160"/>
                  </a:lnTo>
                  <a:cubicBezTo>
                    <a:pt x="10388600" y="2433574"/>
                    <a:pt x="10277221" y="2545080"/>
                    <a:pt x="10139680" y="2545080"/>
                  </a:cubicBezTo>
                  <a:lnTo>
                    <a:pt x="248920" y="2545080"/>
                  </a:lnTo>
                  <a:cubicBezTo>
                    <a:pt x="111379" y="2545080"/>
                    <a:pt x="0" y="2433701"/>
                    <a:pt x="0" y="2296160"/>
                  </a:cubicBezTo>
                  <a:close/>
                </a:path>
              </a:pathLst>
            </a:custGeom>
            <a:solidFill>
              <a:srgbClr val="FFFFFF"/>
            </a:solidFill>
            <a:ln w="9525" cap="sq">
              <a:solidFill>
                <a:srgbClr val="DCE3DA"/>
              </a:solidFill>
              <a:prstDash val="solid"/>
              <a:miter/>
            </a:ln>
          </p:spPr>
        </p:sp>
      </p:grpSp>
      <p:grpSp>
        <p:nvGrpSpPr>
          <p:cNvPr name="Group 6" id="6"/>
          <p:cNvGrpSpPr/>
          <p:nvPr/>
        </p:nvGrpSpPr>
        <p:grpSpPr>
          <a:xfrm rot="0">
            <a:off x="1569720" y="4110990"/>
            <a:ext cx="609600" cy="609600"/>
            <a:chOff x="0" y="0"/>
            <a:chExt cx="812800" cy="812800"/>
          </a:xfrm>
        </p:grpSpPr>
        <p:sp>
          <p:nvSpPr>
            <p:cNvPr name="Freeform 7" id="7" descr="Book"/>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lnTo>
                    <a:pt x="0" y="0"/>
                  </a:lnTo>
                  <a:close/>
                </a:path>
              </a:pathLst>
            </a:custGeom>
            <a:blipFill>
              <a:blip r:embed="rId3"/>
              <a:stretch>
                <a:fillRect l="0" t="0" r="0" b="0"/>
              </a:stretch>
            </a:blipFill>
          </p:spPr>
        </p:sp>
      </p:grpSp>
      <p:sp>
        <p:nvSpPr>
          <p:cNvPr name="TextBox 8" id="8"/>
          <p:cNvSpPr txBox="true"/>
          <p:nvPr/>
        </p:nvSpPr>
        <p:spPr>
          <a:xfrm rot="0">
            <a:off x="2446020" y="4110990"/>
            <a:ext cx="6400533" cy="449580"/>
          </a:xfrm>
          <a:prstGeom prst="rect">
            <a:avLst/>
          </a:prstGeom>
        </p:spPr>
        <p:txBody>
          <a:bodyPr anchor="t" rtlCol="false" tIns="0" lIns="0" bIns="0" rIns="0">
            <a:spAutoFit/>
          </a:bodyPr>
          <a:lstStyle/>
          <a:p>
            <a:pPr algn="l">
              <a:lnSpc>
                <a:spcPts val="3240"/>
              </a:lnSpc>
            </a:pPr>
            <a:r>
              <a:rPr lang="en-US" sz="2700" b="true">
                <a:solidFill>
                  <a:srgbClr val="13261F"/>
                </a:solidFill>
                <a:latin typeface="Nunito Sans Bold"/>
                <a:ea typeface="Nunito Sans Bold"/>
                <a:cs typeface="Nunito Sans Bold"/>
                <a:sym typeface="Nunito Sans Bold"/>
              </a:rPr>
              <a:t>Planificación en papel</a:t>
            </a:r>
          </a:p>
        </p:txBody>
      </p:sp>
      <p:sp>
        <p:nvSpPr>
          <p:cNvPr name="TextBox 9" id="9"/>
          <p:cNvSpPr txBox="true"/>
          <p:nvPr/>
        </p:nvSpPr>
        <p:spPr>
          <a:xfrm rot="0">
            <a:off x="2446020" y="4570095"/>
            <a:ext cx="6400533" cy="786765"/>
          </a:xfrm>
          <a:prstGeom prst="rect">
            <a:avLst/>
          </a:prstGeom>
        </p:spPr>
        <p:txBody>
          <a:bodyPr anchor="t" rtlCol="false" tIns="0" lIns="0" bIns="0" rIns="0">
            <a:spAutoFit/>
          </a:bodyPr>
          <a:lstStyle/>
          <a:p>
            <a:pPr algn="l">
              <a:lnSpc>
                <a:spcPts val="2835"/>
              </a:lnSpc>
            </a:pPr>
            <a:r>
              <a:rPr lang="en-US" sz="2100">
                <a:solidFill>
                  <a:srgbClr val="4A5A52"/>
                </a:solidFill>
                <a:latin typeface="Nunito Sans"/>
                <a:ea typeface="Nunito Sans"/>
                <a:cs typeface="Nunito Sans"/>
                <a:sym typeface="Nunito Sans"/>
              </a:rPr>
              <a:t>Se rehace cada trimestre y circula en varias versiones con observaciones generales.</a:t>
            </a:r>
          </a:p>
        </p:txBody>
      </p:sp>
      <p:grpSp>
        <p:nvGrpSpPr>
          <p:cNvPr name="Group 10" id="10"/>
          <p:cNvGrpSpPr/>
          <p:nvPr/>
        </p:nvGrpSpPr>
        <p:grpSpPr>
          <a:xfrm rot="0">
            <a:off x="9277350" y="3760470"/>
            <a:ext cx="7791450" cy="1908810"/>
            <a:chOff x="0" y="0"/>
            <a:chExt cx="10388600" cy="2545080"/>
          </a:xfrm>
        </p:grpSpPr>
        <p:sp>
          <p:nvSpPr>
            <p:cNvPr name="Freeform 11" id="11"/>
            <p:cNvSpPr/>
            <p:nvPr/>
          </p:nvSpPr>
          <p:spPr>
            <a:xfrm flipH="false" flipV="false" rot="0">
              <a:off x="0" y="0"/>
              <a:ext cx="10388600" cy="2545080"/>
            </a:xfrm>
            <a:custGeom>
              <a:avLst/>
              <a:gdLst/>
              <a:ahLst/>
              <a:cxnLst/>
              <a:rect r="r" b="b" t="t" l="l"/>
              <a:pathLst>
                <a:path h="2545080" w="10388600">
                  <a:moveTo>
                    <a:pt x="0" y="248920"/>
                  </a:moveTo>
                  <a:cubicBezTo>
                    <a:pt x="0" y="111379"/>
                    <a:pt x="111379" y="0"/>
                    <a:pt x="248920" y="0"/>
                  </a:cubicBezTo>
                  <a:lnTo>
                    <a:pt x="10139680" y="0"/>
                  </a:lnTo>
                  <a:cubicBezTo>
                    <a:pt x="10277221" y="0"/>
                    <a:pt x="10388600" y="111379"/>
                    <a:pt x="10388600" y="248920"/>
                  </a:cubicBezTo>
                  <a:lnTo>
                    <a:pt x="10388600" y="2296160"/>
                  </a:lnTo>
                  <a:cubicBezTo>
                    <a:pt x="10388600" y="2433574"/>
                    <a:pt x="10277221" y="2545080"/>
                    <a:pt x="10139680" y="2545080"/>
                  </a:cubicBezTo>
                  <a:lnTo>
                    <a:pt x="248920" y="2545080"/>
                  </a:lnTo>
                  <a:cubicBezTo>
                    <a:pt x="111379" y="2545080"/>
                    <a:pt x="0" y="2433701"/>
                    <a:pt x="0" y="2296160"/>
                  </a:cubicBezTo>
                  <a:close/>
                </a:path>
              </a:pathLst>
            </a:custGeom>
            <a:solidFill>
              <a:srgbClr val="FFFFFF"/>
            </a:solidFill>
            <a:ln w="9525" cap="sq">
              <a:solidFill>
                <a:srgbClr val="DCE3DA"/>
              </a:solidFill>
              <a:prstDash val="solid"/>
              <a:miter/>
            </a:ln>
          </p:spPr>
        </p:sp>
      </p:grpSp>
      <p:grpSp>
        <p:nvGrpSpPr>
          <p:cNvPr name="Group 12" id="12"/>
          <p:cNvGrpSpPr/>
          <p:nvPr/>
        </p:nvGrpSpPr>
        <p:grpSpPr>
          <a:xfrm rot="0">
            <a:off x="9627870" y="4110990"/>
            <a:ext cx="609600" cy="609600"/>
            <a:chOff x="0" y="0"/>
            <a:chExt cx="812800" cy="812800"/>
          </a:xfrm>
        </p:grpSpPr>
        <p:sp>
          <p:nvSpPr>
            <p:cNvPr name="Freeform 13" id="13" descr="Chart"/>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lnTo>
                    <a:pt x="0" y="0"/>
                  </a:lnTo>
                  <a:close/>
                </a:path>
              </a:pathLst>
            </a:custGeom>
            <a:blipFill>
              <a:blip r:embed="rId4"/>
              <a:stretch>
                <a:fillRect l="0" t="0" r="0" b="0"/>
              </a:stretch>
            </a:blipFill>
          </p:spPr>
        </p:sp>
      </p:grpSp>
      <p:sp>
        <p:nvSpPr>
          <p:cNvPr name="TextBox 14" id="14"/>
          <p:cNvSpPr txBox="true"/>
          <p:nvPr/>
        </p:nvSpPr>
        <p:spPr>
          <a:xfrm rot="0">
            <a:off x="10504170" y="4110990"/>
            <a:ext cx="6400533" cy="449580"/>
          </a:xfrm>
          <a:prstGeom prst="rect">
            <a:avLst/>
          </a:prstGeom>
        </p:spPr>
        <p:txBody>
          <a:bodyPr anchor="t" rtlCol="false" tIns="0" lIns="0" bIns="0" rIns="0">
            <a:spAutoFit/>
          </a:bodyPr>
          <a:lstStyle/>
          <a:p>
            <a:pPr algn="l">
              <a:lnSpc>
                <a:spcPts val="3240"/>
              </a:lnSpc>
            </a:pPr>
            <a:r>
              <a:rPr lang="en-US" sz="2700" b="true">
                <a:solidFill>
                  <a:srgbClr val="13261F"/>
                </a:solidFill>
                <a:latin typeface="Nunito Sans Bold"/>
                <a:ea typeface="Nunito Sans Bold"/>
                <a:cs typeface="Nunito Sans Bold"/>
                <a:sym typeface="Nunito Sans Bold"/>
              </a:rPr>
              <a:t>Cálculos a mano</a:t>
            </a:r>
          </a:p>
        </p:txBody>
      </p:sp>
      <p:sp>
        <p:nvSpPr>
          <p:cNvPr name="TextBox 15" id="15"/>
          <p:cNvSpPr txBox="true"/>
          <p:nvPr/>
        </p:nvSpPr>
        <p:spPr>
          <a:xfrm rot="0">
            <a:off x="10504170" y="4570095"/>
            <a:ext cx="6400533" cy="786765"/>
          </a:xfrm>
          <a:prstGeom prst="rect">
            <a:avLst/>
          </a:prstGeom>
        </p:spPr>
        <p:txBody>
          <a:bodyPr anchor="t" rtlCol="false" tIns="0" lIns="0" bIns="0" rIns="0">
            <a:spAutoFit/>
          </a:bodyPr>
          <a:lstStyle/>
          <a:p>
            <a:pPr algn="l">
              <a:lnSpc>
                <a:spcPts val="2835"/>
              </a:lnSpc>
            </a:pPr>
            <a:r>
              <a:rPr lang="en-US" sz="2100">
                <a:solidFill>
                  <a:srgbClr val="4A5A52"/>
                </a:solidFill>
                <a:latin typeface="Nunito Sans"/>
                <a:ea typeface="Nunito Sans"/>
                <a:cs typeface="Nunito Sans"/>
                <a:sym typeface="Nunito Sans"/>
              </a:rPr>
              <a:t>Notas, logros y comportamiento en Excel separados, con ponderaciones manuales.</a:t>
            </a:r>
          </a:p>
        </p:txBody>
      </p:sp>
      <p:grpSp>
        <p:nvGrpSpPr>
          <p:cNvPr name="Group 16" id="16"/>
          <p:cNvGrpSpPr/>
          <p:nvPr/>
        </p:nvGrpSpPr>
        <p:grpSpPr>
          <a:xfrm rot="0">
            <a:off x="1219200" y="5935980"/>
            <a:ext cx="7791450" cy="1924050"/>
            <a:chOff x="0" y="0"/>
            <a:chExt cx="10388600" cy="2565400"/>
          </a:xfrm>
        </p:grpSpPr>
        <p:sp>
          <p:nvSpPr>
            <p:cNvPr name="Freeform 17" id="17"/>
            <p:cNvSpPr/>
            <p:nvPr/>
          </p:nvSpPr>
          <p:spPr>
            <a:xfrm flipH="false" flipV="false" rot="0">
              <a:off x="0" y="0"/>
              <a:ext cx="10388600" cy="2565400"/>
            </a:xfrm>
            <a:custGeom>
              <a:avLst/>
              <a:gdLst/>
              <a:ahLst/>
              <a:cxnLst/>
              <a:rect r="r" b="b" t="t" l="l"/>
              <a:pathLst>
                <a:path h="2565400" w="10388600">
                  <a:moveTo>
                    <a:pt x="0" y="243713"/>
                  </a:moveTo>
                  <a:cubicBezTo>
                    <a:pt x="0" y="109093"/>
                    <a:pt x="109093" y="0"/>
                    <a:pt x="243713" y="0"/>
                  </a:cubicBezTo>
                  <a:lnTo>
                    <a:pt x="10144887" y="0"/>
                  </a:lnTo>
                  <a:cubicBezTo>
                    <a:pt x="10279507" y="0"/>
                    <a:pt x="10388600" y="109093"/>
                    <a:pt x="10388600" y="243713"/>
                  </a:cubicBezTo>
                  <a:lnTo>
                    <a:pt x="10388600" y="2321687"/>
                  </a:lnTo>
                  <a:cubicBezTo>
                    <a:pt x="10388600" y="2456307"/>
                    <a:pt x="10279507" y="2565400"/>
                    <a:pt x="10144887" y="2565400"/>
                  </a:cubicBezTo>
                  <a:lnTo>
                    <a:pt x="243713" y="2565400"/>
                  </a:lnTo>
                  <a:cubicBezTo>
                    <a:pt x="109093" y="2565400"/>
                    <a:pt x="0" y="2456307"/>
                    <a:pt x="0" y="2321687"/>
                  </a:cubicBezTo>
                  <a:close/>
                </a:path>
              </a:pathLst>
            </a:custGeom>
            <a:solidFill>
              <a:srgbClr val="FFFFFF"/>
            </a:solidFill>
            <a:ln w="19050" cap="sq">
              <a:solidFill>
                <a:srgbClr val="E07A1F"/>
              </a:solidFill>
              <a:prstDash val="solid"/>
              <a:miter/>
            </a:ln>
          </p:spPr>
        </p:sp>
      </p:grpSp>
      <p:grpSp>
        <p:nvGrpSpPr>
          <p:cNvPr name="Group 18" id="18"/>
          <p:cNvGrpSpPr/>
          <p:nvPr/>
        </p:nvGrpSpPr>
        <p:grpSpPr>
          <a:xfrm rot="0">
            <a:off x="1577340" y="6294120"/>
            <a:ext cx="609600" cy="609600"/>
            <a:chOff x="0" y="0"/>
            <a:chExt cx="812800" cy="812800"/>
          </a:xfrm>
        </p:grpSpPr>
        <p:sp>
          <p:nvSpPr>
            <p:cNvPr name="Freeform 19" id="19" descr="Warning"/>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lnTo>
                    <a:pt x="0" y="0"/>
                  </a:lnTo>
                  <a:close/>
                </a:path>
              </a:pathLst>
            </a:custGeom>
            <a:blipFill>
              <a:blip r:embed="rId5"/>
              <a:stretch>
                <a:fillRect l="0" t="0" r="0" b="0"/>
              </a:stretch>
            </a:blipFill>
          </p:spPr>
        </p:sp>
      </p:grpSp>
      <p:sp>
        <p:nvSpPr>
          <p:cNvPr name="TextBox 20" id="20"/>
          <p:cNvSpPr txBox="true"/>
          <p:nvPr/>
        </p:nvSpPr>
        <p:spPr>
          <a:xfrm rot="0">
            <a:off x="2453640" y="6294120"/>
            <a:ext cx="6384836" cy="449580"/>
          </a:xfrm>
          <a:prstGeom prst="rect">
            <a:avLst/>
          </a:prstGeom>
        </p:spPr>
        <p:txBody>
          <a:bodyPr anchor="t" rtlCol="false" tIns="0" lIns="0" bIns="0" rIns="0">
            <a:spAutoFit/>
          </a:bodyPr>
          <a:lstStyle/>
          <a:p>
            <a:pPr algn="l">
              <a:lnSpc>
                <a:spcPts val="3240"/>
              </a:lnSpc>
            </a:pPr>
            <a:r>
              <a:rPr lang="en-US" sz="2700" b="true">
                <a:solidFill>
                  <a:srgbClr val="13261F"/>
                </a:solidFill>
                <a:latin typeface="Nunito Sans Bold"/>
                <a:ea typeface="Nunito Sans Bold"/>
                <a:cs typeface="Nunito Sans Bold"/>
                <a:sym typeface="Nunito Sans Bold"/>
              </a:rPr>
              <a:t>Los padres se enteran tarde</a:t>
            </a:r>
          </a:p>
        </p:txBody>
      </p:sp>
      <p:sp>
        <p:nvSpPr>
          <p:cNvPr name="TextBox 21" id="21"/>
          <p:cNvSpPr txBox="true"/>
          <p:nvPr/>
        </p:nvSpPr>
        <p:spPr>
          <a:xfrm rot="0">
            <a:off x="2453640" y="6753225"/>
            <a:ext cx="6384836" cy="786765"/>
          </a:xfrm>
          <a:prstGeom prst="rect">
            <a:avLst/>
          </a:prstGeom>
        </p:spPr>
        <p:txBody>
          <a:bodyPr anchor="t" rtlCol="false" tIns="0" lIns="0" bIns="0" rIns="0">
            <a:spAutoFit/>
          </a:bodyPr>
          <a:lstStyle/>
          <a:p>
            <a:pPr algn="l">
              <a:lnSpc>
                <a:spcPts val="2835"/>
              </a:lnSpc>
            </a:pPr>
            <a:r>
              <a:rPr lang="en-US" sz="2100">
                <a:solidFill>
                  <a:srgbClr val="4A5A52"/>
                </a:solidFill>
                <a:latin typeface="Nunito Sans"/>
                <a:ea typeface="Nunito Sans"/>
                <a:cs typeface="Nunito Sans"/>
                <a:sym typeface="Nunito Sans"/>
              </a:rPr>
              <a:t>Solo por lo que cuenta el estudiante o en la entrega de calificaciones.</a:t>
            </a:r>
          </a:p>
        </p:txBody>
      </p:sp>
      <p:grpSp>
        <p:nvGrpSpPr>
          <p:cNvPr name="Group 22" id="22"/>
          <p:cNvGrpSpPr/>
          <p:nvPr/>
        </p:nvGrpSpPr>
        <p:grpSpPr>
          <a:xfrm rot="0">
            <a:off x="9277350" y="5935980"/>
            <a:ext cx="7791450" cy="1924050"/>
            <a:chOff x="0" y="0"/>
            <a:chExt cx="10388600" cy="2565400"/>
          </a:xfrm>
        </p:grpSpPr>
        <p:sp>
          <p:nvSpPr>
            <p:cNvPr name="Freeform 23" id="23"/>
            <p:cNvSpPr/>
            <p:nvPr/>
          </p:nvSpPr>
          <p:spPr>
            <a:xfrm flipH="false" flipV="false" rot="0">
              <a:off x="0" y="0"/>
              <a:ext cx="10388600" cy="2565400"/>
            </a:xfrm>
            <a:custGeom>
              <a:avLst/>
              <a:gdLst/>
              <a:ahLst/>
              <a:cxnLst/>
              <a:rect r="r" b="b" t="t" l="l"/>
              <a:pathLst>
                <a:path h="2565400" w="10388600">
                  <a:moveTo>
                    <a:pt x="0" y="248920"/>
                  </a:moveTo>
                  <a:cubicBezTo>
                    <a:pt x="0" y="111379"/>
                    <a:pt x="111379" y="0"/>
                    <a:pt x="248920" y="0"/>
                  </a:cubicBezTo>
                  <a:lnTo>
                    <a:pt x="10139680" y="0"/>
                  </a:lnTo>
                  <a:cubicBezTo>
                    <a:pt x="10277221" y="0"/>
                    <a:pt x="10388600" y="111379"/>
                    <a:pt x="10388600" y="248920"/>
                  </a:cubicBezTo>
                  <a:lnTo>
                    <a:pt x="10388600" y="2316480"/>
                  </a:lnTo>
                  <a:cubicBezTo>
                    <a:pt x="10388600" y="2453894"/>
                    <a:pt x="10277221" y="2565400"/>
                    <a:pt x="10139680" y="2565400"/>
                  </a:cubicBezTo>
                  <a:lnTo>
                    <a:pt x="248920" y="2565400"/>
                  </a:lnTo>
                  <a:cubicBezTo>
                    <a:pt x="111379" y="2565400"/>
                    <a:pt x="0" y="2454021"/>
                    <a:pt x="0" y="2316480"/>
                  </a:cubicBezTo>
                  <a:close/>
                </a:path>
              </a:pathLst>
            </a:custGeom>
            <a:solidFill>
              <a:srgbClr val="FFFFFF"/>
            </a:solidFill>
            <a:ln w="9525" cap="sq">
              <a:solidFill>
                <a:srgbClr val="DCE3DA"/>
              </a:solidFill>
              <a:prstDash val="solid"/>
              <a:miter/>
            </a:ln>
          </p:spPr>
        </p:sp>
      </p:grpSp>
      <p:grpSp>
        <p:nvGrpSpPr>
          <p:cNvPr name="Group 24" id="24"/>
          <p:cNvGrpSpPr/>
          <p:nvPr/>
        </p:nvGrpSpPr>
        <p:grpSpPr>
          <a:xfrm rot="0">
            <a:off x="9627870" y="6286500"/>
            <a:ext cx="609600" cy="609600"/>
            <a:chOff x="0" y="0"/>
            <a:chExt cx="812800" cy="812800"/>
          </a:xfrm>
        </p:grpSpPr>
        <p:sp>
          <p:nvSpPr>
            <p:cNvPr name="Freeform 25" id="25" descr="Cloud"/>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lnTo>
                    <a:pt x="0" y="0"/>
                  </a:lnTo>
                  <a:close/>
                </a:path>
              </a:pathLst>
            </a:custGeom>
            <a:blipFill>
              <a:blip r:embed="rId6"/>
              <a:stretch>
                <a:fillRect l="0" t="0" r="0" b="0"/>
              </a:stretch>
            </a:blipFill>
          </p:spPr>
        </p:sp>
      </p:grpSp>
      <p:sp>
        <p:nvSpPr>
          <p:cNvPr name="TextBox 26" id="26"/>
          <p:cNvSpPr txBox="true"/>
          <p:nvPr/>
        </p:nvSpPr>
        <p:spPr>
          <a:xfrm rot="0">
            <a:off x="10504170" y="6286500"/>
            <a:ext cx="6400533" cy="449580"/>
          </a:xfrm>
          <a:prstGeom prst="rect">
            <a:avLst/>
          </a:prstGeom>
        </p:spPr>
        <p:txBody>
          <a:bodyPr anchor="t" rtlCol="false" tIns="0" lIns="0" bIns="0" rIns="0">
            <a:spAutoFit/>
          </a:bodyPr>
          <a:lstStyle/>
          <a:p>
            <a:pPr algn="l">
              <a:lnSpc>
                <a:spcPts val="3240"/>
              </a:lnSpc>
            </a:pPr>
            <a:r>
              <a:rPr lang="en-US" sz="2700" b="true">
                <a:solidFill>
                  <a:srgbClr val="13261F"/>
                </a:solidFill>
                <a:latin typeface="Nunito Sans Bold"/>
                <a:ea typeface="Nunito Sans Bold"/>
                <a:cs typeface="Nunito Sans Bold"/>
                <a:sym typeface="Nunito Sans Bold"/>
              </a:rPr>
              <a:t>Internet inestable</a:t>
            </a:r>
          </a:p>
        </p:txBody>
      </p:sp>
      <p:sp>
        <p:nvSpPr>
          <p:cNvPr name="TextBox 27" id="27"/>
          <p:cNvSpPr txBox="true"/>
          <p:nvPr/>
        </p:nvSpPr>
        <p:spPr>
          <a:xfrm rot="0">
            <a:off x="10504170" y="6745605"/>
            <a:ext cx="6400533" cy="786765"/>
          </a:xfrm>
          <a:prstGeom prst="rect">
            <a:avLst/>
          </a:prstGeom>
        </p:spPr>
        <p:txBody>
          <a:bodyPr anchor="t" rtlCol="false" tIns="0" lIns="0" bIns="0" rIns="0">
            <a:spAutoFit/>
          </a:bodyPr>
          <a:lstStyle/>
          <a:p>
            <a:pPr algn="l">
              <a:lnSpc>
                <a:spcPts val="2835"/>
              </a:lnSpc>
            </a:pPr>
            <a:r>
              <a:rPr lang="en-US" sz="2100">
                <a:solidFill>
                  <a:srgbClr val="4A5A52"/>
                </a:solidFill>
                <a:latin typeface="Nunito Sans"/>
                <a:ea typeface="Nunito Sans"/>
                <a:cs typeface="Nunito Sans"/>
                <a:sym typeface="Nunito Sans"/>
              </a:rPr>
              <a:t>Si se cae la conexión, no se puede registrar notas, asistencia ni planificaciones.</a:t>
            </a:r>
          </a:p>
        </p:txBody>
      </p:sp>
      <p:sp>
        <p:nvSpPr>
          <p:cNvPr name="TextBox 28" id="28"/>
          <p:cNvSpPr txBox="true"/>
          <p:nvPr/>
        </p:nvSpPr>
        <p:spPr>
          <a:xfrm rot="0">
            <a:off x="1219200" y="9328785"/>
            <a:ext cx="16325088" cy="386715"/>
          </a:xfrm>
          <a:prstGeom prst="rect">
            <a:avLst/>
          </a:prstGeom>
        </p:spPr>
        <p:txBody>
          <a:bodyPr anchor="t" rtlCol="false" tIns="0" lIns="0" bIns="0" rIns="0">
            <a:spAutoFit/>
          </a:bodyPr>
          <a:lstStyle/>
          <a:p>
            <a:pPr algn="l">
              <a:lnSpc>
                <a:spcPts val="2520"/>
              </a:lnSpc>
            </a:pPr>
            <a:r>
              <a:rPr lang="en-US" sz="1800">
                <a:solidFill>
                  <a:srgbClr val="4A5A52"/>
                </a:solidFill>
                <a:latin typeface="Nunito Sans"/>
                <a:ea typeface="Nunito Sans"/>
                <a:cs typeface="Nunito Sans"/>
                <a:sym typeface="Nunito Sans"/>
              </a:rPr>
              <a:t>Fuente: Entregable 2 — situación actual y problemas identificados con el vicerrector</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37A41"/>
        </a:solidFill>
      </p:bgPr>
    </p:bg>
    <p:spTree>
      <p:nvGrpSpPr>
        <p:cNvPr id="1" name=""/>
        <p:cNvGrpSpPr/>
        <p:nvPr/>
      </p:nvGrpSpPr>
      <p:grpSpPr>
        <a:xfrm>
          <a:off x="0" y="0"/>
          <a:ext cx="0" cy="0"/>
          <a:chOff x="0" y="0"/>
          <a:chExt cx="0" cy="0"/>
        </a:xfrm>
      </p:grpSpPr>
      <p:sp>
        <p:nvSpPr>
          <p:cNvPr name="TextBox 2" id="2"/>
          <p:cNvSpPr txBox="true"/>
          <p:nvPr/>
        </p:nvSpPr>
        <p:spPr>
          <a:xfrm rot="0">
            <a:off x="1219200" y="2695575"/>
            <a:ext cx="16325088" cy="449580"/>
          </a:xfrm>
          <a:prstGeom prst="rect">
            <a:avLst/>
          </a:prstGeom>
        </p:spPr>
        <p:txBody>
          <a:bodyPr anchor="t" rtlCol="false" tIns="0" lIns="0" bIns="0" rIns="0">
            <a:spAutoFit/>
          </a:bodyPr>
          <a:lstStyle/>
          <a:p>
            <a:pPr algn="l">
              <a:lnSpc>
                <a:spcPts val="2940"/>
              </a:lnSpc>
            </a:pPr>
            <a:r>
              <a:rPr lang="en-US" b="true" sz="2100" spc="225">
                <a:solidFill>
                  <a:srgbClr val="D9F5E3"/>
                </a:solidFill>
                <a:latin typeface="Nunito Sans Bold"/>
                <a:ea typeface="Nunito Sans Bold"/>
                <a:cs typeface="Nunito Sans Bold"/>
                <a:sym typeface="Nunito Sans Bold"/>
              </a:rPr>
              <a:t>NUESTRA NOVEDAD</a:t>
            </a:r>
          </a:p>
        </p:txBody>
      </p:sp>
      <p:sp>
        <p:nvSpPr>
          <p:cNvPr name="TextBox 3" id="3"/>
          <p:cNvSpPr txBox="true"/>
          <p:nvPr/>
        </p:nvSpPr>
        <p:spPr>
          <a:xfrm rot="0">
            <a:off x="1219200" y="3688080"/>
            <a:ext cx="14716125" cy="2314575"/>
          </a:xfrm>
          <a:prstGeom prst="rect">
            <a:avLst/>
          </a:prstGeom>
        </p:spPr>
        <p:txBody>
          <a:bodyPr anchor="t" rtlCol="false" tIns="0" lIns="0" bIns="0" rIns="0">
            <a:spAutoFit/>
          </a:bodyPr>
          <a:lstStyle/>
          <a:p>
            <a:pPr algn="l">
              <a:lnSpc>
                <a:spcPts val="9450"/>
              </a:lnSpc>
            </a:pPr>
            <a:r>
              <a:rPr lang="en-US" sz="9000" b="true">
                <a:solidFill>
                  <a:srgbClr val="F5F6F0"/>
                </a:solidFill>
                <a:latin typeface="Rubik Bold"/>
                <a:ea typeface="Rubik Bold"/>
                <a:cs typeface="Rubik Bold"/>
                <a:sym typeface="Rubik Bold"/>
              </a:rPr>
              <a:t>El representante se entera el mismo día.</a:t>
            </a:r>
          </a:p>
        </p:txBody>
      </p:sp>
      <p:sp>
        <p:nvSpPr>
          <p:cNvPr name="TextBox 4" id="4"/>
          <p:cNvSpPr txBox="true"/>
          <p:nvPr/>
        </p:nvSpPr>
        <p:spPr>
          <a:xfrm rot="0">
            <a:off x="1219200" y="6374130"/>
            <a:ext cx="13735050" cy="1217295"/>
          </a:xfrm>
          <a:prstGeom prst="rect">
            <a:avLst/>
          </a:prstGeom>
        </p:spPr>
        <p:txBody>
          <a:bodyPr anchor="t" rtlCol="false" tIns="0" lIns="0" bIns="0" rIns="0">
            <a:spAutoFit/>
          </a:bodyPr>
          <a:lstStyle/>
          <a:p>
            <a:pPr algn="l">
              <a:lnSpc>
                <a:spcPts val="4455"/>
              </a:lnSpc>
            </a:pPr>
            <a:r>
              <a:rPr lang="en-US" sz="3300">
                <a:solidFill>
                  <a:srgbClr val="E8F7EE"/>
                </a:solidFill>
                <a:latin typeface="Nunito Sans"/>
                <a:ea typeface="Nunito Sans"/>
                <a:cs typeface="Nunito Sans"/>
                <a:sym typeface="Nunito Sans"/>
              </a:rPr>
              <a:t>Cuando el promedio baja de 7 o hay una falta sin justificar, el sistema le avisa al instante en su celular y deja listo el mensaje de WhatsApp: el canal que las familias ya revisan a diario.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CÓMO FUNCIONA EL AVISO</a:t>
            </a:r>
          </a:p>
        </p:txBody>
      </p:sp>
      <p:sp>
        <p:nvSpPr>
          <p:cNvPr name="TextBox 3" id="3"/>
          <p:cNvSpPr txBox="true"/>
          <p:nvPr/>
        </p:nvSpPr>
        <p:spPr>
          <a:xfrm rot="0">
            <a:off x="1219200" y="1756410"/>
            <a:ext cx="16325088" cy="1508760"/>
          </a:xfrm>
          <a:prstGeom prst="rect">
            <a:avLst/>
          </a:prstGeom>
        </p:spPr>
        <p:txBody>
          <a:bodyPr anchor="t" rtlCol="false" tIns="0" lIns="0" bIns="0" rIns="0">
            <a:spAutoFit/>
          </a:bodyPr>
          <a:lstStyle/>
          <a:p>
            <a:pPr algn="l">
              <a:lnSpc>
                <a:spcPts val="5940"/>
              </a:lnSpc>
            </a:pPr>
            <a:r>
              <a:rPr lang="en-US" sz="5400" b="true">
                <a:solidFill>
                  <a:srgbClr val="13261F"/>
                </a:solidFill>
                <a:latin typeface="Rubik Bold"/>
                <a:ea typeface="Rubik Bold"/>
                <a:cs typeface="Rubik Bold"/>
                <a:sym typeface="Rubik Bold"/>
              </a:rPr>
              <a:t>De la nota al celular del representante, con control en cada paso</a:t>
            </a:r>
          </a:p>
        </p:txBody>
      </p:sp>
      <p:grpSp>
        <p:nvGrpSpPr>
          <p:cNvPr name="Group 4" id="4"/>
          <p:cNvGrpSpPr/>
          <p:nvPr/>
        </p:nvGrpSpPr>
        <p:grpSpPr>
          <a:xfrm rot="0">
            <a:off x="1219200" y="3760470"/>
            <a:ext cx="3020492" cy="3105150"/>
            <a:chOff x="0" y="0"/>
            <a:chExt cx="4027322" cy="4140200"/>
          </a:xfrm>
        </p:grpSpPr>
        <p:sp>
          <p:nvSpPr>
            <p:cNvPr name="Freeform 5" id="5"/>
            <p:cNvSpPr/>
            <p:nvPr/>
          </p:nvSpPr>
          <p:spPr>
            <a:xfrm flipH="false" flipV="false" rot="0">
              <a:off x="0" y="0"/>
              <a:ext cx="4027297" cy="4140200"/>
            </a:xfrm>
            <a:custGeom>
              <a:avLst/>
              <a:gdLst/>
              <a:ahLst/>
              <a:cxnLst/>
              <a:rect r="r" b="b" t="t" l="l"/>
              <a:pathLst>
                <a:path h="4140200" w="4027297">
                  <a:moveTo>
                    <a:pt x="0" y="248412"/>
                  </a:moveTo>
                  <a:cubicBezTo>
                    <a:pt x="0" y="111252"/>
                    <a:pt x="111252" y="0"/>
                    <a:pt x="248412" y="0"/>
                  </a:cubicBezTo>
                  <a:lnTo>
                    <a:pt x="3778885" y="0"/>
                  </a:lnTo>
                  <a:cubicBezTo>
                    <a:pt x="3916045" y="0"/>
                    <a:pt x="4027297" y="111252"/>
                    <a:pt x="4027297" y="248412"/>
                  </a:cubicBezTo>
                  <a:lnTo>
                    <a:pt x="4027297" y="3891788"/>
                  </a:lnTo>
                  <a:cubicBezTo>
                    <a:pt x="4027297" y="4028948"/>
                    <a:pt x="3916045" y="4140200"/>
                    <a:pt x="3778885" y="4140200"/>
                  </a:cubicBezTo>
                  <a:lnTo>
                    <a:pt x="248412" y="4140200"/>
                  </a:lnTo>
                  <a:cubicBezTo>
                    <a:pt x="111252" y="4140200"/>
                    <a:pt x="0" y="4028948"/>
                    <a:pt x="0" y="3891788"/>
                  </a:cubicBezTo>
                  <a:close/>
                </a:path>
              </a:pathLst>
            </a:custGeom>
            <a:solidFill>
              <a:srgbClr val="FFFFFF"/>
            </a:solidFill>
            <a:ln w="9525" cap="sq">
              <a:solidFill>
                <a:srgbClr val="DCE3DA"/>
              </a:solidFill>
              <a:prstDash val="solid"/>
              <a:miter/>
            </a:ln>
          </p:spPr>
        </p:sp>
      </p:grpSp>
      <p:sp>
        <p:nvSpPr>
          <p:cNvPr name="TextBox 6" id="6"/>
          <p:cNvSpPr txBox="true"/>
          <p:nvPr/>
        </p:nvSpPr>
        <p:spPr>
          <a:xfrm rot="0">
            <a:off x="1493520" y="3958590"/>
            <a:ext cx="2548052" cy="754380"/>
          </a:xfrm>
          <a:prstGeom prst="rect">
            <a:avLst/>
          </a:prstGeom>
        </p:spPr>
        <p:txBody>
          <a:bodyPr anchor="t" rtlCol="false" tIns="0" lIns="0" bIns="0" rIns="0">
            <a:spAutoFit/>
          </a:bodyPr>
          <a:lstStyle/>
          <a:p>
            <a:pPr algn="l">
              <a:lnSpc>
                <a:spcPts val="5040"/>
              </a:lnSpc>
            </a:pPr>
            <a:r>
              <a:rPr lang="en-US" sz="3600" b="true">
                <a:solidFill>
                  <a:srgbClr val="137A41"/>
                </a:solidFill>
                <a:latin typeface="Rubik Bold"/>
                <a:ea typeface="Rubik Bold"/>
                <a:cs typeface="Rubik Bold"/>
                <a:sym typeface="Rubik Bold"/>
              </a:rPr>
              <a:t>1</a:t>
            </a:r>
          </a:p>
        </p:txBody>
      </p:sp>
      <p:sp>
        <p:nvSpPr>
          <p:cNvPr name="TextBox 7" id="7"/>
          <p:cNvSpPr txBox="true"/>
          <p:nvPr/>
        </p:nvSpPr>
        <p:spPr>
          <a:xfrm rot="0">
            <a:off x="1493520" y="4798695"/>
            <a:ext cx="2548052" cy="394335"/>
          </a:xfrm>
          <a:prstGeom prst="rect">
            <a:avLst/>
          </a:prstGeom>
        </p:spPr>
        <p:txBody>
          <a:bodyPr anchor="t" rtlCol="false" tIns="0" lIns="0" bIns="0" rIns="0">
            <a:spAutoFit/>
          </a:bodyPr>
          <a:lstStyle/>
          <a:p>
            <a:pPr algn="l">
              <a:lnSpc>
                <a:spcPts val="2879"/>
              </a:lnSpc>
            </a:pPr>
            <a:r>
              <a:rPr lang="en-US" sz="2400" b="true">
                <a:solidFill>
                  <a:srgbClr val="13261F"/>
                </a:solidFill>
                <a:latin typeface="Nunito Sans Bold"/>
                <a:ea typeface="Nunito Sans Bold"/>
                <a:cs typeface="Nunito Sans Bold"/>
                <a:sym typeface="Nunito Sans Bold"/>
              </a:rPr>
              <a:t>Registro</a:t>
            </a:r>
          </a:p>
        </p:txBody>
      </p:sp>
      <p:sp>
        <p:nvSpPr>
          <p:cNvPr name="TextBox 8" id="8"/>
          <p:cNvSpPr txBox="true"/>
          <p:nvPr/>
        </p:nvSpPr>
        <p:spPr>
          <a:xfrm rot="0">
            <a:off x="1493520" y="5231130"/>
            <a:ext cx="2548052" cy="1079182"/>
          </a:xfrm>
          <a:prstGeom prst="rect">
            <a:avLst/>
          </a:prstGeom>
        </p:spPr>
        <p:txBody>
          <a:bodyPr anchor="t" rtlCol="false" tIns="0" lIns="0" bIns="0" rIns="0">
            <a:spAutoFit/>
          </a:bodyPr>
          <a:lstStyle/>
          <a:p>
            <a:pPr algn="l">
              <a:lnSpc>
                <a:spcPts val="2632"/>
              </a:lnSpc>
            </a:pPr>
            <a:r>
              <a:rPr lang="en-US" sz="1950">
                <a:solidFill>
                  <a:srgbClr val="4A5A52"/>
                </a:solidFill>
                <a:latin typeface="Nunito Sans"/>
                <a:ea typeface="Nunito Sans"/>
                <a:cs typeface="Nunito Sans"/>
                <a:sym typeface="Nunito Sans"/>
              </a:rPr>
              <a:t>El docente registra la nota o la asistencia, con o sin internet.</a:t>
            </a:r>
          </a:p>
        </p:txBody>
      </p:sp>
      <p:grpSp>
        <p:nvGrpSpPr>
          <p:cNvPr name="Group 9" id="9"/>
          <p:cNvGrpSpPr/>
          <p:nvPr/>
        </p:nvGrpSpPr>
        <p:grpSpPr>
          <a:xfrm rot="0">
            <a:off x="4430192" y="3760470"/>
            <a:ext cx="3020616" cy="3105150"/>
            <a:chOff x="0" y="0"/>
            <a:chExt cx="4027488" cy="4140200"/>
          </a:xfrm>
        </p:grpSpPr>
        <p:sp>
          <p:nvSpPr>
            <p:cNvPr name="Freeform 10" id="10"/>
            <p:cNvSpPr/>
            <p:nvPr/>
          </p:nvSpPr>
          <p:spPr>
            <a:xfrm flipH="false" flipV="false" rot="0">
              <a:off x="0" y="0"/>
              <a:ext cx="4027424" cy="4140200"/>
            </a:xfrm>
            <a:custGeom>
              <a:avLst/>
              <a:gdLst/>
              <a:ahLst/>
              <a:cxnLst/>
              <a:rect r="r" b="b" t="t" l="l"/>
              <a:pathLst>
                <a:path h="4140200" w="4027424">
                  <a:moveTo>
                    <a:pt x="0" y="248412"/>
                  </a:moveTo>
                  <a:cubicBezTo>
                    <a:pt x="0" y="111252"/>
                    <a:pt x="111252" y="0"/>
                    <a:pt x="248412" y="0"/>
                  </a:cubicBezTo>
                  <a:lnTo>
                    <a:pt x="3779012" y="0"/>
                  </a:lnTo>
                  <a:cubicBezTo>
                    <a:pt x="3916172" y="0"/>
                    <a:pt x="4027424" y="111252"/>
                    <a:pt x="4027424" y="248412"/>
                  </a:cubicBezTo>
                  <a:lnTo>
                    <a:pt x="4027424" y="3891788"/>
                  </a:lnTo>
                  <a:cubicBezTo>
                    <a:pt x="4027424" y="4028948"/>
                    <a:pt x="3916172" y="4140200"/>
                    <a:pt x="3779012" y="4140200"/>
                  </a:cubicBezTo>
                  <a:lnTo>
                    <a:pt x="248412" y="4140200"/>
                  </a:lnTo>
                  <a:cubicBezTo>
                    <a:pt x="111252" y="4140200"/>
                    <a:pt x="0" y="4028948"/>
                    <a:pt x="0" y="3891788"/>
                  </a:cubicBezTo>
                  <a:close/>
                </a:path>
              </a:pathLst>
            </a:custGeom>
            <a:solidFill>
              <a:srgbClr val="FFFFFF"/>
            </a:solidFill>
            <a:ln w="9525" cap="sq">
              <a:solidFill>
                <a:srgbClr val="DCE3DA"/>
              </a:solidFill>
              <a:prstDash val="solid"/>
              <a:miter/>
            </a:ln>
          </p:spPr>
        </p:sp>
      </p:grpSp>
      <p:sp>
        <p:nvSpPr>
          <p:cNvPr name="TextBox 11" id="11"/>
          <p:cNvSpPr txBox="true"/>
          <p:nvPr/>
        </p:nvSpPr>
        <p:spPr>
          <a:xfrm rot="0">
            <a:off x="4704512" y="3958590"/>
            <a:ext cx="2548176" cy="754380"/>
          </a:xfrm>
          <a:prstGeom prst="rect">
            <a:avLst/>
          </a:prstGeom>
        </p:spPr>
        <p:txBody>
          <a:bodyPr anchor="t" rtlCol="false" tIns="0" lIns="0" bIns="0" rIns="0">
            <a:spAutoFit/>
          </a:bodyPr>
          <a:lstStyle/>
          <a:p>
            <a:pPr algn="l">
              <a:lnSpc>
                <a:spcPts val="5040"/>
              </a:lnSpc>
            </a:pPr>
            <a:r>
              <a:rPr lang="en-US" sz="3600" b="true">
                <a:solidFill>
                  <a:srgbClr val="137A41"/>
                </a:solidFill>
                <a:latin typeface="Rubik Bold"/>
                <a:ea typeface="Rubik Bold"/>
                <a:cs typeface="Rubik Bold"/>
                <a:sym typeface="Rubik Bold"/>
              </a:rPr>
              <a:t>2</a:t>
            </a:r>
          </a:p>
        </p:txBody>
      </p:sp>
      <p:sp>
        <p:nvSpPr>
          <p:cNvPr name="TextBox 12" id="12"/>
          <p:cNvSpPr txBox="true"/>
          <p:nvPr/>
        </p:nvSpPr>
        <p:spPr>
          <a:xfrm rot="0">
            <a:off x="4704512" y="4798695"/>
            <a:ext cx="2548176" cy="394335"/>
          </a:xfrm>
          <a:prstGeom prst="rect">
            <a:avLst/>
          </a:prstGeom>
        </p:spPr>
        <p:txBody>
          <a:bodyPr anchor="t" rtlCol="false" tIns="0" lIns="0" bIns="0" rIns="0">
            <a:spAutoFit/>
          </a:bodyPr>
          <a:lstStyle/>
          <a:p>
            <a:pPr algn="l">
              <a:lnSpc>
                <a:spcPts val="2879"/>
              </a:lnSpc>
            </a:pPr>
            <a:r>
              <a:rPr lang="en-US" sz="2400" b="true">
                <a:solidFill>
                  <a:srgbClr val="13261F"/>
                </a:solidFill>
                <a:latin typeface="Nunito Sans Bold"/>
                <a:ea typeface="Nunito Sans Bold"/>
                <a:cs typeface="Nunito Sans Bold"/>
                <a:sym typeface="Nunito Sans Bold"/>
              </a:rPr>
              <a:t>Detección</a:t>
            </a:r>
          </a:p>
        </p:txBody>
      </p:sp>
      <p:sp>
        <p:nvSpPr>
          <p:cNvPr name="TextBox 13" id="13"/>
          <p:cNvSpPr txBox="true"/>
          <p:nvPr/>
        </p:nvSpPr>
        <p:spPr>
          <a:xfrm rot="0">
            <a:off x="4704512" y="5231130"/>
            <a:ext cx="2548176" cy="1079182"/>
          </a:xfrm>
          <a:prstGeom prst="rect">
            <a:avLst/>
          </a:prstGeom>
        </p:spPr>
        <p:txBody>
          <a:bodyPr anchor="t" rtlCol="false" tIns="0" lIns="0" bIns="0" rIns="0">
            <a:spAutoFit/>
          </a:bodyPr>
          <a:lstStyle/>
          <a:p>
            <a:pPr algn="l">
              <a:lnSpc>
                <a:spcPts val="2632"/>
              </a:lnSpc>
            </a:pPr>
            <a:r>
              <a:rPr lang="en-US" sz="1950">
                <a:solidFill>
                  <a:srgbClr val="4A5A52"/>
                </a:solidFill>
                <a:latin typeface="Nunito Sans"/>
                <a:ea typeface="Nunito Sans"/>
                <a:cs typeface="Nunito Sans"/>
                <a:sym typeface="Nunito Sans"/>
              </a:rPr>
              <a:t>El sistema calcula: promedio menor a 7 o falta sin justificar.</a:t>
            </a:r>
          </a:p>
        </p:txBody>
      </p:sp>
      <p:grpSp>
        <p:nvGrpSpPr>
          <p:cNvPr name="Group 14" id="14"/>
          <p:cNvGrpSpPr/>
          <p:nvPr/>
        </p:nvGrpSpPr>
        <p:grpSpPr>
          <a:xfrm rot="0">
            <a:off x="7641307" y="3760470"/>
            <a:ext cx="3020492" cy="3105150"/>
            <a:chOff x="0" y="0"/>
            <a:chExt cx="4027322" cy="4140200"/>
          </a:xfrm>
        </p:grpSpPr>
        <p:sp>
          <p:nvSpPr>
            <p:cNvPr name="Freeform 15" id="15"/>
            <p:cNvSpPr/>
            <p:nvPr/>
          </p:nvSpPr>
          <p:spPr>
            <a:xfrm flipH="false" flipV="false" rot="0">
              <a:off x="0" y="0"/>
              <a:ext cx="4027297" cy="4140200"/>
            </a:xfrm>
            <a:custGeom>
              <a:avLst/>
              <a:gdLst/>
              <a:ahLst/>
              <a:cxnLst/>
              <a:rect r="r" b="b" t="t" l="l"/>
              <a:pathLst>
                <a:path h="4140200" w="4027297">
                  <a:moveTo>
                    <a:pt x="0" y="248412"/>
                  </a:moveTo>
                  <a:cubicBezTo>
                    <a:pt x="0" y="111252"/>
                    <a:pt x="111252" y="0"/>
                    <a:pt x="248412" y="0"/>
                  </a:cubicBezTo>
                  <a:lnTo>
                    <a:pt x="3778885" y="0"/>
                  </a:lnTo>
                  <a:cubicBezTo>
                    <a:pt x="3916045" y="0"/>
                    <a:pt x="4027297" y="111252"/>
                    <a:pt x="4027297" y="248412"/>
                  </a:cubicBezTo>
                  <a:lnTo>
                    <a:pt x="4027297" y="3891788"/>
                  </a:lnTo>
                  <a:cubicBezTo>
                    <a:pt x="4027297" y="4028948"/>
                    <a:pt x="3916045" y="4140200"/>
                    <a:pt x="3778885" y="4140200"/>
                  </a:cubicBezTo>
                  <a:lnTo>
                    <a:pt x="248412" y="4140200"/>
                  </a:lnTo>
                  <a:cubicBezTo>
                    <a:pt x="111252" y="4140200"/>
                    <a:pt x="0" y="4028948"/>
                    <a:pt x="0" y="3891788"/>
                  </a:cubicBezTo>
                  <a:close/>
                </a:path>
              </a:pathLst>
            </a:custGeom>
            <a:solidFill>
              <a:srgbClr val="FFFFFF"/>
            </a:solidFill>
            <a:ln w="9525" cap="sq">
              <a:solidFill>
                <a:srgbClr val="DCE3DA"/>
              </a:solidFill>
              <a:prstDash val="solid"/>
              <a:miter/>
            </a:ln>
          </p:spPr>
        </p:sp>
      </p:grpSp>
      <p:sp>
        <p:nvSpPr>
          <p:cNvPr name="TextBox 16" id="16"/>
          <p:cNvSpPr txBox="true"/>
          <p:nvPr/>
        </p:nvSpPr>
        <p:spPr>
          <a:xfrm rot="0">
            <a:off x="7915627" y="3958590"/>
            <a:ext cx="2548052" cy="754380"/>
          </a:xfrm>
          <a:prstGeom prst="rect">
            <a:avLst/>
          </a:prstGeom>
        </p:spPr>
        <p:txBody>
          <a:bodyPr anchor="t" rtlCol="false" tIns="0" lIns="0" bIns="0" rIns="0">
            <a:spAutoFit/>
          </a:bodyPr>
          <a:lstStyle/>
          <a:p>
            <a:pPr algn="l">
              <a:lnSpc>
                <a:spcPts val="5040"/>
              </a:lnSpc>
            </a:pPr>
            <a:r>
              <a:rPr lang="en-US" sz="3600" b="true">
                <a:solidFill>
                  <a:srgbClr val="137A41"/>
                </a:solidFill>
                <a:latin typeface="Rubik Bold"/>
                <a:ea typeface="Rubik Bold"/>
                <a:cs typeface="Rubik Bold"/>
                <a:sym typeface="Rubik Bold"/>
              </a:rPr>
              <a:t>3</a:t>
            </a:r>
          </a:p>
        </p:txBody>
      </p:sp>
      <p:sp>
        <p:nvSpPr>
          <p:cNvPr name="TextBox 17" id="17"/>
          <p:cNvSpPr txBox="true"/>
          <p:nvPr/>
        </p:nvSpPr>
        <p:spPr>
          <a:xfrm rot="0">
            <a:off x="7915627" y="4798695"/>
            <a:ext cx="2548052" cy="394335"/>
          </a:xfrm>
          <a:prstGeom prst="rect">
            <a:avLst/>
          </a:prstGeom>
        </p:spPr>
        <p:txBody>
          <a:bodyPr anchor="t" rtlCol="false" tIns="0" lIns="0" bIns="0" rIns="0">
            <a:spAutoFit/>
          </a:bodyPr>
          <a:lstStyle/>
          <a:p>
            <a:pPr algn="l">
              <a:lnSpc>
                <a:spcPts val="2879"/>
              </a:lnSpc>
            </a:pPr>
            <a:r>
              <a:rPr lang="en-US" sz="2400" b="true">
                <a:solidFill>
                  <a:srgbClr val="13261F"/>
                </a:solidFill>
                <a:latin typeface="Nunito Sans Bold"/>
                <a:ea typeface="Nunito Sans Bold"/>
                <a:cs typeface="Nunito Sans Bold"/>
                <a:sym typeface="Nunito Sans Bold"/>
              </a:rPr>
              <a:t>Verificación</a:t>
            </a:r>
          </a:p>
        </p:txBody>
      </p:sp>
      <p:sp>
        <p:nvSpPr>
          <p:cNvPr name="TextBox 18" id="18"/>
          <p:cNvSpPr txBox="true"/>
          <p:nvPr/>
        </p:nvSpPr>
        <p:spPr>
          <a:xfrm rot="0">
            <a:off x="7915627" y="5231130"/>
            <a:ext cx="2548052" cy="1079182"/>
          </a:xfrm>
          <a:prstGeom prst="rect">
            <a:avLst/>
          </a:prstGeom>
        </p:spPr>
        <p:txBody>
          <a:bodyPr anchor="t" rtlCol="false" tIns="0" lIns="0" bIns="0" rIns="0">
            <a:spAutoFit/>
          </a:bodyPr>
          <a:lstStyle/>
          <a:p>
            <a:pPr algn="l">
              <a:lnSpc>
                <a:spcPts val="2632"/>
              </a:lnSpc>
            </a:pPr>
            <a:r>
              <a:rPr lang="en-US" sz="1950">
                <a:solidFill>
                  <a:srgbClr val="4A5A52"/>
                </a:solidFill>
                <a:latin typeface="Nunito Sans"/>
                <a:ea typeface="Nunito Sans"/>
                <a:cs typeface="Nunito Sans"/>
                <a:sym typeface="Nunito Sans"/>
              </a:rPr>
              <a:t>Número verificado, autorización vigente y sin duplicados del día.</a:t>
            </a:r>
          </a:p>
        </p:txBody>
      </p:sp>
      <p:grpSp>
        <p:nvGrpSpPr>
          <p:cNvPr name="Group 19" id="19"/>
          <p:cNvGrpSpPr/>
          <p:nvPr/>
        </p:nvGrpSpPr>
        <p:grpSpPr>
          <a:xfrm rot="0">
            <a:off x="10852309" y="3760470"/>
            <a:ext cx="3005376" cy="3105150"/>
            <a:chOff x="0" y="0"/>
            <a:chExt cx="4007167" cy="4140200"/>
          </a:xfrm>
        </p:grpSpPr>
        <p:sp>
          <p:nvSpPr>
            <p:cNvPr name="Freeform 20" id="20"/>
            <p:cNvSpPr/>
            <p:nvPr/>
          </p:nvSpPr>
          <p:spPr>
            <a:xfrm flipH="false" flipV="false" rot="0">
              <a:off x="0" y="0"/>
              <a:ext cx="4007104" cy="4140200"/>
            </a:xfrm>
            <a:custGeom>
              <a:avLst/>
              <a:gdLst/>
              <a:ahLst/>
              <a:cxnLst/>
              <a:rect r="r" b="b" t="t" l="l"/>
              <a:pathLst>
                <a:path h="4140200" w="4007104">
                  <a:moveTo>
                    <a:pt x="0" y="254000"/>
                  </a:moveTo>
                  <a:cubicBezTo>
                    <a:pt x="0" y="113665"/>
                    <a:pt x="113665" y="0"/>
                    <a:pt x="254000" y="0"/>
                  </a:cubicBezTo>
                  <a:lnTo>
                    <a:pt x="3753104" y="0"/>
                  </a:lnTo>
                  <a:cubicBezTo>
                    <a:pt x="3893439" y="0"/>
                    <a:pt x="4007104" y="113665"/>
                    <a:pt x="4007104" y="254000"/>
                  </a:cubicBezTo>
                  <a:lnTo>
                    <a:pt x="4007104" y="3886200"/>
                  </a:lnTo>
                  <a:cubicBezTo>
                    <a:pt x="4007104" y="4026535"/>
                    <a:pt x="3893439" y="4140200"/>
                    <a:pt x="3753104" y="4140200"/>
                  </a:cubicBezTo>
                  <a:lnTo>
                    <a:pt x="254000" y="4140200"/>
                  </a:lnTo>
                  <a:cubicBezTo>
                    <a:pt x="113665" y="4140200"/>
                    <a:pt x="0" y="4026535"/>
                    <a:pt x="0" y="3886200"/>
                  </a:cubicBezTo>
                  <a:close/>
                </a:path>
              </a:pathLst>
            </a:custGeom>
            <a:solidFill>
              <a:srgbClr val="0F2A22"/>
            </a:solidFill>
          </p:spPr>
        </p:sp>
      </p:grpSp>
      <p:sp>
        <p:nvSpPr>
          <p:cNvPr name="TextBox 21" id="21"/>
          <p:cNvSpPr txBox="true"/>
          <p:nvPr/>
        </p:nvSpPr>
        <p:spPr>
          <a:xfrm rot="0">
            <a:off x="11119009" y="3950970"/>
            <a:ext cx="2548176" cy="754380"/>
          </a:xfrm>
          <a:prstGeom prst="rect">
            <a:avLst/>
          </a:prstGeom>
        </p:spPr>
        <p:txBody>
          <a:bodyPr anchor="t" rtlCol="false" tIns="0" lIns="0" bIns="0" rIns="0">
            <a:spAutoFit/>
          </a:bodyPr>
          <a:lstStyle/>
          <a:p>
            <a:pPr algn="l">
              <a:lnSpc>
                <a:spcPts val="5040"/>
              </a:lnSpc>
            </a:pPr>
            <a:r>
              <a:rPr lang="en-US" sz="3600" b="true">
                <a:solidFill>
                  <a:srgbClr val="4ADE80"/>
                </a:solidFill>
                <a:latin typeface="Rubik Bold"/>
                <a:ea typeface="Rubik Bold"/>
                <a:cs typeface="Rubik Bold"/>
                <a:sym typeface="Rubik Bold"/>
              </a:rPr>
              <a:t>4</a:t>
            </a:r>
          </a:p>
        </p:txBody>
      </p:sp>
      <p:sp>
        <p:nvSpPr>
          <p:cNvPr name="TextBox 22" id="22"/>
          <p:cNvSpPr txBox="true"/>
          <p:nvPr/>
        </p:nvSpPr>
        <p:spPr>
          <a:xfrm rot="0">
            <a:off x="11119009" y="4791075"/>
            <a:ext cx="2548176" cy="394335"/>
          </a:xfrm>
          <a:prstGeom prst="rect">
            <a:avLst/>
          </a:prstGeom>
        </p:spPr>
        <p:txBody>
          <a:bodyPr anchor="t" rtlCol="false" tIns="0" lIns="0" bIns="0" rIns="0">
            <a:spAutoFit/>
          </a:bodyPr>
          <a:lstStyle/>
          <a:p>
            <a:pPr algn="l">
              <a:lnSpc>
                <a:spcPts val="2879"/>
              </a:lnSpc>
            </a:pPr>
            <a:r>
              <a:rPr lang="en-US" sz="2400" b="true">
                <a:solidFill>
                  <a:srgbClr val="F5F6F0"/>
                </a:solidFill>
                <a:latin typeface="Nunito Sans Bold"/>
                <a:ea typeface="Nunito Sans Bold"/>
                <a:cs typeface="Nunito Sans Bold"/>
                <a:sym typeface="Nunito Sans Bold"/>
              </a:rPr>
              <a:t>Envío</a:t>
            </a:r>
          </a:p>
        </p:txBody>
      </p:sp>
      <p:sp>
        <p:nvSpPr>
          <p:cNvPr name="TextBox 23" id="23"/>
          <p:cNvSpPr txBox="true"/>
          <p:nvPr/>
        </p:nvSpPr>
        <p:spPr>
          <a:xfrm rot="0">
            <a:off x="11119009" y="5223510"/>
            <a:ext cx="2548176" cy="1413510"/>
          </a:xfrm>
          <a:prstGeom prst="rect">
            <a:avLst/>
          </a:prstGeom>
        </p:spPr>
        <p:txBody>
          <a:bodyPr anchor="t" rtlCol="false" tIns="0" lIns="0" bIns="0" rIns="0">
            <a:spAutoFit/>
          </a:bodyPr>
          <a:lstStyle/>
          <a:p>
            <a:pPr algn="l">
              <a:lnSpc>
                <a:spcPts val="2632"/>
              </a:lnSpc>
            </a:pPr>
            <a:r>
              <a:rPr lang="en-US" sz="1950">
                <a:solidFill>
                  <a:srgbClr val="B9CCC2"/>
                </a:solidFill>
                <a:latin typeface="Nunito Sans"/>
                <a:ea typeface="Nunito Sans"/>
                <a:cs typeface="Nunito Sans"/>
                <a:sym typeface="Nunito Sans"/>
              </a:rPr>
              <a:t>Notificación push gratis y WhatsApp con un clic, sin la nota exacta.</a:t>
            </a:r>
          </a:p>
        </p:txBody>
      </p:sp>
      <p:grpSp>
        <p:nvGrpSpPr>
          <p:cNvPr name="Group 24" id="24"/>
          <p:cNvGrpSpPr/>
          <p:nvPr/>
        </p:nvGrpSpPr>
        <p:grpSpPr>
          <a:xfrm rot="0">
            <a:off x="14048184" y="3760470"/>
            <a:ext cx="3020616" cy="3105150"/>
            <a:chOff x="0" y="0"/>
            <a:chExt cx="4027488" cy="4140200"/>
          </a:xfrm>
        </p:grpSpPr>
        <p:sp>
          <p:nvSpPr>
            <p:cNvPr name="Freeform 25" id="25"/>
            <p:cNvSpPr/>
            <p:nvPr/>
          </p:nvSpPr>
          <p:spPr>
            <a:xfrm flipH="false" flipV="false" rot="0">
              <a:off x="0" y="0"/>
              <a:ext cx="4027424" cy="4140200"/>
            </a:xfrm>
            <a:custGeom>
              <a:avLst/>
              <a:gdLst/>
              <a:ahLst/>
              <a:cxnLst/>
              <a:rect r="r" b="b" t="t" l="l"/>
              <a:pathLst>
                <a:path h="4140200" w="4027424">
                  <a:moveTo>
                    <a:pt x="0" y="248412"/>
                  </a:moveTo>
                  <a:cubicBezTo>
                    <a:pt x="0" y="111252"/>
                    <a:pt x="111252" y="0"/>
                    <a:pt x="248412" y="0"/>
                  </a:cubicBezTo>
                  <a:lnTo>
                    <a:pt x="3779012" y="0"/>
                  </a:lnTo>
                  <a:cubicBezTo>
                    <a:pt x="3916172" y="0"/>
                    <a:pt x="4027424" y="111252"/>
                    <a:pt x="4027424" y="248412"/>
                  </a:cubicBezTo>
                  <a:lnTo>
                    <a:pt x="4027424" y="3891788"/>
                  </a:lnTo>
                  <a:cubicBezTo>
                    <a:pt x="4027424" y="4028948"/>
                    <a:pt x="3916172" y="4140200"/>
                    <a:pt x="3779012" y="4140200"/>
                  </a:cubicBezTo>
                  <a:lnTo>
                    <a:pt x="248412" y="4140200"/>
                  </a:lnTo>
                  <a:cubicBezTo>
                    <a:pt x="111252" y="4140200"/>
                    <a:pt x="0" y="4028948"/>
                    <a:pt x="0" y="3891788"/>
                  </a:cubicBezTo>
                  <a:close/>
                </a:path>
              </a:pathLst>
            </a:custGeom>
            <a:solidFill>
              <a:srgbClr val="FFFFFF"/>
            </a:solidFill>
            <a:ln w="9525" cap="sq">
              <a:solidFill>
                <a:srgbClr val="DCE3DA"/>
              </a:solidFill>
              <a:prstDash val="solid"/>
              <a:miter/>
            </a:ln>
          </p:spPr>
        </p:sp>
      </p:grpSp>
      <p:sp>
        <p:nvSpPr>
          <p:cNvPr name="TextBox 26" id="26"/>
          <p:cNvSpPr txBox="true"/>
          <p:nvPr/>
        </p:nvSpPr>
        <p:spPr>
          <a:xfrm rot="0">
            <a:off x="14322504" y="3958590"/>
            <a:ext cx="2548176" cy="754380"/>
          </a:xfrm>
          <a:prstGeom prst="rect">
            <a:avLst/>
          </a:prstGeom>
        </p:spPr>
        <p:txBody>
          <a:bodyPr anchor="t" rtlCol="false" tIns="0" lIns="0" bIns="0" rIns="0">
            <a:spAutoFit/>
          </a:bodyPr>
          <a:lstStyle/>
          <a:p>
            <a:pPr algn="l">
              <a:lnSpc>
                <a:spcPts val="5040"/>
              </a:lnSpc>
            </a:pPr>
            <a:r>
              <a:rPr lang="en-US" sz="3600" b="true">
                <a:solidFill>
                  <a:srgbClr val="137A41"/>
                </a:solidFill>
                <a:latin typeface="Rubik Bold"/>
                <a:ea typeface="Rubik Bold"/>
                <a:cs typeface="Rubik Bold"/>
                <a:sym typeface="Rubik Bold"/>
              </a:rPr>
              <a:t>5</a:t>
            </a:r>
          </a:p>
        </p:txBody>
      </p:sp>
      <p:sp>
        <p:nvSpPr>
          <p:cNvPr name="TextBox 27" id="27"/>
          <p:cNvSpPr txBox="true"/>
          <p:nvPr/>
        </p:nvSpPr>
        <p:spPr>
          <a:xfrm rot="0">
            <a:off x="14322504" y="4798695"/>
            <a:ext cx="2548176" cy="394335"/>
          </a:xfrm>
          <a:prstGeom prst="rect">
            <a:avLst/>
          </a:prstGeom>
        </p:spPr>
        <p:txBody>
          <a:bodyPr anchor="t" rtlCol="false" tIns="0" lIns="0" bIns="0" rIns="0">
            <a:spAutoFit/>
          </a:bodyPr>
          <a:lstStyle/>
          <a:p>
            <a:pPr algn="l">
              <a:lnSpc>
                <a:spcPts val="2879"/>
              </a:lnSpc>
            </a:pPr>
            <a:r>
              <a:rPr lang="en-US" sz="2400" b="true">
                <a:solidFill>
                  <a:srgbClr val="13261F"/>
                </a:solidFill>
                <a:latin typeface="Nunito Sans Bold"/>
                <a:ea typeface="Nunito Sans Bold"/>
                <a:cs typeface="Nunito Sans Bold"/>
                <a:sym typeface="Nunito Sans Bold"/>
              </a:rPr>
              <a:t>Historial</a:t>
            </a:r>
          </a:p>
        </p:txBody>
      </p:sp>
      <p:sp>
        <p:nvSpPr>
          <p:cNvPr name="TextBox 28" id="28"/>
          <p:cNvSpPr txBox="true"/>
          <p:nvPr/>
        </p:nvSpPr>
        <p:spPr>
          <a:xfrm rot="0">
            <a:off x="14322504" y="5231130"/>
            <a:ext cx="2548176" cy="1079182"/>
          </a:xfrm>
          <a:prstGeom prst="rect">
            <a:avLst/>
          </a:prstGeom>
        </p:spPr>
        <p:txBody>
          <a:bodyPr anchor="t" rtlCol="false" tIns="0" lIns="0" bIns="0" rIns="0">
            <a:spAutoFit/>
          </a:bodyPr>
          <a:lstStyle/>
          <a:p>
            <a:pPr algn="l">
              <a:lnSpc>
                <a:spcPts val="2632"/>
              </a:lnSpc>
            </a:pPr>
            <a:r>
              <a:rPr lang="en-US" sz="1950">
                <a:solidFill>
                  <a:srgbClr val="4A5A52"/>
                </a:solidFill>
                <a:latin typeface="Nunito Sans"/>
                <a:ea typeface="Nunito Sans"/>
                <a:cs typeface="Nunito Sans"/>
                <a:sym typeface="Nunito Sans"/>
              </a:rPr>
              <a:t>Se guarda fecha, motivo, destinatario y estado de entrega.</a:t>
            </a:r>
          </a:p>
        </p:txBody>
      </p:sp>
      <p:grpSp>
        <p:nvGrpSpPr>
          <p:cNvPr name="Group 29" id="29"/>
          <p:cNvGrpSpPr/>
          <p:nvPr/>
        </p:nvGrpSpPr>
        <p:grpSpPr>
          <a:xfrm rot="0">
            <a:off x="1219200" y="7399020"/>
            <a:ext cx="15849600" cy="1253490"/>
            <a:chOff x="0" y="0"/>
            <a:chExt cx="21132800" cy="1671320"/>
          </a:xfrm>
        </p:grpSpPr>
        <p:sp>
          <p:nvSpPr>
            <p:cNvPr name="Freeform 30" id="30"/>
            <p:cNvSpPr/>
            <p:nvPr/>
          </p:nvSpPr>
          <p:spPr>
            <a:xfrm flipH="false" flipV="false" rot="0">
              <a:off x="0" y="0"/>
              <a:ext cx="21132800" cy="1671320"/>
            </a:xfrm>
            <a:custGeom>
              <a:avLst/>
              <a:gdLst/>
              <a:ahLst/>
              <a:cxnLst/>
              <a:rect r="r" b="b" t="t" l="l"/>
              <a:pathLst>
                <a:path h="1671320" w="21132800">
                  <a:moveTo>
                    <a:pt x="0" y="203200"/>
                  </a:moveTo>
                  <a:cubicBezTo>
                    <a:pt x="0" y="90932"/>
                    <a:pt x="90932" y="0"/>
                    <a:pt x="203200" y="0"/>
                  </a:cubicBezTo>
                  <a:lnTo>
                    <a:pt x="20929600" y="0"/>
                  </a:lnTo>
                  <a:cubicBezTo>
                    <a:pt x="21041868" y="0"/>
                    <a:pt x="21132800" y="90932"/>
                    <a:pt x="21132800" y="203200"/>
                  </a:cubicBezTo>
                  <a:lnTo>
                    <a:pt x="21132800" y="1468120"/>
                  </a:lnTo>
                  <a:cubicBezTo>
                    <a:pt x="21132800" y="1580388"/>
                    <a:pt x="21041868" y="1671320"/>
                    <a:pt x="20929600" y="1671320"/>
                  </a:cubicBezTo>
                  <a:lnTo>
                    <a:pt x="203200" y="1671320"/>
                  </a:lnTo>
                  <a:cubicBezTo>
                    <a:pt x="90932" y="1671320"/>
                    <a:pt x="0" y="1580388"/>
                    <a:pt x="0" y="1468120"/>
                  </a:cubicBezTo>
                  <a:close/>
                </a:path>
              </a:pathLst>
            </a:custGeom>
            <a:solidFill>
              <a:srgbClr val="E9EEE6"/>
            </a:solidFill>
          </p:spPr>
        </p:sp>
      </p:grpSp>
      <p:grpSp>
        <p:nvGrpSpPr>
          <p:cNvPr name="Group 31" id="31"/>
          <p:cNvGrpSpPr/>
          <p:nvPr/>
        </p:nvGrpSpPr>
        <p:grpSpPr>
          <a:xfrm rot="0">
            <a:off x="1562100" y="7797165"/>
            <a:ext cx="419452" cy="457200"/>
            <a:chOff x="0" y="0"/>
            <a:chExt cx="559270" cy="609600"/>
          </a:xfrm>
        </p:grpSpPr>
        <p:sp>
          <p:nvSpPr>
            <p:cNvPr name="Freeform 32" id="32" descr="Cloud"/>
            <p:cNvSpPr/>
            <p:nvPr/>
          </p:nvSpPr>
          <p:spPr>
            <a:xfrm flipH="false" flipV="false" rot="0">
              <a:off x="0" y="0"/>
              <a:ext cx="559308" cy="609600"/>
            </a:xfrm>
            <a:custGeom>
              <a:avLst/>
              <a:gdLst/>
              <a:ahLst/>
              <a:cxnLst/>
              <a:rect r="r" b="b" t="t" l="l"/>
              <a:pathLst>
                <a:path h="609600" w="559308">
                  <a:moveTo>
                    <a:pt x="0" y="0"/>
                  </a:moveTo>
                  <a:lnTo>
                    <a:pt x="559308" y="0"/>
                  </a:lnTo>
                  <a:lnTo>
                    <a:pt x="559308" y="609600"/>
                  </a:lnTo>
                  <a:lnTo>
                    <a:pt x="0" y="609600"/>
                  </a:lnTo>
                  <a:lnTo>
                    <a:pt x="0" y="0"/>
                  </a:lnTo>
                  <a:close/>
                </a:path>
              </a:pathLst>
            </a:custGeom>
            <a:blipFill>
              <a:blip r:embed="rId3"/>
              <a:stretch>
                <a:fillRect l="43" t="0" r="47" b="0"/>
              </a:stretch>
            </a:blipFill>
          </p:spPr>
        </p:sp>
      </p:grpSp>
      <p:sp>
        <p:nvSpPr>
          <p:cNvPr name="TextBox 33" id="33"/>
          <p:cNvSpPr txBox="true"/>
          <p:nvPr/>
        </p:nvSpPr>
        <p:spPr>
          <a:xfrm rot="0">
            <a:off x="2210152" y="7637145"/>
            <a:ext cx="14951212" cy="786765"/>
          </a:xfrm>
          <a:prstGeom prst="rect">
            <a:avLst/>
          </a:prstGeom>
        </p:spPr>
        <p:txBody>
          <a:bodyPr anchor="t" rtlCol="false" tIns="0" lIns="0" bIns="0" rIns="0">
            <a:spAutoFit/>
          </a:bodyPr>
          <a:lstStyle/>
          <a:p>
            <a:pPr algn="l">
              <a:lnSpc>
                <a:spcPts val="2835"/>
              </a:lnSpc>
            </a:pPr>
            <a:r>
              <a:rPr lang="en-US" sz="2100" b="true">
                <a:solidFill>
                  <a:srgbClr val="13261F"/>
                </a:solidFill>
                <a:latin typeface="Nunito Sans Bold"/>
                <a:ea typeface="Nunito Sans Bold"/>
                <a:cs typeface="Nunito Sans Bold"/>
                <a:sym typeface="Nunito Sans Bold"/>
              </a:rPr>
              <a:t>Sin internet:</a:t>
            </a:r>
            <a:r>
              <a:rPr lang="en-US" sz="2100">
                <a:solidFill>
                  <a:srgbClr val="13261F"/>
                </a:solidFill>
                <a:latin typeface="Nunito Sans"/>
                <a:ea typeface="Nunito Sans"/>
                <a:cs typeface="Nunito Sans"/>
                <a:sym typeface="Nunito Sans"/>
              </a:rPr>
              <a:t> el aviso queda en cola y se envía al recuperar la conexión. </a:t>
            </a:r>
            <a:r>
              <a:rPr lang="en-US" sz="2100" b="true">
                <a:solidFill>
                  <a:srgbClr val="13261F"/>
                </a:solidFill>
                <a:latin typeface="Nunito Sans Bold"/>
                <a:ea typeface="Nunito Sans Bold"/>
                <a:cs typeface="Nunito Sans Bold"/>
                <a:sym typeface="Nunito Sans Bold"/>
              </a:rPr>
              <a:t>El representante</a:t>
            </a:r>
            <a:r>
              <a:rPr lang="en-US" sz="2100">
                <a:solidFill>
                  <a:srgbClr val="13261F"/>
                </a:solidFill>
                <a:latin typeface="Nunito Sans"/>
                <a:ea typeface="Nunito Sans"/>
                <a:cs typeface="Nunito Sans"/>
                <a:sym typeface="Nunito Sans"/>
              </a:rPr>
              <a:t> puede retirar su autorización cuando quiera.</a:t>
            </a:r>
          </a:p>
        </p:txBody>
      </p:sp>
      <p:sp>
        <p:nvSpPr>
          <p:cNvPr name="TextBox 34" id="34"/>
          <p:cNvSpPr txBox="true"/>
          <p:nvPr/>
        </p:nvSpPr>
        <p:spPr>
          <a:xfrm rot="0">
            <a:off x="1219200" y="9328785"/>
            <a:ext cx="16325088" cy="386715"/>
          </a:xfrm>
          <a:prstGeom prst="rect">
            <a:avLst/>
          </a:prstGeom>
        </p:spPr>
        <p:txBody>
          <a:bodyPr anchor="t" rtlCol="false" tIns="0" lIns="0" bIns="0" rIns="0">
            <a:spAutoFit/>
          </a:bodyPr>
          <a:lstStyle/>
          <a:p>
            <a:pPr algn="l">
              <a:lnSpc>
                <a:spcPts val="2520"/>
              </a:lnSpc>
            </a:pPr>
            <a:r>
              <a:rPr lang="en-US" sz="1800">
                <a:solidFill>
                  <a:srgbClr val="4A5A52"/>
                </a:solidFill>
                <a:latin typeface="Nunito Sans"/>
                <a:ea typeface="Nunito Sans"/>
                <a:cs typeface="Nunito Sans"/>
                <a:sym typeface="Nunito Sans"/>
              </a:rPr>
              <a:t>RF-29 a RF-35 · RNF-05 · se construye en un microservicio propio (Python + FastAPI)</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OBJETIVOS</a:t>
            </a:r>
          </a:p>
        </p:txBody>
      </p:sp>
      <p:sp>
        <p:nvSpPr>
          <p:cNvPr name="TextBox 3" id="3"/>
          <p:cNvSpPr txBox="true"/>
          <p:nvPr/>
        </p:nvSpPr>
        <p:spPr>
          <a:xfrm rot="0">
            <a:off x="1219200" y="1756410"/>
            <a:ext cx="16325088" cy="1257300"/>
          </a:xfrm>
          <a:prstGeom prst="rect">
            <a:avLst/>
          </a:prstGeom>
        </p:spPr>
        <p:txBody>
          <a:bodyPr anchor="t" rtlCol="false" tIns="0" lIns="0" bIns="0" rIns="0">
            <a:spAutoFit/>
          </a:bodyPr>
          <a:lstStyle/>
          <a:p>
            <a:pPr algn="l">
              <a:lnSpc>
                <a:spcPts val="4950"/>
              </a:lnSpc>
            </a:pPr>
            <a:r>
              <a:rPr lang="en-US" sz="4500" b="true">
                <a:solidFill>
                  <a:srgbClr val="13261F"/>
                </a:solidFill>
                <a:latin typeface="Rubik Bold"/>
                <a:ea typeface="Rubik Bold"/>
                <a:cs typeface="Rubik Bold"/>
                <a:sym typeface="Rubik Bold"/>
              </a:rPr>
              <a:t>Menos carga para el docente, padres informados a tiempo</a:t>
            </a:r>
          </a:p>
        </p:txBody>
      </p:sp>
      <p:grpSp>
        <p:nvGrpSpPr>
          <p:cNvPr name="Group 4" id="4"/>
          <p:cNvGrpSpPr/>
          <p:nvPr/>
        </p:nvGrpSpPr>
        <p:grpSpPr>
          <a:xfrm rot="0">
            <a:off x="1219200" y="3356610"/>
            <a:ext cx="15849600" cy="1203960"/>
            <a:chOff x="0" y="0"/>
            <a:chExt cx="21132800" cy="1605280"/>
          </a:xfrm>
        </p:grpSpPr>
        <p:sp>
          <p:nvSpPr>
            <p:cNvPr name="Freeform 5" id="5"/>
            <p:cNvSpPr/>
            <p:nvPr/>
          </p:nvSpPr>
          <p:spPr>
            <a:xfrm flipH="false" flipV="false" rot="0">
              <a:off x="0" y="0"/>
              <a:ext cx="21132800" cy="1605280"/>
            </a:xfrm>
            <a:custGeom>
              <a:avLst/>
              <a:gdLst/>
              <a:ahLst/>
              <a:cxnLst/>
              <a:rect r="r" b="b" t="t" l="l"/>
              <a:pathLst>
                <a:path h="1605280" w="21132800">
                  <a:moveTo>
                    <a:pt x="0" y="203200"/>
                  </a:moveTo>
                  <a:cubicBezTo>
                    <a:pt x="0" y="90932"/>
                    <a:pt x="90932" y="0"/>
                    <a:pt x="203200" y="0"/>
                  </a:cubicBezTo>
                  <a:lnTo>
                    <a:pt x="20929600" y="0"/>
                  </a:lnTo>
                  <a:cubicBezTo>
                    <a:pt x="21041868" y="0"/>
                    <a:pt x="21132800" y="90932"/>
                    <a:pt x="21132800" y="203200"/>
                  </a:cubicBezTo>
                  <a:lnTo>
                    <a:pt x="21132800" y="1402080"/>
                  </a:lnTo>
                  <a:cubicBezTo>
                    <a:pt x="21132800" y="1514348"/>
                    <a:pt x="21041868" y="1605280"/>
                    <a:pt x="20929600" y="1605280"/>
                  </a:cubicBezTo>
                  <a:lnTo>
                    <a:pt x="203200" y="1605280"/>
                  </a:lnTo>
                  <a:cubicBezTo>
                    <a:pt x="90932" y="1605280"/>
                    <a:pt x="0" y="1514348"/>
                    <a:pt x="0" y="1402080"/>
                  </a:cubicBezTo>
                  <a:close/>
                </a:path>
              </a:pathLst>
            </a:custGeom>
            <a:solidFill>
              <a:srgbClr val="E9EEE6"/>
            </a:solidFill>
          </p:spPr>
        </p:sp>
        <p:sp>
          <p:nvSpPr>
            <p:cNvPr name="TextBox 6" id="6"/>
            <p:cNvSpPr txBox="true"/>
            <p:nvPr/>
          </p:nvSpPr>
          <p:spPr>
            <a:xfrm>
              <a:off x="0" y="-38100"/>
              <a:ext cx="21132800" cy="1643380"/>
            </a:xfrm>
            <a:prstGeom prst="rect">
              <a:avLst/>
            </a:prstGeom>
          </p:spPr>
          <p:txBody>
            <a:bodyPr anchor="t" rtlCol="false" tIns="50800" lIns="50800" bIns="50800" rIns="50800"/>
            <a:lstStyle/>
            <a:p>
              <a:pPr algn="l">
                <a:lnSpc>
                  <a:spcPts val="2940"/>
                </a:lnSpc>
              </a:pPr>
              <a:r>
                <a:rPr lang="en-US" sz="2100" b="true">
                  <a:solidFill>
                    <a:srgbClr val="13261F"/>
                  </a:solidFill>
                  <a:latin typeface="Nunito Sans Bold"/>
                  <a:ea typeface="Nunito Sans Bold"/>
                  <a:cs typeface="Nunito Sans Bold"/>
                  <a:sym typeface="Nunito Sans Bold"/>
                </a:rPr>
                <a:t>General:</a:t>
              </a:r>
              <a:r>
                <a:rPr lang="en-US" sz="2100">
                  <a:solidFill>
                    <a:srgbClr val="4A5A52"/>
                  </a:solidFill>
                  <a:latin typeface="Nunito Sans"/>
                  <a:ea typeface="Nunito Sans"/>
                  <a:cs typeface="Nunito Sans"/>
                  <a:sym typeface="Nunito Sans"/>
                </a:rPr>
                <a:t> digitalizar y automatizar la planificación curricular, el cálculo de calificaciones y la comunicación con los representantes de la U. E. “Andoas”, incluso con internet inestable.</a:t>
              </a:r>
            </a:p>
          </p:txBody>
        </p:sp>
      </p:grpSp>
      <p:sp>
        <p:nvSpPr>
          <p:cNvPr name="TextBox 7" id="7"/>
          <p:cNvSpPr txBox="true"/>
          <p:nvPr/>
        </p:nvSpPr>
        <p:spPr>
          <a:xfrm rot="0">
            <a:off x="1219200" y="4884420"/>
            <a:ext cx="609600" cy="521970"/>
          </a:xfrm>
          <a:prstGeom prst="rect">
            <a:avLst/>
          </a:prstGeom>
        </p:spPr>
        <p:txBody>
          <a:bodyPr anchor="t" rtlCol="false" tIns="0" lIns="0" bIns="0" rIns="0">
            <a:spAutoFit/>
          </a:bodyPr>
          <a:lstStyle/>
          <a:p>
            <a:pPr algn="l">
              <a:lnSpc>
                <a:spcPts val="3359"/>
              </a:lnSpc>
            </a:pPr>
            <a:r>
              <a:rPr lang="en-US" sz="2400" b="true">
                <a:solidFill>
                  <a:srgbClr val="137A41"/>
                </a:solidFill>
                <a:latin typeface="Rubik Bold"/>
                <a:ea typeface="Rubik Bold"/>
                <a:cs typeface="Rubik Bold"/>
                <a:sym typeface="Rubik Bold"/>
              </a:rPr>
              <a:t>01</a:t>
            </a:r>
          </a:p>
        </p:txBody>
      </p:sp>
      <p:sp>
        <p:nvSpPr>
          <p:cNvPr name="TextBox 8" id="8"/>
          <p:cNvSpPr txBox="true"/>
          <p:nvPr/>
        </p:nvSpPr>
        <p:spPr>
          <a:xfrm rot="0">
            <a:off x="1981200" y="4962525"/>
            <a:ext cx="15540228" cy="40386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Planificación en el formato del Ministerio, con estados de revisión y observaciones por campo.</a:t>
            </a:r>
          </a:p>
        </p:txBody>
      </p:sp>
      <p:sp>
        <p:nvSpPr>
          <p:cNvPr name="TextBox 9" id="9"/>
          <p:cNvSpPr txBox="true"/>
          <p:nvPr/>
        </p:nvSpPr>
        <p:spPr>
          <a:xfrm rot="0">
            <a:off x="1219200" y="5444490"/>
            <a:ext cx="609600" cy="521970"/>
          </a:xfrm>
          <a:prstGeom prst="rect">
            <a:avLst/>
          </a:prstGeom>
        </p:spPr>
        <p:txBody>
          <a:bodyPr anchor="t" rtlCol="false" tIns="0" lIns="0" bIns="0" rIns="0">
            <a:spAutoFit/>
          </a:bodyPr>
          <a:lstStyle/>
          <a:p>
            <a:pPr algn="l">
              <a:lnSpc>
                <a:spcPts val="3359"/>
              </a:lnSpc>
            </a:pPr>
            <a:r>
              <a:rPr lang="en-US" sz="2400" b="true">
                <a:solidFill>
                  <a:srgbClr val="137A41"/>
                </a:solidFill>
                <a:latin typeface="Rubik Bold"/>
                <a:ea typeface="Rubik Bold"/>
                <a:cs typeface="Rubik Bold"/>
                <a:sym typeface="Rubik Bold"/>
              </a:rPr>
              <a:t>02</a:t>
            </a:r>
          </a:p>
        </p:txBody>
      </p:sp>
      <p:sp>
        <p:nvSpPr>
          <p:cNvPr name="TextBox 10" id="10"/>
          <p:cNvSpPr txBox="true"/>
          <p:nvPr/>
        </p:nvSpPr>
        <p:spPr>
          <a:xfrm rot="0">
            <a:off x="1981200" y="5522595"/>
            <a:ext cx="15540228" cy="40386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Cálculo automático de notas, cualitativos y reportes de logros con las fórmulas oficiales.</a:t>
            </a:r>
          </a:p>
        </p:txBody>
      </p:sp>
      <p:grpSp>
        <p:nvGrpSpPr>
          <p:cNvPr name="Group 11" id="11"/>
          <p:cNvGrpSpPr/>
          <p:nvPr/>
        </p:nvGrpSpPr>
        <p:grpSpPr>
          <a:xfrm rot="0">
            <a:off x="1219200" y="6061710"/>
            <a:ext cx="15849600" cy="731520"/>
            <a:chOff x="0" y="0"/>
            <a:chExt cx="21132800" cy="975360"/>
          </a:xfrm>
        </p:grpSpPr>
        <p:sp>
          <p:nvSpPr>
            <p:cNvPr name="Freeform 12" id="12"/>
            <p:cNvSpPr/>
            <p:nvPr/>
          </p:nvSpPr>
          <p:spPr>
            <a:xfrm flipH="false" flipV="false" rot="0">
              <a:off x="0" y="0"/>
              <a:ext cx="21132800" cy="975360"/>
            </a:xfrm>
            <a:custGeom>
              <a:avLst/>
              <a:gdLst/>
              <a:ahLst/>
              <a:cxnLst/>
              <a:rect r="r" b="b" t="t" l="l"/>
              <a:pathLst>
                <a:path h="975360" w="21132800">
                  <a:moveTo>
                    <a:pt x="0" y="177800"/>
                  </a:moveTo>
                  <a:cubicBezTo>
                    <a:pt x="0" y="79629"/>
                    <a:pt x="79629" y="0"/>
                    <a:pt x="177800" y="0"/>
                  </a:cubicBezTo>
                  <a:lnTo>
                    <a:pt x="20955000" y="0"/>
                  </a:lnTo>
                  <a:cubicBezTo>
                    <a:pt x="21053171" y="0"/>
                    <a:pt x="21132800" y="79629"/>
                    <a:pt x="21132800" y="177800"/>
                  </a:cubicBezTo>
                  <a:lnTo>
                    <a:pt x="21132800" y="797560"/>
                  </a:lnTo>
                  <a:cubicBezTo>
                    <a:pt x="21132800" y="895731"/>
                    <a:pt x="21053171" y="975360"/>
                    <a:pt x="20955000" y="975360"/>
                  </a:cubicBezTo>
                  <a:lnTo>
                    <a:pt x="177800" y="975360"/>
                  </a:lnTo>
                  <a:cubicBezTo>
                    <a:pt x="79629" y="975360"/>
                    <a:pt x="0" y="895731"/>
                    <a:pt x="0" y="797560"/>
                  </a:cubicBezTo>
                  <a:close/>
                </a:path>
              </a:pathLst>
            </a:custGeom>
            <a:solidFill>
              <a:srgbClr val="0F2A22"/>
            </a:solidFill>
          </p:spPr>
        </p:sp>
      </p:grpSp>
      <p:sp>
        <p:nvSpPr>
          <p:cNvPr name="TextBox 13" id="13"/>
          <p:cNvSpPr txBox="true"/>
          <p:nvPr/>
        </p:nvSpPr>
        <p:spPr>
          <a:xfrm rot="0">
            <a:off x="1447800" y="6156960"/>
            <a:ext cx="609600" cy="521970"/>
          </a:xfrm>
          <a:prstGeom prst="rect">
            <a:avLst/>
          </a:prstGeom>
        </p:spPr>
        <p:txBody>
          <a:bodyPr anchor="t" rtlCol="false" tIns="0" lIns="0" bIns="0" rIns="0">
            <a:spAutoFit/>
          </a:bodyPr>
          <a:lstStyle/>
          <a:p>
            <a:pPr algn="l">
              <a:lnSpc>
                <a:spcPts val="3359"/>
              </a:lnSpc>
            </a:pPr>
            <a:r>
              <a:rPr lang="en-US" sz="2400" b="true">
                <a:solidFill>
                  <a:srgbClr val="4ADE80"/>
                </a:solidFill>
                <a:latin typeface="Rubik Bold"/>
                <a:ea typeface="Rubik Bold"/>
                <a:cs typeface="Rubik Bold"/>
                <a:sym typeface="Rubik Bold"/>
              </a:rPr>
              <a:t>03</a:t>
            </a:r>
          </a:p>
        </p:txBody>
      </p:sp>
      <p:sp>
        <p:nvSpPr>
          <p:cNvPr name="TextBox 14" id="14"/>
          <p:cNvSpPr txBox="true"/>
          <p:nvPr/>
        </p:nvSpPr>
        <p:spPr>
          <a:xfrm rot="0">
            <a:off x="2209800" y="6235065"/>
            <a:ext cx="15069312" cy="403860"/>
          </a:xfrm>
          <a:prstGeom prst="rect">
            <a:avLst/>
          </a:prstGeom>
        </p:spPr>
        <p:txBody>
          <a:bodyPr anchor="t" rtlCol="false" tIns="0" lIns="0" bIns="0" rIns="0">
            <a:spAutoFit/>
          </a:bodyPr>
          <a:lstStyle/>
          <a:p>
            <a:pPr algn="l">
              <a:lnSpc>
                <a:spcPts val="2730"/>
              </a:lnSpc>
            </a:pPr>
            <a:r>
              <a:rPr lang="en-US" sz="2100" b="true">
                <a:solidFill>
                  <a:srgbClr val="F5F6F0"/>
                </a:solidFill>
                <a:latin typeface="Nunito Sans Bold"/>
                <a:ea typeface="Nunito Sans Bold"/>
                <a:cs typeface="Nunito Sans Bold"/>
                <a:sym typeface="Nunito Sans Bold"/>
              </a:rPr>
              <a:t>Novedad:</a:t>
            </a:r>
            <a:r>
              <a:rPr lang="en-US" sz="2100">
                <a:solidFill>
                  <a:srgbClr val="F5F6F0"/>
                </a:solidFill>
                <a:latin typeface="Nunito Sans"/>
                <a:ea typeface="Nunito Sans"/>
                <a:cs typeface="Nunito Sans"/>
                <a:sym typeface="Nunito Sans"/>
              </a:rPr>
              <a:t> avisar al representante (notificación y WhatsApp) cuando el promedio baje de 7 o haya una falta sin justificar.</a:t>
            </a:r>
          </a:p>
        </p:txBody>
      </p:sp>
      <p:sp>
        <p:nvSpPr>
          <p:cNvPr name="TextBox 15" id="15"/>
          <p:cNvSpPr txBox="true"/>
          <p:nvPr/>
        </p:nvSpPr>
        <p:spPr>
          <a:xfrm rot="0">
            <a:off x="1219200" y="6869430"/>
            <a:ext cx="609600" cy="521970"/>
          </a:xfrm>
          <a:prstGeom prst="rect">
            <a:avLst/>
          </a:prstGeom>
        </p:spPr>
        <p:txBody>
          <a:bodyPr anchor="t" rtlCol="false" tIns="0" lIns="0" bIns="0" rIns="0">
            <a:spAutoFit/>
          </a:bodyPr>
          <a:lstStyle/>
          <a:p>
            <a:pPr algn="l">
              <a:lnSpc>
                <a:spcPts val="3359"/>
              </a:lnSpc>
            </a:pPr>
            <a:r>
              <a:rPr lang="en-US" sz="2400" b="true">
                <a:solidFill>
                  <a:srgbClr val="137A41"/>
                </a:solidFill>
                <a:latin typeface="Rubik Bold"/>
                <a:ea typeface="Rubik Bold"/>
                <a:cs typeface="Rubik Bold"/>
                <a:sym typeface="Rubik Bold"/>
              </a:rPr>
              <a:t>04</a:t>
            </a:r>
          </a:p>
        </p:txBody>
      </p:sp>
      <p:sp>
        <p:nvSpPr>
          <p:cNvPr name="TextBox 16" id="16"/>
          <p:cNvSpPr txBox="true"/>
          <p:nvPr/>
        </p:nvSpPr>
        <p:spPr>
          <a:xfrm rot="0">
            <a:off x="1981200" y="6947535"/>
            <a:ext cx="15540228" cy="40386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Registro sin conexión de notas, asistencia y planificaciones, con sincronización posterior.</a:t>
            </a:r>
          </a:p>
        </p:txBody>
      </p:sp>
      <p:sp>
        <p:nvSpPr>
          <p:cNvPr name="TextBox 17" id="17"/>
          <p:cNvSpPr txBox="true"/>
          <p:nvPr/>
        </p:nvSpPr>
        <p:spPr>
          <a:xfrm rot="0">
            <a:off x="1219200" y="7429500"/>
            <a:ext cx="609600" cy="521970"/>
          </a:xfrm>
          <a:prstGeom prst="rect">
            <a:avLst/>
          </a:prstGeom>
        </p:spPr>
        <p:txBody>
          <a:bodyPr anchor="t" rtlCol="false" tIns="0" lIns="0" bIns="0" rIns="0">
            <a:spAutoFit/>
          </a:bodyPr>
          <a:lstStyle/>
          <a:p>
            <a:pPr algn="l">
              <a:lnSpc>
                <a:spcPts val="3359"/>
              </a:lnSpc>
            </a:pPr>
            <a:r>
              <a:rPr lang="en-US" sz="2400" b="true">
                <a:solidFill>
                  <a:srgbClr val="137A41"/>
                </a:solidFill>
                <a:latin typeface="Rubik Bold"/>
                <a:ea typeface="Rubik Bold"/>
                <a:cs typeface="Rubik Bold"/>
                <a:sym typeface="Rubik Bold"/>
              </a:rPr>
              <a:t>05</a:t>
            </a:r>
          </a:p>
        </p:txBody>
      </p:sp>
      <p:sp>
        <p:nvSpPr>
          <p:cNvPr name="TextBox 18" id="18"/>
          <p:cNvSpPr txBox="true"/>
          <p:nvPr/>
        </p:nvSpPr>
        <p:spPr>
          <a:xfrm rot="0">
            <a:off x="1981200" y="7507605"/>
            <a:ext cx="15540228" cy="40386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Reducir al menos un </a:t>
            </a:r>
            <a:r>
              <a:rPr lang="en-US" sz="2100" b="true">
                <a:solidFill>
                  <a:srgbClr val="13261F"/>
                </a:solidFill>
                <a:latin typeface="Nunito Sans Bold"/>
                <a:ea typeface="Nunito Sans Bold"/>
                <a:cs typeface="Nunito Sans Bold"/>
                <a:sym typeface="Nunito Sans Bold"/>
              </a:rPr>
              <a:t>30 %</a:t>
            </a:r>
            <a:r>
              <a:rPr lang="en-US" sz="2100">
                <a:solidFill>
                  <a:srgbClr val="13261F"/>
                </a:solidFill>
                <a:latin typeface="Nunito Sans"/>
                <a:ea typeface="Nunito Sans"/>
                <a:cs typeface="Nunito Sans"/>
                <a:sym typeface="Nunito Sans"/>
              </a:rPr>
              <a:t> el tiempo docente en planificaciones y reportes (indicador I-10).</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ALCANCE</a:t>
            </a:r>
          </a:p>
        </p:txBody>
      </p:sp>
      <p:sp>
        <p:nvSpPr>
          <p:cNvPr name="TextBox 3" id="3"/>
          <p:cNvSpPr txBox="true"/>
          <p:nvPr/>
        </p:nvSpPr>
        <p:spPr>
          <a:xfrm rot="0">
            <a:off x="1219200" y="1756410"/>
            <a:ext cx="16325088" cy="754380"/>
          </a:xfrm>
          <a:prstGeom prst="rect">
            <a:avLst/>
          </a:prstGeom>
        </p:spPr>
        <p:txBody>
          <a:bodyPr anchor="t" rtlCol="false" tIns="0" lIns="0" bIns="0" rIns="0">
            <a:spAutoFit/>
          </a:bodyPr>
          <a:lstStyle/>
          <a:p>
            <a:pPr algn="l">
              <a:lnSpc>
                <a:spcPts val="5940"/>
              </a:lnSpc>
            </a:pPr>
            <a:r>
              <a:rPr lang="en-US" sz="5400" b="true">
                <a:solidFill>
                  <a:srgbClr val="13261F"/>
                </a:solidFill>
                <a:latin typeface="Rubik Bold"/>
                <a:ea typeface="Rubik Bold"/>
                <a:cs typeface="Rubik Bold"/>
                <a:sym typeface="Rubik Bold"/>
              </a:rPr>
              <a:t>Qué construimos en esta versión</a:t>
            </a:r>
          </a:p>
        </p:txBody>
      </p:sp>
      <p:grpSp>
        <p:nvGrpSpPr>
          <p:cNvPr name="Group 4" id="4"/>
          <p:cNvGrpSpPr/>
          <p:nvPr/>
        </p:nvGrpSpPr>
        <p:grpSpPr>
          <a:xfrm rot="0">
            <a:off x="1219200" y="2929890"/>
            <a:ext cx="9180547" cy="4263390"/>
            <a:chOff x="0" y="0"/>
            <a:chExt cx="12240730" cy="5684520"/>
          </a:xfrm>
        </p:grpSpPr>
        <p:sp>
          <p:nvSpPr>
            <p:cNvPr name="Freeform 5" id="5"/>
            <p:cNvSpPr/>
            <p:nvPr/>
          </p:nvSpPr>
          <p:spPr>
            <a:xfrm flipH="false" flipV="false" rot="0">
              <a:off x="0" y="0"/>
              <a:ext cx="12240768" cy="5684520"/>
            </a:xfrm>
            <a:custGeom>
              <a:avLst/>
              <a:gdLst/>
              <a:ahLst/>
              <a:cxnLst/>
              <a:rect r="r" b="b" t="t" l="l"/>
              <a:pathLst>
                <a:path h="5684520" w="12240768">
                  <a:moveTo>
                    <a:pt x="0" y="248158"/>
                  </a:moveTo>
                  <a:cubicBezTo>
                    <a:pt x="0" y="111125"/>
                    <a:pt x="111125" y="0"/>
                    <a:pt x="248158" y="0"/>
                  </a:cubicBezTo>
                  <a:lnTo>
                    <a:pt x="11992610" y="0"/>
                  </a:lnTo>
                  <a:cubicBezTo>
                    <a:pt x="12129643" y="0"/>
                    <a:pt x="12240768" y="111125"/>
                    <a:pt x="12240768" y="248158"/>
                  </a:cubicBezTo>
                  <a:lnTo>
                    <a:pt x="12240768" y="5436362"/>
                  </a:lnTo>
                  <a:cubicBezTo>
                    <a:pt x="12240768" y="5573395"/>
                    <a:pt x="12129643" y="5684520"/>
                    <a:pt x="11992610" y="5684520"/>
                  </a:cubicBezTo>
                  <a:lnTo>
                    <a:pt x="248158" y="5684520"/>
                  </a:lnTo>
                  <a:cubicBezTo>
                    <a:pt x="111125" y="5684520"/>
                    <a:pt x="0" y="5573395"/>
                    <a:pt x="0" y="5436362"/>
                  </a:cubicBezTo>
                  <a:close/>
                </a:path>
              </a:pathLst>
            </a:custGeom>
            <a:solidFill>
              <a:srgbClr val="FFFFFF"/>
            </a:solidFill>
            <a:ln w="9525" cap="sq">
              <a:solidFill>
                <a:srgbClr val="DCE3DA"/>
              </a:solidFill>
              <a:prstDash val="solid"/>
              <a:miter/>
            </a:ln>
          </p:spPr>
        </p:sp>
      </p:grpSp>
      <p:sp>
        <p:nvSpPr>
          <p:cNvPr name="TextBox 6" id="6"/>
          <p:cNvSpPr txBox="true"/>
          <p:nvPr/>
        </p:nvSpPr>
        <p:spPr>
          <a:xfrm rot="0">
            <a:off x="1607820" y="3318510"/>
            <a:ext cx="8655415" cy="449580"/>
          </a:xfrm>
          <a:prstGeom prst="rect">
            <a:avLst/>
          </a:prstGeom>
        </p:spPr>
        <p:txBody>
          <a:bodyPr anchor="t" rtlCol="false" tIns="0" lIns="0" bIns="0" rIns="0">
            <a:spAutoFit/>
          </a:bodyPr>
          <a:lstStyle/>
          <a:p>
            <a:pPr algn="l">
              <a:lnSpc>
                <a:spcPts val="3240"/>
              </a:lnSpc>
            </a:pPr>
            <a:r>
              <a:rPr lang="en-US" sz="2700" b="true">
                <a:solidFill>
                  <a:srgbClr val="137A41"/>
                </a:solidFill>
                <a:latin typeface="Nunito Sans Bold"/>
                <a:ea typeface="Nunito Sans Bold"/>
                <a:cs typeface="Nunito Sans Bold"/>
                <a:sym typeface="Nunito Sans Bold"/>
              </a:rPr>
              <a:t>Dentro del alcance</a:t>
            </a:r>
          </a:p>
        </p:txBody>
      </p:sp>
      <p:sp>
        <p:nvSpPr>
          <p:cNvPr name="TextBox 7" id="7"/>
          <p:cNvSpPr txBox="true"/>
          <p:nvPr/>
        </p:nvSpPr>
        <p:spPr>
          <a:xfrm rot="0">
            <a:off x="1607820" y="3901440"/>
            <a:ext cx="4170674" cy="75057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Usuarios, roles y matrícula</a:t>
            </a:r>
          </a:p>
        </p:txBody>
      </p:sp>
      <p:sp>
        <p:nvSpPr>
          <p:cNvPr name="TextBox 8" id="8"/>
          <p:cNvSpPr txBox="true"/>
          <p:nvPr/>
        </p:nvSpPr>
        <p:spPr>
          <a:xfrm rot="0">
            <a:off x="5961821" y="3901440"/>
            <a:ext cx="4170797" cy="75057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Planificación con revisión y Word/PDF</a:t>
            </a:r>
          </a:p>
        </p:txBody>
      </p:sp>
      <p:sp>
        <p:nvSpPr>
          <p:cNvPr name="TextBox 9" id="9"/>
          <p:cNvSpPr txBox="true"/>
          <p:nvPr/>
        </p:nvSpPr>
        <p:spPr>
          <a:xfrm rot="0">
            <a:off x="1607820" y="4747260"/>
            <a:ext cx="4170674" cy="75057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Calendario del curso y tareas</a:t>
            </a:r>
          </a:p>
        </p:txBody>
      </p:sp>
      <p:sp>
        <p:nvSpPr>
          <p:cNvPr name="TextBox 10" id="10"/>
          <p:cNvSpPr txBox="true"/>
          <p:nvPr/>
        </p:nvSpPr>
        <p:spPr>
          <a:xfrm rot="0">
            <a:off x="5961821" y="4747260"/>
            <a:ext cx="4170797" cy="75057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Calificaciones y reportes de logros</a:t>
            </a:r>
          </a:p>
        </p:txBody>
      </p:sp>
      <p:sp>
        <p:nvSpPr>
          <p:cNvPr name="TextBox 11" id="11"/>
          <p:cNvSpPr txBox="true"/>
          <p:nvPr/>
        </p:nvSpPr>
        <p:spPr>
          <a:xfrm rot="0">
            <a:off x="1607820" y="5593080"/>
            <a:ext cx="4170674" cy="75057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Asistencia, faltas y comportamiento</a:t>
            </a:r>
          </a:p>
        </p:txBody>
      </p:sp>
      <p:sp>
        <p:nvSpPr>
          <p:cNvPr name="TextBox 12" id="12"/>
          <p:cNvSpPr txBox="true"/>
          <p:nvPr/>
        </p:nvSpPr>
        <p:spPr>
          <a:xfrm rot="0">
            <a:off x="5961821" y="5593080"/>
            <a:ext cx="4170797" cy="75057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Acceso del representante</a:t>
            </a:r>
          </a:p>
        </p:txBody>
      </p:sp>
      <p:sp>
        <p:nvSpPr>
          <p:cNvPr name="TextBox 13" id="13"/>
          <p:cNvSpPr txBox="true"/>
          <p:nvPr/>
        </p:nvSpPr>
        <p:spPr>
          <a:xfrm rot="0">
            <a:off x="1607820" y="6438900"/>
            <a:ext cx="4170674" cy="40386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Trabajo sin conexión (PWA)</a:t>
            </a:r>
          </a:p>
        </p:txBody>
      </p:sp>
      <p:sp>
        <p:nvSpPr>
          <p:cNvPr name="TextBox 14" id="14"/>
          <p:cNvSpPr txBox="true"/>
          <p:nvPr/>
        </p:nvSpPr>
        <p:spPr>
          <a:xfrm rot="0">
            <a:off x="5961821" y="6438900"/>
            <a:ext cx="4428411" cy="403860"/>
          </a:xfrm>
          <a:prstGeom prst="rect">
            <a:avLst/>
          </a:prstGeom>
        </p:spPr>
        <p:txBody>
          <a:bodyPr anchor="t" rtlCol="false" tIns="0" lIns="0" bIns="0" rIns="0">
            <a:spAutoFit/>
          </a:bodyPr>
          <a:lstStyle/>
          <a:p>
            <a:pPr algn="l">
              <a:lnSpc>
                <a:spcPts val="2730"/>
              </a:lnSpc>
            </a:pPr>
            <a:r>
              <a:rPr lang="en-US" sz="2100" b="true">
                <a:solidFill>
                  <a:srgbClr val="137A41"/>
                </a:solidFill>
                <a:latin typeface="Nunito Sans Bold"/>
                <a:ea typeface="Nunito Sans Bold"/>
                <a:cs typeface="Nunito Sans Bold"/>
                <a:sym typeface="Nunito Sans Bold"/>
              </a:rPr>
              <a:t>Avisos push y WhatsApp (novedad)</a:t>
            </a:r>
          </a:p>
        </p:txBody>
      </p:sp>
      <p:grpSp>
        <p:nvGrpSpPr>
          <p:cNvPr name="Group 15" id="15"/>
          <p:cNvGrpSpPr/>
          <p:nvPr/>
        </p:nvGrpSpPr>
        <p:grpSpPr>
          <a:xfrm rot="0">
            <a:off x="10704547" y="2929890"/>
            <a:ext cx="6364253" cy="4263390"/>
            <a:chOff x="0" y="0"/>
            <a:chExt cx="8485670" cy="5684520"/>
          </a:xfrm>
        </p:grpSpPr>
        <p:sp>
          <p:nvSpPr>
            <p:cNvPr name="Freeform 16" id="16"/>
            <p:cNvSpPr/>
            <p:nvPr/>
          </p:nvSpPr>
          <p:spPr>
            <a:xfrm flipH="false" flipV="false" rot="0">
              <a:off x="0" y="0"/>
              <a:ext cx="8485632" cy="5684520"/>
            </a:xfrm>
            <a:custGeom>
              <a:avLst/>
              <a:gdLst/>
              <a:ahLst/>
              <a:cxnLst/>
              <a:rect r="r" b="b" t="t" l="l"/>
              <a:pathLst>
                <a:path h="5684520" w="8485632">
                  <a:moveTo>
                    <a:pt x="0" y="254000"/>
                  </a:moveTo>
                  <a:cubicBezTo>
                    <a:pt x="0" y="113665"/>
                    <a:pt x="113665" y="0"/>
                    <a:pt x="254000" y="0"/>
                  </a:cubicBezTo>
                  <a:lnTo>
                    <a:pt x="8231632" y="0"/>
                  </a:lnTo>
                  <a:cubicBezTo>
                    <a:pt x="8371967" y="0"/>
                    <a:pt x="8485632" y="113665"/>
                    <a:pt x="8485632" y="254000"/>
                  </a:cubicBezTo>
                  <a:lnTo>
                    <a:pt x="8485632" y="5430520"/>
                  </a:lnTo>
                  <a:cubicBezTo>
                    <a:pt x="8485632" y="5570855"/>
                    <a:pt x="8371967" y="5684520"/>
                    <a:pt x="8231632" y="5684520"/>
                  </a:cubicBezTo>
                  <a:lnTo>
                    <a:pt x="254000" y="5684520"/>
                  </a:lnTo>
                  <a:cubicBezTo>
                    <a:pt x="113665" y="5684520"/>
                    <a:pt x="0" y="5570855"/>
                    <a:pt x="0" y="5430520"/>
                  </a:cubicBezTo>
                  <a:close/>
                </a:path>
              </a:pathLst>
            </a:custGeom>
            <a:solidFill>
              <a:srgbClr val="E9EEE6"/>
            </a:solidFill>
          </p:spPr>
        </p:sp>
      </p:grpSp>
      <p:sp>
        <p:nvSpPr>
          <p:cNvPr name="TextBox 17" id="17"/>
          <p:cNvSpPr txBox="true"/>
          <p:nvPr/>
        </p:nvSpPr>
        <p:spPr>
          <a:xfrm rot="0">
            <a:off x="11085547" y="3310890"/>
            <a:ext cx="5770312" cy="449580"/>
          </a:xfrm>
          <a:prstGeom prst="rect">
            <a:avLst/>
          </a:prstGeom>
        </p:spPr>
        <p:txBody>
          <a:bodyPr anchor="t" rtlCol="false" tIns="0" lIns="0" bIns="0" rIns="0">
            <a:spAutoFit/>
          </a:bodyPr>
          <a:lstStyle/>
          <a:p>
            <a:pPr algn="l">
              <a:lnSpc>
                <a:spcPts val="3240"/>
              </a:lnSpc>
            </a:pPr>
            <a:r>
              <a:rPr lang="en-US" sz="2700" b="true">
                <a:solidFill>
                  <a:srgbClr val="4A5A52"/>
                </a:solidFill>
                <a:latin typeface="Nunito Sans Bold"/>
                <a:ea typeface="Nunito Sans Bold"/>
                <a:cs typeface="Nunito Sans Bold"/>
                <a:sym typeface="Nunito Sans Bold"/>
              </a:rPr>
              <a:t>Fuera de alcance</a:t>
            </a:r>
          </a:p>
        </p:txBody>
      </p:sp>
      <p:sp>
        <p:nvSpPr>
          <p:cNvPr name="TextBox 18" id="18"/>
          <p:cNvSpPr txBox="true"/>
          <p:nvPr/>
        </p:nvSpPr>
        <p:spPr>
          <a:xfrm rot="0">
            <a:off x="11085547" y="3855720"/>
            <a:ext cx="5770312" cy="403860"/>
          </a:xfrm>
          <a:prstGeom prst="rect">
            <a:avLst/>
          </a:prstGeom>
        </p:spPr>
        <p:txBody>
          <a:bodyPr anchor="t" rtlCol="false" tIns="0" lIns="0" bIns="0" rIns="0">
            <a:spAutoFit/>
          </a:bodyPr>
          <a:lstStyle/>
          <a:p>
            <a:pPr algn="l">
              <a:lnSpc>
                <a:spcPts val="2730"/>
              </a:lnSpc>
            </a:pPr>
            <a:r>
              <a:rPr lang="en-US" sz="2100">
                <a:solidFill>
                  <a:srgbClr val="4A5A52"/>
                </a:solidFill>
                <a:latin typeface="Nunito Sans"/>
                <a:ea typeface="Nunito Sans"/>
                <a:cs typeface="Nunito Sans"/>
                <a:sym typeface="Nunito Sans"/>
              </a:rPr>
              <a:t>Subida de archivos pesados en tareas</a:t>
            </a:r>
          </a:p>
        </p:txBody>
      </p:sp>
      <p:sp>
        <p:nvSpPr>
          <p:cNvPr name="TextBox 19" id="19"/>
          <p:cNvSpPr txBox="true"/>
          <p:nvPr/>
        </p:nvSpPr>
        <p:spPr>
          <a:xfrm rot="0">
            <a:off x="11085547" y="4354830"/>
            <a:ext cx="5770312" cy="403860"/>
          </a:xfrm>
          <a:prstGeom prst="rect">
            <a:avLst/>
          </a:prstGeom>
        </p:spPr>
        <p:txBody>
          <a:bodyPr anchor="t" rtlCol="false" tIns="0" lIns="0" bIns="0" rIns="0">
            <a:spAutoFit/>
          </a:bodyPr>
          <a:lstStyle/>
          <a:p>
            <a:pPr algn="l">
              <a:lnSpc>
                <a:spcPts val="2730"/>
              </a:lnSpc>
            </a:pPr>
            <a:r>
              <a:rPr lang="en-US" sz="2100">
                <a:solidFill>
                  <a:srgbClr val="4A5A52"/>
                </a:solidFill>
                <a:latin typeface="Nunito Sans"/>
                <a:ea typeface="Nunito Sans"/>
                <a:cs typeface="Nunito Sans"/>
                <a:sym typeface="Nunito Sans"/>
              </a:rPr>
              <a:t>Pagos en línea</a:t>
            </a:r>
          </a:p>
        </p:txBody>
      </p:sp>
      <p:sp>
        <p:nvSpPr>
          <p:cNvPr name="TextBox 20" id="20"/>
          <p:cNvSpPr txBox="true"/>
          <p:nvPr/>
        </p:nvSpPr>
        <p:spPr>
          <a:xfrm rot="0">
            <a:off x="11085547" y="4853940"/>
            <a:ext cx="5770312" cy="403860"/>
          </a:xfrm>
          <a:prstGeom prst="rect">
            <a:avLst/>
          </a:prstGeom>
        </p:spPr>
        <p:txBody>
          <a:bodyPr anchor="t" rtlCol="false" tIns="0" lIns="0" bIns="0" rIns="0">
            <a:spAutoFit/>
          </a:bodyPr>
          <a:lstStyle/>
          <a:p>
            <a:pPr algn="l">
              <a:lnSpc>
                <a:spcPts val="2730"/>
              </a:lnSpc>
            </a:pPr>
            <a:r>
              <a:rPr lang="en-US" sz="2100">
                <a:solidFill>
                  <a:srgbClr val="4A5A52"/>
                </a:solidFill>
                <a:latin typeface="Nunito Sans"/>
                <a:ea typeface="Nunito Sans"/>
                <a:cs typeface="Nunito Sans"/>
                <a:sym typeface="Nunito Sans"/>
              </a:rPr>
              <a:t>App móvil nativa</a:t>
            </a:r>
          </a:p>
        </p:txBody>
      </p:sp>
      <p:sp>
        <p:nvSpPr>
          <p:cNvPr name="TextBox 21" id="21"/>
          <p:cNvSpPr txBox="true"/>
          <p:nvPr/>
        </p:nvSpPr>
        <p:spPr>
          <a:xfrm rot="0">
            <a:off x="11085547" y="5353050"/>
            <a:ext cx="5770312" cy="403860"/>
          </a:xfrm>
          <a:prstGeom prst="rect">
            <a:avLst/>
          </a:prstGeom>
        </p:spPr>
        <p:txBody>
          <a:bodyPr anchor="t" rtlCol="false" tIns="0" lIns="0" bIns="0" rIns="0">
            <a:spAutoFit/>
          </a:bodyPr>
          <a:lstStyle/>
          <a:p>
            <a:pPr algn="l">
              <a:lnSpc>
                <a:spcPts val="2730"/>
              </a:lnSpc>
            </a:pPr>
            <a:r>
              <a:rPr lang="en-US" sz="2100">
                <a:solidFill>
                  <a:srgbClr val="4A5A52"/>
                </a:solidFill>
                <a:latin typeface="Nunito Sans"/>
                <a:ea typeface="Nunito Sans"/>
                <a:cs typeface="Nunito Sans"/>
                <a:sym typeface="Nunito Sans"/>
              </a:rPr>
              <a:t>Carga directa al sistema nacional</a:t>
            </a:r>
          </a:p>
        </p:txBody>
      </p:sp>
      <p:sp>
        <p:nvSpPr>
          <p:cNvPr name="TextBox 22" id="22"/>
          <p:cNvSpPr txBox="true"/>
          <p:nvPr/>
        </p:nvSpPr>
        <p:spPr>
          <a:xfrm rot="0">
            <a:off x="11085547" y="5852160"/>
            <a:ext cx="5770312" cy="403860"/>
          </a:xfrm>
          <a:prstGeom prst="rect">
            <a:avLst/>
          </a:prstGeom>
        </p:spPr>
        <p:txBody>
          <a:bodyPr anchor="t" rtlCol="false" tIns="0" lIns="0" bIns="0" rIns="0">
            <a:spAutoFit/>
          </a:bodyPr>
          <a:lstStyle/>
          <a:p>
            <a:pPr algn="l">
              <a:lnSpc>
                <a:spcPts val="2730"/>
              </a:lnSpc>
            </a:pPr>
            <a:r>
              <a:rPr lang="en-US" sz="2100">
                <a:solidFill>
                  <a:srgbClr val="4A5A52"/>
                </a:solidFill>
                <a:latin typeface="Nunito Sans"/>
                <a:ea typeface="Nunito Sans"/>
                <a:cs typeface="Nunito Sans"/>
                <a:sym typeface="Nunito Sans"/>
              </a:rPr>
              <a:t>Generador de horarios</a:t>
            </a:r>
          </a:p>
        </p:txBody>
      </p:sp>
      <p:sp>
        <p:nvSpPr>
          <p:cNvPr name="TextBox 23" id="23"/>
          <p:cNvSpPr txBox="true"/>
          <p:nvPr/>
        </p:nvSpPr>
        <p:spPr>
          <a:xfrm rot="0">
            <a:off x="1219200" y="9328785"/>
            <a:ext cx="16325088" cy="386715"/>
          </a:xfrm>
          <a:prstGeom prst="rect">
            <a:avLst/>
          </a:prstGeom>
        </p:spPr>
        <p:txBody>
          <a:bodyPr anchor="t" rtlCol="false" tIns="0" lIns="0" bIns="0" rIns="0">
            <a:spAutoFit/>
          </a:bodyPr>
          <a:lstStyle/>
          <a:p>
            <a:pPr algn="l">
              <a:lnSpc>
                <a:spcPts val="2520"/>
              </a:lnSpc>
            </a:pPr>
            <a:r>
              <a:rPr lang="en-US" sz="1800">
                <a:solidFill>
                  <a:srgbClr val="4A5A52"/>
                </a:solidFill>
                <a:latin typeface="Nunito Sans"/>
                <a:ea typeface="Nunito Sans"/>
                <a:cs typeface="Nunito Sans"/>
                <a:sym typeface="Nunito Sans"/>
              </a:rPr>
              <a:t>Avisos por notificación push y WhatsApp, solo 3 mensajes; el correo electrónico queda fuera.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METODOLOGÍA</a:t>
            </a:r>
          </a:p>
        </p:txBody>
      </p:sp>
      <p:sp>
        <p:nvSpPr>
          <p:cNvPr name="TextBox 3" id="3"/>
          <p:cNvSpPr txBox="true"/>
          <p:nvPr/>
        </p:nvSpPr>
        <p:spPr>
          <a:xfrm rot="0">
            <a:off x="1219200" y="1756410"/>
            <a:ext cx="16325088" cy="1508760"/>
          </a:xfrm>
          <a:prstGeom prst="rect">
            <a:avLst/>
          </a:prstGeom>
        </p:spPr>
        <p:txBody>
          <a:bodyPr anchor="t" rtlCol="false" tIns="0" lIns="0" bIns="0" rIns="0">
            <a:spAutoFit/>
          </a:bodyPr>
          <a:lstStyle/>
          <a:p>
            <a:pPr algn="l">
              <a:lnSpc>
                <a:spcPts val="5940"/>
              </a:lnSpc>
            </a:pPr>
            <a:r>
              <a:rPr lang="en-US" sz="5400" b="true">
                <a:solidFill>
                  <a:srgbClr val="13261F"/>
                </a:solidFill>
                <a:latin typeface="Rubik Bold"/>
                <a:ea typeface="Rubik Bold"/>
                <a:cs typeface="Rubik Bold"/>
                <a:sym typeface="Rubik Bold"/>
              </a:rPr>
              <a:t>Scrum con DevSecOps: entregas cortas, seguridad en cada cambio</a:t>
            </a:r>
          </a:p>
        </p:txBody>
      </p:sp>
      <p:grpSp>
        <p:nvGrpSpPr>
          <p:cNvPr name="Group 4" id="4"/>
          <p:cNvGrpSpPr/>
          <p:nvPr/>
        </p:nvGrpSpPr>
        <p:grpSpPr>
          <a:xfrm rot="0">
            <a:off x="1219200" y="3684270"/>
            <a:ext cx="5105400" cy="2969895"/>
            <a:chOff x="0" y="0"/>
            <a:chExt cx="6807200" cy="3959860"/>
          </a:xfrm>
        </p:grpSpPr>
        <p:sp>
          <p:nvSpPr>
            <p:cNvPr name="Freeform 5" id="5"/>
            <p:cNvSpPr/>
            <p:nvPr/>
          </p:nvSpPr>
          <p:spPr>
            <a:xfrm flipH="false" flipV="false" rot="0">
              <a:off x="0" y="0"/>
              <a:ext cx="6807200" cy="3959860"/>
            </a:xfrm>
            <a:custGeom>
              <a:avLst/>
              <a:gdLst/>
              <a:ahLst/>
              <a:cxnLst/>
              <a:rect r="r" b="b" t="t" l="l"/>
              <a:pathLst>
                <a:path h="3959860" w="6807200">
                  <a:moveTo>
                    <a:pt x="0" y="248412"/>
                  </a:moveTo>
                  <a:cubicBezTo>
                    <a:pt x="0" y="111252"/>
                    <a:pt x="111252" y="0"/>
                    <a:pt x="248412" y="0"/>
                  </a:cubicBezTo>
                  <a:lnTo>
                    <a:pt x="6558788" y="0"/>
                  </a:lnTo>
                  <a:cubicBezTo>
                    <a:pt x="6695948" y="0"/>
                    <a:pt x="6807200" y="111252"/>
                    <a:pt x="6807200" y="248412"/>
                  </a:cubicBezTo>
                  <a:lnTo>
                    <a:pt x="6807200" y="3711448"/>
                  </a:lnTo>
                  <a:cubicBezTo>
                    <a:pt x="6807200" y="3848608"/>
                    <a:pt x="6695948" y="3959860"/>
                    <a:pt x="6558788" y="3959860"/>
                  </a:cubicBezTo>
                  <a:lnTo>
                    <a:pt x="248412" y="3959860"/>
                  </a:lnTo>
                  <a:cubicBezTo>
                    <a:pt x="111252" y="3959860"/>
                    <a:pt x="0" y="3848608"/>
                    <a:pt x="0" y="3711448"/>
                  </a:cubicBezTo>
                  <a:close/>
                </a:path>
              </a:pathLst>
            </a:custGeom>
            <a:solidFill>
              <a:srgbClr val="FFFFFF"/>
            </a:solidFill>
            <a:ln w="9525" cap="sq">
              <a:solidFill>
                <a:srgbClr val="DCE3DA"/>
              </a:solidFill>
              <a:prstDash val="solid"/>
              <a:miter/>
            </a:ln>
          </p:spPr>
        </p:sp>
      </p:grpSp>
      <p:grpSp>
        <p:nvGrpSpPr>
          <p:cNvPr name="Group 6" id="6"/>
          <p:cNvGrpSpPr/>
          <p:nvPr/>
        </p:nvGrpSpPr>
        <p:grpSpPr>
          <a:xfrm rot="0">
            <a:off x="1569720" y="4034790"/>
            <a:ext cx="533400" cy="533400"/>
            <a:chOff x="0" y="0"/>
            <a:chExt cx="711200" cy="711200"/>
          </a:xfrm>
        </p:grpSpPr>
        <p:sp>
          <p:nvSpPr>
            <p:cNvPr name="Freeform 7" id="7" descr="Activity"/>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3"/>
              <a:stretch>
                <a:fillRect l="0" t="0" r="0" b="0"/>
              </a:stretch>
            </a:blipFill>
          </p:spPr>
        </p:sp>
      </p:grpSp>
      <p:sp>
        <p:nvSpPr>
          <p:cNvPr name="TextBox 8" id="8"/>
          <p:cNvSpPr txBox="true"/>
          <p:nvPr/>
        </p:nvSpPr>
        <p:spPr>
          <a:xfrm rot="0">
            <a:off x="1569720" y="4701540"/>
            <a:ext cx="4536491" cy="426720"/>
          </a:xfrm>
          <a:prstGeom prst="rect">
            <a:avLst/>
          </a:prstGeom>
        </p:spPr>
        <p:txBody>
          <a:bodyPr anchor="t" rtlCol="false" tIns="0" lIns="0" bIns="0" rIns="0">
            <a:spAutoFit/>
          </a:bodyPr>
          <a:lstStyle/>
          <a:p>
            <a:pPr algn="l">
              <a:lnSpc>
                <a:spcPts val="3060"/>
              </a:lnSpc>
            </a:pPr>
            <a:r>
              <a:rPr lang="en-US" sz="2550" b="true">
                <a:solidFill>
                  <a:srgbClr val="13261F"/>
                </a:solidFill>
                <a:latin typeface="Nunito Sans Bold"/>
                <a:ea typeface="Nunito Sans Bold"/>
                <a:cs typeface="Nunito Sans Bold"/>
                <a:sym typeface="Nunito Sans Bold"/>
              </a:rPr>
              <a:t>Incremental</a:t>
            </a:r>
          </a:p>
        </p:txBody>
      </p:sp>
      <p:sp>
        <p:nvSpPr>
          <p:cNvPr name="TextBox 9" id="9"/>
          <p:cNvSpPr txBox="true"/>
          <p:nvPr/>
        </p:nvSpPr>
        <p:spPr>
          <a:xfrm rot="0">
            <a:off x="1569720" y="5194935"/>
            <a:ext cx="4536491" cy="786765"/>
          </a:xfrm>
          <a:prstGeom prst="rect">
            <a:avLst/>
          </a:prstGeom>
        </p:spPr>
        <p:txBody>
          <a:bodyPr anchor="t" rtlCol="false" tIns="0" lIns="0" bIns="0" rIns="0">
            <a:spAutoFit/>
          </a:bodyPr>
          <a:lstStyle/>
          <a:p>
            <a:pPr algn="l">
              <a:lnSpc>
                <a:spcPts val="2835"/>
              </a:lnSpc>
            </a:pPr>
            <a:r>
              <a:rPr lang="en-US" sz="2100">
                <a:solidFill>
                  <a:srgbClr val="4A5A52"/>
                </a:solidFill>
                <a:latin typeface="Nunito Sans"/>
                <a:ea typeface="Nunito Sans"/>
                <a:cs typeface="Nunito Sans"/>
                <a:sym typeface="Nunito Sans"/>
              </a:rPr>
              <a:t>Módulos útiles por sí mismos que se liberan por etapas.</a:t>
            </a:r>
          </a:p>
        </p:txBody>
      </p:sp>
      <p:grpSp>
        <p:nvGrpSpPr>
          <p:cNvPr name="Group 10" id="10"/>
          <p:cNvGrpSpPr/>
          <p:nvPr/>
        </p:nvGrpSpPr>
        <p:grpSpPr>
          <a:xfrm rot="0">
            <a:off x="6591300" y="3684270"/>
            <a:ext cx="5105400" cy="2969895"/>
            <a:chOff x="0" y="0"/>
            <a:chExt cx="6807200" cy="3959860"/>
          </a:xfrm>
        </p:grpSpPr>
        <p:sp>
          <p:nvSpPr>
            <p:cNvPr name="Freeform 11" id="11"/>
            <p:cNvSpPr/>
            <p:nvPr/>
          </p:nvSpPr>
          <p:spPr>
            <a:xfrm flipH="false" flipV="false" rot="0">
              <a:off x="0" y="0"/>
              <a:ext cx="6807200" cy="3959860"/>
            </a:xfrm>
            <a:custGeom>
              <a:avLst/>
              <a:gdLst/>
              <a:ahLst/>
              <a:cxnLst/>
              <a:rect r="r" b="b" t="t" l="l"/>
              <a:pathLst>
                <a:path h="3959860" w="6807200">
                  <a:moveTo>
                    <a:pt x="0" y="248412"/>
                  </a:moveTo>
                  <a:cubicBezTo>
                    <a:pt x="0" y="111252"/>
                    <a:pt x="111252" y="0"/>
                    <a:pt x="248412" y="0"/>
                  </a:cubicBezTo>
                  <a:lnTo>
                    <a:pt x="6558788" y="0"/>
                  </a:lnTo>
                  <a:cubicBezTo>
                    <a:pt x="6695948" y="0"/>
                    <a:pt x="6807200" y="111252"/>
                    <a:pt x="6807200" y="248412"/>
                  </a:cubicBezTo>
                  <a:lnTo>
                    <a:pt x="6807200" y="3711448"/>
                  </a:lnTo>
                  <a:cubicBezTo>
                    <a:pt x="6807200" y="3848608"/>
                    <a:pt x="6695948" y="3959860"/>
                    <a:pt x="6558788" y="3959860"/>
                  </a:cubicBezTo>
                  <a:lnTo>
                    <a:pt x="248412" y="3959860"/>
                  </a:lnTo>
                  <a:cubicBezTo>
                    <a:pt x="111252" y="3959860"/>
                    <a:pt x="0" y="3848608"/>
                    <a:pt x="0" y="3711448"/>
                  </a:cubicBezTo>
                  <a:close/>
                </a:path>
              </a:pathLst>
            </a:custGeom>
            <a:solidFill>
              <a:srgbClr val="FFFFFF"/>
            </a:solidFill>
            <a:ln w="9525" cap="sq">
              <a:solidFill>
                <a:srgbClr val="DCE3DA"/>
              </a:solidFill>
              <a:prstDash val="solid"/>
              <a:miter/>
            </a:ln>
          </p:spPr>
        </p:sp>
      </p:grpSp>
      <p:grpSp>
        <p:nvGrpSpPr>
          <p:cNvPr name="Group 12" id="12"/>
          <p:cNvGrpSpPr/>
          <p:nvPr/>
        </p:nvGrpSpPr>
        <p:grpSpPr>
          <a:xfrm rot="0">
            <a:off x="6941820" y="4034790"/>
            <a:ext cx="533400" cy="533400"/>
            <a:chOff x="0" y="0"/>
            <a:chExt cx="711200" cy="711200"/>
          </a:xfrm>
        </p:grpSpPr>
        <p:sp>
          <p:nvSpPr>
            <p:cNvPr name="Freeform 13" id="13" descr="Users"/>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4"/>
              <a:stretch>
                <a:fillRect l="0" t="0" r="0" b="0"/>
              </a:stretch>
            </a:blipFill>
          </p:spPr>
        </p:sp>
      </p:grpSp>
      <p:sp>
        <p:nvSpPr>
          <p:cNvPr name="TextBox 14" id="14"/>
          <p:cNvSpPr txBox="true"/>
          <p:nvPr/>
        </p:nvSpPr>
        <p:spPr>
          <a:xfrm rot="0">
            <a:off x="6941820" y="4701540"/>
            <a:ext cx="4536491" cy="426720"/>
          </a:xfrm>
          <a:prstGeom prst="rect">
            <a:avLst/>
          </a:prstGeom>
        </p:spPr>
        <p:txBody>
          <a:bodyPr anchor="t" rtlCol="false" tIns="0" lIns="0" bIns="0" rIns="0">
            <a:spAutoFit/>
          </a:bodyPr>
          <a:lstStyle/>
          <a:p>
            <a:pPr algn="l">
              <a:lnSpc>
                <a:spcPts val="3060"/>
              </a:lnSpc>
            </a:pPr>
            <a:r>
              <a:rPr lang="en-US" sz="2550" b="true">
                <a:solidFill>
                  <a:srgbClr val="13261F"/>
                </a:solidFill>
                <a:latin typeface="Nunito Sans Bold"/>
                <a:ea typeface="Nunito Sans Bold"/>
                <a:cs typeface="Nunito Sans Bold"/>
                <a:sym typeface="Nunito Sans Bold"/>
              </a:rPr>
              <a:t>Iterativo</a:t>
            </a:r>
          </a:p>
        </p:txBody>
      </p:sp>
      <p:sp>
        <p:nvSpPr>
          <p:cNvPr name="TextBox 15" id="15"/>
          <p:cNvSpPr txBox="true"/>
          <p:nvPr/>
        </p:nvSpPr>
        <p:spPr>
          <a:xfrm rot="0">
            <a:off x="6941820" y="5194935"/>
            <a:ext cx="4536491" cy="786765"/>
          </a:xfrm>
          <a:prstGeom prst="rect">
            <a:avLst/>
          </a:prstGeom>
        </p:spPr>
        <p:txBody>
          <a:bodyPr anchor="t" rtlCol="false" tIns="0" lIns="0" bIns="0" rIns="0">
            <a:spAutoFit/>
          </a:bodyPr>
          <a:lstStyle/>
          <a:p>
            <a:pPr algn="l">
              <a:lnSpc>
                <a:spcPts val="2835"/>
              </a:lnSpc>
            </a:pPr>
            <a:r>
              <a:rPr lang="en-US" sz="2100">
                <a:solidFill>
                  <a:srgbClr val="4A5A52"/>
                </a:solidFill>
                <a:latin typeface="Nunito Sans"/>
                <a:ea typeface="Nunito Sans"/>
                <a:cs typeface="Nunito Sans"/>
                <a:sym typeface="Nunito Sans"/>
              </a:rPr>
              <a:t>El vicerrector valida el formato y los cálculos en cada demostración.</a:t>
            </a:r>
          </a:p>
        </p:txBody>
      </p:sp>
      <p:grpSp>
        <p:nvGrpSpPr>
          <p:cNvPr name="Group 16" id="16"/>
          <p:cNvGrpSpPr/>
          <p:nvPr/>
        </p:nvGrpSpPr>
        <p:grpSpPr>
          <a:xfrm rot="0">
            <a:off x="11963400" y="3684270"/>
            <a:ext cx="5105400" cy="2969895"/>
            <a:chOff x="0" y="0"/>
            <a:chExt cx="6807200" cy="3959860"/>
          </a:xfrm>
        </p:grpSpPr>
        <p:sp>
          <p:nvSpPr>
            <p:cNvPr name="Freeform 17" id="17"/>
            <p:cNvSpPr/>
            <p:nvPr/>
          </p:nvSpPr>
          <p:spPr>
            <a:xfrm flipH="false" flipV="false" rot="0">
              <a:off x="0" y="0"/>
              <a:ext cx="6807200" cy="3959860"/>
            </a:xfrm>
            <a:custGeom>
              <a:avLst/>
              <a:gdLst/>
              <a:ahLst/>
              <a:cxnLst/>
              <a:rect r="r" b="b" t="t" l="l"/>
              <a:pathLst>
                <a:path h="3959860" w="6807200">
                  <a:moveTo>
                    <a:pt x="0" y="248412"/>
                  </a:moveTo>
                  <a:cubicBezTo>
                    <a:pt x="0" y="111252"/>
                    <a:pt x="111252" y="0"/>
                    <a:pt x="248412" y="0"/>
                  </a:cubicBezTo>
                  <a:lnTo>
                    <a:pt x="6558788" y="0"/>
                  </a:lnTo>
                  <a:cubicBezTo>
                    <a:pt x="6695948" y="0"/>
                    <a:pt x="6807200" y="111252"/>
                    <a:pt x="6807200" y="248412"/>
                  </a:cubicBezTo>
                  <a:lnTo>
                    <a:pt x="6807200" y="3711448"/>
                  </a:lnTo>
                  <a:cubicBezTo>
                    <a:pt x="6807200" y="3848608"/>
                    <a:pt x="6695948" y="3959860"/>
                    <a:pt x="6558788" y="3959860"/>
                  </a:cubicBezTo>
                  <a:lnTo>
                    <a:pt x="248412" y="3959860"/>
                  </a:lnTo>
                  <a:cubicBezTo>
                    <a:pt x="111252" y="3959860"/>
                    <a:pt x="0" y="3848608"/>
                    <a:pt x="0" y="3711448"/>
                  </a:cubicBezTo>
                  <a:close/>
                </a:path>
              </a:pathLst>
            </a:custGeom>
            <a:solidFill>
              <a:srgbClr val="FFFFFF"/>
            </a:solidFill>
            <a:ln w="9525" cap="sq">
              <a:solidFill>
                <a:srgbClr val="DCE3DA"/>
              </a:solidFill>
              <a:prstDash val="solid"/>
              <a:miter/>
            </a:ln>
          </p:spPr>
        </p:sp>
      </p:grpSp>
      <p:grpSp>
        <p:nvGrpSpPr>
          <p:cNvPr name="Group 18" id="18"/>
          <p:cNvGrpSpPr/>
          <p:nvPr/>
        </p:nvGrpSpPr>
        <p:grpSpPr>
          <a:xfrm rot="0">
            <a:off x="12313920" y="4034790"/>
            <a:ext cx="533400" cy="533400"/>
            <a:chOff x="0" y="0"/>
            <a:chExt cx="711200" cy="711200"/>
          </a:xfrm>
        </p:grpSpPr>
        <p:sp>
          <p:nvSpPr>
            <p:cNvPr name="Freeform 19" id="19" descr="Lock"/>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5"/>
              <a:stretch>
                <a:fillRect l="0" t="0" r="0" b="0"/>
              </a:stretch>
            </a:blipFill>
          </p:spPr>
        </p:sp>
      </p:grpSp>
      <p:sp>
        <p:nvSpPr>
          <p:cNvPr name="TextBox 20" id="20"/>
          <p:cNvSpPr txBox="true"/>
          <p:nvPr/>
        </p:nvSpPr>
        <p:spPr>
          <a:xfrm rot="0">
            <a:off x="12313920" y="4701540"/>
            <a:ext cx="4536491" cy="426720"/>
          </a:xfrm>
          <a:prstGeom prst="rect">
            <a:avLst/>
          </a:prstGeom>
        </p:spPr>
        <p:txBody>
          <a:bodyPr anchor="t" rtlCol="false" tIns="0" lIns="0" bIns="0" rIns="0">
            <a:spAutoFit/>
          </a:bodyPr>
          <a:lstStyle/>
          <a:p>
            <a:pPr algn="l">
              <a:lnSpc>
                <a:spcPts val="3060"/>
              </a:lnSpc>
            </a:pPr>
            <a:r>
              <a:rPr lang="en-US" sz="2550" b="true">
                <a:solidFill>
                  <a:srgbClr val="13261F"/>
                </a:solidFill>
                <a:latin typeface="Nunito Sans Bold"/>
                <a:ea typeface="Nunito Sans Bold"/>
                <a:cs typeface="Nunito Sans Bold"/>
                <a:sym typeface="Nunito Sans Bold"/>
              </a:rPr>
              <a:t>DevSecOps</a:t>
            </a:r>
          </a:p>
        </p:txBody>
      </p:sp>
      <p:sp>
        <p:nvSpPr>
          <p:cNvPr name="TextBox 21" id="21"/>
          <p:cNvSpPr txBox="true"/>
          <p:nvPr/>
        </p:nvSpPr>
        <p:spPr>
          <a:xfrm rot="0">
            <a:off x="12313920" y="5194935"/>
            <a:ext cx="4536491" cy="1146810"/>
          </a:xfrm>
          <a:prstGeom prst="rect">
            <a:avLst/>
          </a:prstGeom>
        </p:spPr>
        <p:txBody>
          <a:bodyPr anchor="t" rtlCol="false" tIns="0" lIns="0" bIns="0" rIns="0">
            <a:spAutoFit/>
          </a:bodyPr>
          <a:lstStyle/>
          <a:p>
            <a:pPr algn="l">
              <a:lnSpc>
                <a:spcPts val="2835"/>
              </a:lnSpc>
            </a:pPr>
            <a:r>
              <a:rPr lang="en-US" sz="2100">
                <a:solidFill>
                  <a:srgbClr val="4A5A52"/>
                </a:solidFill>
                <a:latin typeface="Nunito Sans"/>
                <a:ea typeface="Nunito Sans"/>
                <a:cs typeface="Nunito Sans"/>
                <a:sym typeface="Nunito Sans"/>
              </a:rPr>
              <a:t>Pruebas y análisis de seguridad automáticos antes de llegar a test o main.</a:t>
            </a:r>
          </a:p>
        </p:txBody>
      </p:sp>
      <p:grpSp>
        <p:nvGrpSpPr>
          <p:cNvPr name="Group 22" id="22"/>
          <p:cNvGrpSpPr/>
          <p:nvPr/>
        </p:nvGrpSpPr>
        <p:grpSpPr>
          <a:xfrm rot="0">
            <a:off x="1219200" y="7111365"/>
            <a:ext cx="15849600" cy="1280160"/>
            <a:chOff x="0" y="0"/>
            <a:chExt cx="21132800" cy="1706880"/>
          </a:xfrm>
        </p:grpSpPr>
        <p:sp>
          <p:nvSpPr>
            <p:cNvPr name="Freeform 23" id="23"/>
            <p:cNvSpPr/>
            <p:nvPr/>
          </p:nvSpPr>
          <p:spPr>
            <a:xfrm flipH="false" flipV="false" rot="0">
              <a:off x="0" y="0"/>
              <a:ext cx="21132800" cy="1706880"/>
            </a:xfrm>
            <a:custGeom>
              <a:avLst/>
              <a:gdLst/>
              <a:ahLst/>
              <a:cxnLst/>
              <a:rect r="r" b="b" t="t" l="l"/>
              <a:pathLst>
                <a:path h="1706880" w="21132800">
                  <a:moveTo>
                    <a:pt x="0" y="203200"/>
                  </a:moveTo>
                  <a:cubicBezTo>
                    <a:pt x="0" y="90932"/>
                    <a:pt x="90932" y="0"/>
                    <a:pt x="203200" y="0"/>
                  </a:cubicBezTo>
                  <a:lnTo>
                    <a:pt x="20929600" y="0"/>
                  </a:lnTo>
                  <a:cubicBezTo>
                    <a:pt x="21041868" y="0"/>
                    <a:pt x="21132800" y="90932"/>
                    <a:pt x="21132800" y="203200"/>
                  </a:cubicBezTo>
                  <a:lnTo>
                    <a:pt x="21132800" y="1503680"/>
                  </a:lnTo>
                  <a:cubicBezTo>
                    <a:pt x="21132800" y="1615948"/>
                    <a:pt x="21041868" y="1706880"/>
                    <a:pt x="20929600" y="1706880"/>
                  </a:cubicBezTo>
                  <a:lnTo>
                    <a:pt x="203200" y="1706880"/>
                  </a:lnTo>
                  <a:cubicBezTo>
                    <a:pt x="90932" y="1706880"/>
                    <a:pt x="0" y="1615948"/>
                    <a:pt x="0" y="1503680"/>
                  </a:cubicBezTo>
                  <a:close/>
                </a:path>
              </a:pathLst>
            </a:custGeom>
            <a:solidFill>
              <a:srgbClr val="0F2A22"/>
            </a:solidFill>
          </p:spPr>
        </p:sp>
        <p:sp>
          <p:nvSpPr>
            <p:cNvPr name="TextBox 24" id="24"/>
            <p:cNvSpPr txBox="true"/>
            <p:nvPr/>
          </p:nvSpPr>
          <p:spPr>
            <a:xfrm>
              <a:off x="0" y="-38100"/>
              <a:ext cx="21132800" cy="1744980"/>
            </a:xfrm>
            <a:prstGeom prst="rect">
              <a:avLst/>
            </a:prstGeom>
          </p:spPr>
          <p:txBody>
            <a:bodyPr anchor="ctr" rtlCol="false" tIns="50800" lIns="50800" bIns="50800" rIns="50800"/>
            <a:lstStyle/>
            <a:p>
              <a:pPr algn="l">
                <a:lnSpc>
                  <a:spcPts val="2940"/>
                </a:lnSpc>
              </a:pPr>
              <a:r>
                <a:rPr lang="en-US" sz="2100" b="true">
                  <a:solidFill>
                    <a:srgbClr val="4ADE80"/>
                  </a:solidFill>
                  <a:latin typeface="Nunito Sans Bold"/>
                  <a:ea typeface="Nunito Sans Bold"/>
                  <a:cs typeface="Nunito Sans Bold"/>
                  <a:sym typeface="Nunito Sans Bold"/>
                </a:rPr>
                <a:t>¿Por qué no predictivo?</a:t>
              </a:r>
              <a:r>
                <a:rPr lang="en-US" sz="2100">
                  <a:solidFill>
                    <a:srgbClr val="F5F6F0"/>
                  </a:solidFill>
                  <a:latin typeface="Nunito Sans"/>
                  <a:ea typeface="Nunito Sans"/>
                  <a:cs typeface="Nunito Sans"/>
                  <a:sym typeface="Nunito Sans"/>
                </a:rPr>
                <a:t> Las plantillas de WhatsApp, las reglas de sincronización y el formato se definen con el uso del prototipo. La fecha es fija (15/01/2027): se ajusta la prioridad, no la fecha.</a:t>
              </a: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CRONOGRAMA</a:t>
            </a:r>
          </a:p>
        </p:txBody>
      </p:sp>
      <p:sp>
        <p:nvSpPr>
          <p:cNvPr name="TextBox 3" id="3"/>
          <p:cNvSpPr txBox="true"/>
          <p:nvPr/>
        </p:nvSpPr>
        <p:spPr>
          <a:xfrm rot="0">
            <a:off x="1219200" y="1756410"/>
            <a:ext cx="16325088" cy="670560"/>
          </a:xfrm>
          <a:prstGeom prst="rect">
            <a:avLst/>
          </a:prstGeom>
        </p:spPr>
        <p:txBody>
          <a:bodyPr anchor="t" rtlCol="false" tIns="0" lIns="0" bIns="0" rIns="0">
            <a:spAutoFit/>
          </a:bodyPr>
          <a:lstStyle/>
          <a:p>
            <a:pPr algn="l">
              <a:lnSpc>
                <a:spcPts val="5280"/>
              </a:lnSpc>
            </a:pPr>
            <a:r>
              <a:rPr lang="en-US" sz="4800" b="true">
                <a:solidFill>
                  <a:srgbClr val="13261F"/>
                </a:solidFill>
                <a:latin typeface="Rubik Bold"/>
                <a:ea typeface="Rubik Bold"/>
                <a:cs typeface="Rubik Bold"/>
                <a:sym typeface="Rubik Bold"/>
              </a:rPr>
              <a:t>10 sprints, del 30 de septiembre al 15 de enero</a:t>
            </a:r>
          </a:p>
        </p:txBody>
      </p:sp>
      <p:graphicFrame>
        <p:nvGraphicFramePr>
          <p:cNvPr name="Table 4" id="4"/>
          <p:cNvGraphicFramePr>
            <a:graphicFrameLocks noGrp="true"/>
          </p:cNvGraphicFramePr>
          <p:nvPr/>
        </p:nvGraphicFramePr>
        <p:xfrm>
          <a:off x="1234440" y="2785113"/>
          <a:ext cx="15792450" cy="5657850"/>
        </p:xfrm>
        <a:graphic>
          <a:graphicData uri="http://schemas.openxmlformats.org/drawingml/2006/table">
            <a:tbl>
              <a:tblPr/>
              <a:tblGrid>
                <a:gridCol w="1448862"/>
                <a:gridCol w="2546409"/>
                <a:gridCol w="11797179"/>
              </a:tblGrid>
              <a:tr h="514350">
                <a:tc>
                  <a:txBody>
                    <a:bodyPr anchor="t" rtlCol="false"/>
                    <a:lstStyle/>
                    <a:p>
                      <a:pPr algn="l">
                        <a:lnSpc>
                          <a:spcPts val="2625"/>
                        </a:lnSpc>
                        <a:defRPr/>
                      </a:pPr>
                      <a:r>
                        <a:rPr lang="en-US" sz="1875" b="true">
                          <a:solidFill>
                            <a:srgbClr val="F5F6F0"/>
                          </a:solidFill>
                          <a:latin typeface="Nunito Sans Bold"/>
                          <a:ea typeface="Nunito Sans Bold"/>
                          <a:cs typeface="Nunito Sans Bold"/>
                          <a:sym typeface="Nunito Sans Bold"/>
                        </a:rPr>
                        <a:t>Sprint</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10251F"/>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10251F"/>
                      </a:solidFill>
                      <a:prstDash val="solid"/>
                      <a:round/>
                      <a:headEnd type="none" w="med" len="med"/>
                      <a:tailEnd type="none" w="med" len="med"/>
                    </a:lnB>
                    <a:solidFill>
                      <a:srgbClr val="0F2A22"/>
                    </a:solidFill>
                  </a:tcPr>
                </a:tc>
                <a:tc>
                  <a:txBody>
                    <a:bodyPr anchor="t" rtlCol="false"/>
                    <a:lstStyle/>
                    <a:p>
                      <a:pPr algn="l">
                        <a:lnSpc>
                          <a:spcPts val="2625"/>
                        </a:lnSpc>
                        <a:defRPr/>
                      </a:pPr>
                      <a:r>
                        <a:rPr lang="en-US" sz="1875" b="true">
                          <a:solidFill>
                            <a:srgbClr val="F5F6F0"/>
                          </a:solidFill>
                          <a:latin typeface="Nunito Sans Bold"/>
                          <a:ea typeface="Nunito Sans Bold"/>
                          <a:cs typeface="Nunito Sans Bold"/>
                          <a:sym typeface="Nunito Sans Bold"/>
                        </a:rPr>
                        <a:t>Fechas</a:t>
                      </a:r>
                      <a:endParaRPr lang="en-US" sz="1100"/>
                    </a:p>
                  </a:txBody>
                  <a:tcPr marL="55563" marR="55563" marT="55563" marB="55563" anchor="t">
                    <a:lnL cmpd="sng" algn="ctr" cap="flat" w="12700">
                      <a:solidFill>
                        <a:srgbClr val="10251F"/>
                      </a:solidFill>
                      <a:prstDash val="solid"/>
                      <a:round/>
                      <a:headEnd type="none" w="med" len="med"/>
                      <a:tailEnd type="none" w="med" len="med"/>
                    </a:lnL>
                    <a:lnR cmpd="sng" algn="ctr" cap="flat" w="12700">
                      <a:solidFill>
                        <a:srgbClr val="10251F"/>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10251F"/>
                      </a:solidFill>
                      <a:prstDash val="solid"/>
                      <a:round/>
                      <a:headEnd type="none" w="med" len="med"/>
                      <a:tailEnd type="none" w="med" len="med"/>
                    </a:lnB>
                    <a:solidFill>
                      <a:srgbClr val="0F2A22"/>
                    </a:solidFill>
                  </a:tcPr>
                </a:tc>
                <a:tc>
                  <a:txBody>
                    <a:bodyPr anchor="t" rtlCol="false"/>
                    <a:lstStyle/>
                    <a:p>
                      <a:pPr algn="l">
                        <a:lnSpc>
                          <a:spcPts val="2625"/>
                        </a:lnSpc>
                        <a:defRPr/>
                      </a:pPr>
                      <a:r>
                        <a:rPr lang="en-US" sz="1875" b="true">
                          <a:solidFill>
                            <a:srgbClr val="F5F6F0"/>
                          </a:solidFill>
                          <a:latin typeface="Nunito Sans Bold"/>
                          <a:ea typeface="Nunito Sans Bold"/>
                          <a:cs typeface="Nunito Sans Bold"/>
                          <a:sym typeface="Nunito Sans Bold"/>
                        </a:rPr>
                        <a:t>Hito verificable</a:t>
                      </a:r>
                      <a:endParaRPr lang="en-US" sz="1100"/>
                    </a:p>
                  </a:txBody>
                  <a:tcPr marL="55563" marR="55563" marT="55563" marB="55563" anchor="t">
                    <a:lnL cmpd="sng" algn="ctr" cap="flat" w="12700">
                      <a:solidFill>
                        <a:srgbClr val="10251F"/>
                      </a:solidFill>
                      <a:prstDash val="solid"/>
                      <a:round/>
                      <a:headEnd type="none" w="med" len="med"/>
                      <a:tailEnd type="none" w="med" len="med"/>
                    </a:lnL>
                    <a:lnR cmpd="sng" algn="ctr" cap="flat" w="12700">
                      <a:solidFill>
                        <a:srgbClr val="10251F"/>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10251F"/>
                      </a:solidFill>
                      <a:prstDash val="solid"/>
                      <a:round/>
                      <a:headEnd type="none" w="med" len="med"/>
                      <a:tailEnd type="none" w="med" len="med"/>
                    </a:lnB>
                    <a:solidFill>
                      <a:srgbClr val="0F2A22"/>
                    </a:solidFill>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1</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10251F"/>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30/09 – 06/10</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10251F"/>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Tema y Entregable 1 (propuesta inicial)</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10251F"/>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2</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07/10 – 20/10</a:t>
                      </a:r>
                      <a:endParaRPr lang="en-US" sz="1100"/>
                    </a:p>
                  </a:txBody>
                  <a:tcPr marL="55563" marR="55563" marT="55563" marB="55563"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SRS, BPMN, casos de uso, riesgos y Entregable 2</a:t>
                      </a:r>
                      <a:endParaRPr lang="en-US" sz="1100"/>
                    </a:p>
                  </a:txBody>
                  <a:tcPr marL="55563" marR="55563" marT="55563" marB="55563"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3</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21/10 – 30/10</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Backlog, arquitectura de 3 microservicios y CI con avisos en Telegram</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4</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04/11 – 13/11</a:t>
                      </a:r>
                      <a:endParaRPr lang="en-US" sz="1100"/>
                    </a:p>
                  </a:txBody>
                  <a:tcPr marL="55563" marR="55563" marT="55563" marB="55563"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Inicio de sesión por rol, gestión académica y matrícula</a:t>
                      </a:r>
                      <a:endParaRPr lang="en-US" sz="1100"/>
                    </a:p>
                  </a:txBody>
                  <a:tcPr marL="55563" marR="55563" marT="55563" marB="55563"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5</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16/11 – 27/11</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Ambiente de pruebas con CD y notas idénticas a la hoja oficial</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6</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30/11 – 08/12</a:t>
                      </a:r>
                      <a:endParaRPr lang="en-US" sz="1100"/>
                    </a:p>
                  </a:txBody>
                  <a:tcPr marL="55563" marR="55563" marT="55563" marB="55563"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Reportes, tableros y vista del representante</a:t>
                      </a:r>
                      <a:endParaRPr lang="en-US" sz="1100"/>
                    </a:p>
                  </a:txBody>
                  <a:tcPr marL="55563" marR="55563" marT="55563" marB="55563"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7</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09/12 – 18/12</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Planificación con revisión, Word/PDF y calendario</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8</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21/12 – 29/12</a:t>
                      </a:r>
                      <a:endParaRPr lang="en-US" sz="1100"/>
                    </a:p>
                  </a:txBody>
                  <a:tcPr marL="55563" marR="55563" marT="55563" marB="55563" anchor="t">
                    <a:lnL cmpd="sng" algn="ctr" cap="flat" w="12700">
                      <a:solidFill>
                        <a:srgbClr val="AEC4B5"/>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Avisos push y por WhatsApp (novedad)</a:t>
                      </a:r>
                      <a:endParaRPr lang="en-US" sz="1100"/>
                    </a:p>
                  </a:txBody>
                  <a:tcPr marL="55563" marR="55563" marT="55563" marB="55563" anchor="t">
                    <a:lnL cmpd="sng" algn="ctr" cap="flat" w="12700">
                      <a:solidFill>
                        <a:srgbClr val="AEC4B5"/>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9</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30/12 – 08/01</a:t>
                      </a:r>
                      <a:endParaRPr lang="en-US" sz="1100"/>
                    </a:p>
                  </a:txBody>
                  <a:tcPr marL="55563" marR="55563" marT="55563" marB="55563"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Trabajo sin conexión y prueba de carga con 460 usuarios</a:t>
                      </a:r>
                      <a:endParaRPr lang="en-US" sz="1100"/>
                    </a:p>
                  </a:txBody>
                  <a:tcPr marL="55563" marR="55563" marT="55563" marB="55563"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10</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11/01 – 15/01</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Aceptación, seguridad final y versión v1.0.0</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ARQUITECTURA</a:t>
            </a:r>
          </a:p>
        </p:txBody>
      </p:sp>
      <p:sp>
        <p:nvSpPr>
          <p:cNvPr name="TextBox 3" id="3"/>
          <p:cNvSpPr txBox="true"/>
          <p:nvPr/>
        </p:nvSpPr>
        <p:spPr>
          <a:xfrm rot="0">
            <a:off x="1219200" y="1756410"/>
            <a:ext cx="16325088" cy="670560"/>
          </a:xfrm>
          <a:prstGeom prst="rect">
            <a:avLst/>
          </a:prstGeom>
        </p:spPr>
        <p:txBody>
          <a:bodyPr anchor="t" rtlCol="false" tIns="0" lIns="0" bIns="0" rIns="0">
            <a:spAutoFit/>
          </a:bodyPr>
          <a:lstStyle/>
          <a:p>
            <a:pPr algn="l">
              <a:lnSpc>
                <a:spcPts val="5280"/>
              </a:lnSpc>
            </a:pPr>
            <a:r>
              <a:rPr lang="en-US" sz="4800" b="true">
                <a:solidFill>
                  <a:srgbClr val="13261F"/>
                </a:solidFill>
                <a:latin typeface="Rubik Bold"/>
                <a:ea typeface="Rubik Bold"/>
                <a:cs typeface="Rubik Bold"/>
                <a:sym typeface="Rubik Bold"/>
              </a:rPr>
              <a:t>Tres microservicios, cada uno con su base de datos</a:t>
            </a:r>
          </a:p>
        </p:txBody>
      </p:sp>
      <p:grpSp>
        <p:nvGrpSpPr>
          <p:cNvPr name="Group 4" id="4"/>
          <p:cNvGrpSpPr/>
          <p:nvPr/>
        </p:nvGrpSpPr>
        <p:grpSpPr>
          <a:xfrm rot="0">
            <a:off x="2952750" y="2693670"/>
            <a:ext cx="12382500" cy="678180"/>
            <a:chOff x="0" y="0"/>
            <a:chExt cx="16510000" cy="904240"/>
          </a:xfrm>
        </p:grpSpPr>
        <p:sp>
          <p:nvSpPr>
            <p:cNvPr name="Freeform 5" id="5"/>
            <p:cNvSpPr/>
            <p:nvPr/>
          </p:nvSpPr>
          <p:spPr>
            <a:xfrm flipH="false" flipV="false" rot="0">
              <a:off x="0" y="0"/>
              <a:ext cx="16510000" cy="904240"/>
            </a:xfrm>
            <a:custGeom>
              <a:avLst/>
              <a:gdLst/>
              <a:ahLst/>
              <a:cxnLst/>
              <a:rect r="r" b="b" t="t" l="l"/>
              <a:pathLst>
                <a:path h="904240" w="16510000">
                  <a:moveTo>
                    <a:pt x="0" y="177800"/>
                  </a:moveTo>
                  <a:cubicBezTo>
                    <a:pt x="0" y="79629"/>
                    <a:pt x="79629" y="0"/>
                    <a:pt x="177800" y="0"/>
                  </a:cubicBezTo>
                  <a:lnTo>
                    <a:pt x="16332200" y="0"/>
                  </a:lnTo>
                  <a:cubicBezTo>
                    <a:pt x="16430371" y="0"/>
                    <a:pt x="16510000" y="79629"/>
                    <a:pt x="16510000" y="177800"/>
                  </a:cubicBezTo>
                  <a:lnTo>
                    <a:pt x="16510000" y="726440"/>
                  </a:lnTo>
                  <a:cubicBezTo>
                    <a:pt x="16510000" y="824611"/>
                    <a:pt x="16430371" y="904240"/>
                    <a:pt x="16332200" y="904240"/>
                  </a:cubicBezTo>
                  <a:lnTo>
                    <a:pt x="177800" y="904240"/>
                  </a:lnTo>
                  <a:cubicBezTo>
                    <a:pt x="79629" y="904240"/>
                    <a:pt x="0" y="824611"/>
                    <a:pt x="0" y="726440"/>
                  </a:cubicBezTo>
                  <a:close/>
                </a:path>
              </a:pathLst>
            </a:custGeom>
            <a:solidFill>
              <a:srgbClr val="0F2A22"/>
            </a:solidFill>
          </p:spPr>
        </p:sp>
        <p:sp>
          <p:nvSpPr>
            <p:cNvPr name="TextBox 6" id="6"/>
            <p:cNvSpPr txBox="true"/>
            <p:nvPr/>
          </p:nvSpPr>
          <p:spPr>
            <a:xfrm>
              <a:off x="0" y="-38100"/>
              <a:ext cx="16510000" cy="942340"/>
            </a:xfrm>
            <a:prstGeom prst="rect">
              <a:avLst/>
            </a:prstGeom>
          </p:spPr>
          <p:txBody>
            <a:bodyPr anchor="t" rtlCol="false" tIns="50800" lIns="50800" bIns="50800" rIns="50800"/>
            <a:lstStyle/>
            <a:p>
              <a:pPr algn="ctr">
                <a:lnSpc>
                  <a:spcPts val="2940"/>
                </a:lnSpc>
              </a:pPr>
              <a:r>
                <a:rPr lang="en-US" sz="2100" b="true">
                  <a:solidFill>
                    <a:srgbClr val="F5F6F0"/>
                  </a:solidFill>
                  <a:latin typeface="Nunito Sans Bold"/>
                  <a:ea typeface="Nunito Sans Bold"/>
                  <a:cs typeface="Nunito Sans Bold"/>
                  <a:sym typeface="Nunito Sans Bold"/>
                </a:rPr>
                <a:t>PWA (React + TypeScript) · funciona sin conexión</a:t>
              </a:r>
            </a:p>
          </p:txBody>
        </p:sp>
      </p:grpSp>
      <p:grpSp>
        <p:nvGrpSpPr>
          <p:cNvPr name="Group 7" id="7"/>
          <p:cNvGrpSpPr/>
          <p:nvPr/>
        </p:nvGrpSpPr>
        <p:grpSpPr>
          <a:xfrm rot="0">
            <a:off x="2952750" y="3562350"/>
            <a:ext cx="12382500" cy="640080"/>
            <a:chOff x="0" y="0"/>
            <a:chExt cx="16510000" cy="853440"/>
          </a:xfrm>
        </p:grpSpPr>
        <p:sp>
          <p:nvSpPr>
            <p:cNvPr name="Freeform 8" id="8"/>
            <p:cNvSpPr/>
            <p:nvPr/>
          </p:nvSpPr>
          <p:spPr>
            <a:xfrm flipH="false" flipV="false" rot="0">
              <a:off x="0" y="0"/>
              <a:ext cx="16510000" cy="853440"/>
            </a:xfrm>
            <a:custGeom>
              <a:avLst/>
              <a:gdLst/>
              <a:ahLst/>
              <a:cxnLst/>
              <a:rect r="r" b="b" t="t" l="l"/>
              <a:pathLst>
                <a:path h="853440" w="16510000">
                  <a:moveTo>
                    <a:pt x="0" y="177800"/>
                  </a:moveTo>
                  <a:cubicBezTo>
                    <a:pt x="0" y="79629"/>
                    <a:pt x="79629" y="0"/>
                    <a:pt x="177800" y="0"/>
                  </a:cubicBezTo>
                  <a:lnTo>
                    <a:pt x="16332200" y="0"/>
                  </a:lnTo>
                  <a:cubicBezTo>
                    <a:pt x="16430371" y="0"/>
                    <a:pt x="16510000" y="79629"/>
                    <a:pt x="16510000" y="177800"/>
                  </a:cubicBezTo>
                  <a:lnTo>
                    <a:pt x="16510000" y="675640"/>
                  </a:lnTo>
                  <a:cubicBezTo>
                    <a:pt x="16510000" y="773811"/>
                    <a:pt x="16430371" y="853440"/>
                    <a:pt x="16332200" y="853440"/>
                  </a:cubicBezTo>
                  <a:lnTo>
                    <a:pt x="177800" y="853440"/>
                  </a:lnTo>
                  <a:cubicBezTo>
                    <a:pt x="79629" y="853440"/>
                    <a:pt x="0" y="773811"/>
                    <a:pt x="0" y="675640"/>
                  </a:cubicBezTo>
                  <a:close/>
                </a:path>
              </a:pathLst>
            </a:custGeom>
            <a:solidFill>
              <a:srgbClr val="E9EEE6"/>
            </a:solidFill>
          </p:spPr>
        </p:sp>
        <p:sp>
          <p:nvSpPr>
            <p:cNvPr name="TextBox 9" id="9"/>
            <p:cNvSpPr txBox="true"/>
            <p:nvPr/>
          </p:nvSpPr>
          <p:spPr>
            <a:xfrm>
              <a:off x="0" y="-38100"/>
              <a:ext cx="16510000" cy="891540"/>
            </a:xfrm>
            <a:prstGeom prst="rect">
              <a:avLst/>
            </a:prstGeom>
          </p:spPr>
          <p:txBody>
            <a:bodyPr anchor="t" rtlCol="false" tIns="50800" lIns="50800" bIns="50800" rIns="50800"/>
            <a:lstStyle/>
            <a:p>
              <a:pPr algn="ctr">
                <a:lnSpc>
                  <a:spcPts val="2940"/>
                </a:lnSpc>
              </a:pPr>
              <a:r>
                <a:rPr lang="en-US" sz="2100" b="true">
                  <a:solidFill>
                    <a:srgbClr val="13261F"/>
                  </a:solidFill>
                  <a:latin typeface="Nunito Sans Bold"/>
                  <a:ea typeface="Nunito Sans Bold"/>
                  <a:cs typeface="Nunito Sans Bold"/>
                  <a:sym typeface="Nunito Sans Bold"/>
                </a:rPr>
                <a:t>API Gateway (Traefik): HTTPS, límite de peticiones y ruteo</a:t>
              </a:r>
            </a:p>
          </p:txBody>
        </p:sp>
      </p:grpSp>
      <p:grpSp>
        <p:nvGrpSpPr>
          <p:cNvPr name="Group 10" id="10"/>
          <p:cNvGrpSpPr/>
          <p:nvPr/>
        </p:nvGrpSpPr>
        <p:grpSpPr>
          <a:xfrm rot="0">
            <a:off x="1219200" y="4392930"/>
            <a:ext cx="5105400" cy="2741295"/>
            <a:chOff x="0" y="0"/>
            <a:chExt cx="6807200" cy="3655060"/>
          </a:xfrm>
        </p:grpSpPr>
        <p:sp>
          <p:nvSpPr>
            <p:cNvPr name="Freeform 11" id="11"/>
            <p:cNvSpPr/>
            <p:nvPr/>
          </p:nvSpPr>
          <p:spPr>
            <a:xfrm flipH="false" flipV="false" rot="0">
              <a:off x="0" y="0"/>
              <a:ext cx="6807200" cy="3655060"/>
            </a:xfrm>
            <a:custGeom>
              <a:avLst/>
              <a:gdLst/>
              <a:ahLst/>
              <a:cxnLst/>
              <a:rect r="r" b="b" t="t" l="l"/>
              <a:pathLst>
                <a:path h="3655060" w="6807200">
                  <a:moveTo>
                    <a:pt x="0" y="211836"/>
                  </a:moveTo>
                  <a:cubicBezTo>
                    <a:pt x="0" y="94869"/>
                    <a:pt x="94869" y="0"/>
                    <a:pt x="211836" y="0"/>
                  </a:cubicBezTo>
                  <a:lnTo>
                    <a:pt x="6595364" y="0"/>
                  </a:lnTo>
                  <a:cubicBezTo>
                    <a:pt x="6712331" y="0"/>
                    <a:pt x="6807200" y="94869"/>
                    <a:pt x="6807200" y="211836"/>
                  </a:cubicBezTo>
                  <a:lnTo>
                    <a:pt x="6807200" y="3443224"/>
                  </a:lnTo>
                  <a:cubicBezTo>
                    <a:pt x="6807200" y="3560191"/>
                    <a:pt x="6712331" y="3655060"/>
                    <a:pt x="6595364" y="3655060"/>
                  </a:cubicBezTo>
                  <a:lnTo>
                    <a:pt x="211836" y="3655060"/>
                  </a:lnTo>
                  <a:cubicBezTo>
                    <a:pt x="94869" y="3655060"/>
                    <a:pt x="0" y="3560191"/>
                    <a:pt x="0" y="3443224"/>
                  </a:cubicBezTo>
                  <a:close/>
                </a:path>
              </a:pathLst>
            </a:custGeom>
            <a:solidFill>
              <a:srgbClr val="FFFFFF"/>
            </a:solidFill>
            <a:ln w="28575" cap="sq">
              <a:solidFill>
                <a:srgbClr val="B45309"/>
              </a:solidFill>
              <a:prstDash val="solid"/>
              <a:miter/>
            </a:ln>
          </p:spPr>
        </p:sp>
      </p:grpSp>
      <p:sp>
        <p:nvSpPr>
          <p:cNvPr name="TextBox 12" id="12"/>
          <p:cNvSpPr txBox="true"/>
          <p:nvPr/>
        </p:nvSpPr>
        <p:spPr>
          <a:xfrm rot="0">
            <a:off x="1508760" y="4682500"/>
            <a:ext cx="4662068" cy="426720"/>
          </a:xfrm>
          <a:prstGeom prst="rect">
            <a:avLst/>
          </a:prstGeom>
        </p:spPr>
        <p:txBody>
          <a:bodyPr anchor="t" rtlCol="false" tIns="0" lIns="0" bIns="0" rIns="0">
            <a:spAutoFit/>
          </a:bodyPr>
          <a:lstStyle/>
          <a:p>
            <a:pPr algn="l">
              <a:lnSpc>
                <a:spcPts val="3060"/>
              </a:lnSpc>
            </a:pPr>
            <a:r>
              <a:rPr lang="en-US" sz="2550" b="true">
                <a:solidFill>
                  <a:srgbClr val="13261F"/>
                </a:solidFill>
                <a:latin typeface="Nunito Sans Bold"/>
                <a:ea typeface="Nunito Sans Bold"/>
                <a:cs typeface="Nunito Sans Bold"/>
                <a:sym typeface="Nunito Sans Bold"/>
              </a:rPr>
              <a:t>ms-identidad</a:t>
            </a:r>
          </a:p>
        </p:txBody>
      </p:sp>
      <p:sp>
        <p:nvSpPr>
          <p:cNvPr name="TextBox 13" id="13"/>
          <p:cNvSpPr txBox="true"/>
          <p:nvPr/>
        </p:nvSpPr>
        <p:spPr>
          <a:xfrm rot="0">
            <a:off x="1508760" y="5118735"/>
            <a:ext cx="4662068" cy="432435"/>
          </a:xfrm>
          <a:prstGeom prst="rect">
            <a:avLst/>
          </a:prstGeom>
        </p:spPr>
        <p:txBody>
          <a:bodyPr anchor="t" rtlCol="false" tIns="0" lIns="0" bIns="0" rIns="0">
            <a:spAutoFit/>
          </a:bodyPr>
          <a:lstStyle/>
          <a:p>
            <a:pPr algn="l">
              <a:lnSpc>
                <a:spcPts val="2729"/>
              </a:lnSpc>
            </a:pPr>
            <a:r>
              <a:rPr lang="en-US" sz="1950" b="true">
                <a:solidFill>
                  <a:srgbClr val="B45309"/>
                </a:solidFill>
                <a:latin typeface="Nunito Sans Bold"/>
                <a:ea typeface="Nunito Sans Bold"/>
                <a:cs typeface="Nunito Sans Bold"/>
                <a:sym typeface="Nunito Sans Bold"/>
              </a:rPr>
              <a:t>Java + Spring Boot</a:t>
            </a:r>
          </a:p>
        </p:txBody>
      </p:sp>
      <p:sp>
        <p:nvSpPr>
          <p:cNvPr name="TextBox 14" id="14"/>
          <p:cNvSpPr txBox="true"/>
          <p:nvPr/>
        </p:nvSpPr>
        <p:spPr>
          <a:xfrm rot="0">
            <a:off x="1508760" y="5570220"/>
            <a:ext cx="4662068" cy="744855"/>
          </a:xfrm>
          <a:prstGeom prst="rect">
            <a:avLst/>
          </a:prstGeom>
        </p:spPr>
        <p:txBody>
          <a:bodyPr anchor="t" rtlCol="false" tIns="0" lIns="0" bIns="0" rIns="0">
            <a:spAutoFit/>
          </a:bodyPr>
          <a:lstStyle/>
          <a:p>
            <a:pPr algn="l">
              <a:lnSpc>
                <a:spcPts val="2632"/>
              </a:lnSpc>
            </a:pPr>
            <a:r>
              <a:rPr lang="en-US" sz="1950">
                <a:solidFill>
                  <a:srgbClr val="4A5A52"/>
                </a:solidFill>
                <a:latin typeface="Nunito Sans"/>
                <a:ea typeface="Nunito Sans"/>
                <a:cs typeface="Nunito Sans"/>
                <a:sym typeface="Nunito Sans"/>
              </a:rPr>
              <a:t>Usuarios, roles, inicio de sesión y auditoría de accesos.</a:t>
            </a:r>
          </a:p>
        </p:txBody>
      </p:sp>
      <p:grpSp>
        <p:nvGrpSpPr>
          <p:cNvPr name="Group 15" id="15"/>
          <p:cNvGrpSpPr/>
          <p:nvPr/>
        </p:nvGrpSpPr>
        <p:grpSpPr>
          <a:xfrm rot="0">
            <a:off x="1508760" y="6372225"/>
            <a:ext cx="4526280" cy="472440"/>
            <a:chOff x="0" y="0"/>
            <a:chExt cx="6035040" cy="629920"/>
          </a:xfrm>
        </p:grpSpPr>
        <p:sp>
          <p:nvSpPr>
            <p:cNvPr name="Freeform 16" id="16"/>
            <p:cNvSpPr/>
            <p:nvPr/>
          </p:nvSpPr>
          <p:spPr>
            <a:xfrm flipH="false" flipV="false" rot="0">
              <a:off x="0" y="0"/>
              <a:ext cx="6035040" cy="629920"/>
            </a:xfrm>
            <a:custGeom>
              <a:avLst/>
              <a:gdLst/>
              <a:ahLst/>
              <a:cxnLst/>
              <a:rect r="r" b="b" t="t" l="l"/>
              <a:pathLst>
                <a:path h="629920" w="6035040">
                  <a:moveTo>
                    <a:pt x="0" y="127000"/>
                  </a:moveTo>
                  <a:cubicBezTo>
                    <a:pt x="0" y="56896"/>
                    <a:pt x="56896" y="0"/>
                    <a:pt x="127000" y="0"/>
                  </a:cubicBezTo>
                  <a:lnTo>
                    <a:pt x="5908040" y="0"/>
                  </a:lnTo>
                  <a:cubicBezTo>
                    <a:pt x="5978144" y="0"/>
                    <a:pt x="6035040" y="56896"/>
                    <a:pt x="6035040" y="127000"/>
                  </a:cubicBezTo>
                  <a:lnTo>
                    <a:pt x="6035040" y="502920"/>
                  </a:lnTo>
                  <a:cubicBezTo>
                    <a:pt x="6035040" y="573024"/>
                    <a:pt x="5978144" y="629920"/>
                    <a:pt x="5908040" y="629920"/>
                  </a:cubicBezTo>
                  <a:lnTo>
                    <a:pt x="127000" y="629920"/>
                  </a:lnTo>
                  <a:cubicBezTo>
                    <a:pt x="56896" y="629920"/>
                    <a:pt x="0" y="573024"/>
                    <a:pt x="0" y="502920"/>
                  </a:cubicBezTo>
                  <a:close/>
                </a:path>
              </a:pathLst>
            </a:custGeom>
            <a:solidFill>
              <a:srgbClr val="E9EEE6"/>
            </a:solidFill>
          </p:spPr>
        </p:sp>
        <p:sp>
          <p:nvSpPr>
            <p:cNvPr name="TextBox 17" id="17"/>
            <p:cNvSpPr txBox="true"/>
            <p:nvPr/>
          </p:nvSpPr>
          <p:spPr>
            <a:xfrm>
              <a:off x="0" y="-28575"/>
              <a:ext cx="6035040" cy="658495"/>
            </a:xfrm>
            <a:prstGeom prst="rect">
              <a:avLst/>
            </a:prstGeom>
          </p:spPr>
          <p:txBody>
            <a:bodyPr anchor="t" rtlCol="false" tIns="50800" lIns="50800" bIns="50800" rIns="50800"/>
            <a:lstStyle/>
            <a:p>
              <a:pPr algn="l">
                <a:lnSpc>
                  <a:spcPts val="2520"/>
                </a:lnSpc>
              </a:pPr>
              <a:r>
                <a:rPr lang="en-US" sz="1800" b="true">
                  <a:solidFill>
                    <a:srgbClr val="13261F"/>
                  </a:solidFill>
                  <a:latin typeface="Nunito Sans Bold"/>
                  <a:ea typeface="Nunito Sans Bold"/>
                  <a:cs typeface="Nunito Sans Bold"/>
                  <a:sym typeface="Nunito Sans Bold"/>
                </a:rPr>
                <a:t>PostgreSQL · db_identidad</a:t>
              </a:r>
            </a:p>
          </p:txBody>
        </p:sp>
      </p:grpSp>
      <p:grpSp>
        <p:nvGrpSpPr>
          <p:cNvPr name="Group 18" id="18"/>
          <p:cNvGrpSpPr/>
          <p:nvPr/>
        </p:nvGrpSpPr>
        <p:grpSpPr>
          <a:xfrm rot="0">
            <a:off x="6591300" y="4392930"/>
            <a:ext cx="5105400" cy="2741295"/>
            <a:chOff x="0" y="0"/>
            <a:chExt cx="6807200" cy="3655060"/>
          </a:xfrm>
        </p:grpSpPr>
        <p:sp>
          <p:nvSpPr>
            <p:cNvPr name="Freeform 19" id="19"/>
            <p:cNvSpPr/>
            <p:nvPr/>
          </p:nvSpPr>
          <p:spPr>
            <a:xfrm flipH="false" flipV="false" rot="0">
              <a:off x="0" y="0"/>
              <a:ext cx="6807200" cy="3655060"/>
            </a:xfrm>
            <a:custGeom>
              <a:avLst/>
              <a:gdLst/>
              <a:ahLst/>
              <a:cxnLst/>
              <a:rect r="r" b="b" t="t" l="l"/>
              <a:pathLst>
                <a:path h="3655060" w="6807200">
                  <a:moveTo>
                    <a:pt x="0" y="211836"/>
                  </a:moveTo>
                  <a:cubicBezTo>
                    <a:pt x="0" y="94869"/>
                    <a:pt x="94869" y="0"/>
                    <a:pt x="211836" y="0"/>
                  </a:cubicBezTo>
                  <a:lnTo>
                    <a:pt x="6595364" y="0"/>
                  </a:lnTo>
                  <a:cubicBezTo>
                    <a:pt x="6712331" y="0"/>
                    <a:pt x="6807200" y="94869"/>
                    <a:pt x="6807200" y="211836"/>
                  </a:cubicBezTo>
                  <a:lnTo>
                    <a:pt x="6807200" y="3443224"/>
                  </a:lnTo>
                  <a:cubicBezTo>
                    <a:pt x="6807200" y="3560191"/>
                    <a:pt x="6712331" y="3655060"/>
                    <a:pt x="6595364" y="3655060"/>
                  </a:cubicBezTo>
                  <a:lnTo>
                    <a:pt x="211836" y="3655060"/>
                  </a:lnTo>
                  <a:cubicBezTo>
                    <a:pt x="94869" y="3655060"/>
                    <a:pt x="0" y="3560191"/>
                    <a:pt x="0" y="3443224"/>
                  </a:cubicBezTo>
                  <a:close/>
                </a:path>
              </a:pathLst>
            </a:custGeom>
            <a:solidFill>
              <a:srgbClr val="FFFFFF"/>
            </a:solidFill>
            <a:ln w="28575" cap="sq">
              <a:solidFill>
                <a:srgbClr val="1D5FA8"/>
              </a:solidFill>
              <a:prstDash val="solid"/>
              <a:miter/>
            </a:ln>
          </p:spPr>
        </p:sp>
      </p:grpSp>
      <p:sp>
        <p:nvSpPr>
          <p:cNvPr name="TextBox 20" id="20"/>
          <p:cNvSpPr txBox="true"/>
          <p:nvPr/>
        </p:nvSpPr>
        <p:spPr>
          <a:xfrm rot="0">
            <a:off x="6880860" y="4682500"/>
            <a:ext cx="4662068" cy="426720"/>
          </a:xfrm>
          <a:prstGeom prst="rect">
            <a:avLst/>
          </a:prstGeom>
        </p:spPr>
        <p:txBody>
          <a:bodyPr anchor="t" rtlCol="false" tIns="0" lIns="0" bIns="0" rIns="0">
            <a:spAutoFit/>
          </a:bodyPr>
          <a:lstStyle/>
          <a:p>
            <a:pPr algn="l">
              <a:lnSpc>
                <a:spcPts val="3060"/>
              </a:lnSpc>
            </a:pPr>
            <a:r>
              <a:rPr lang="en-US" sz="2550" b="true">
                <a:solidFill>
                  <a:srgbClr val="13261F"/>
                </a:solidFill>
                <a:latin typeface="Nunito Sans Bold"/>
                <a:ea typeface="Nunito Sans Bold"/>
                <a:cs typeface="Nunito Sans Bold"/>
                <a:sym typeface="Nunito Sans Bold"/>
              </a:rPr>
              <a:t>ms-academico</a:t>
            </a:r>
          </a:p>
        </p:txBody>
      </p:sp>
      <p:sp>
        <p:nvSpPr>
          <p:cNvPr name="TextBox 21" id="21"/>
          <p:cNvSpPr txBox="true"/>
          <p:nvPr/>
        </p:nvSpPr>
        <p:spPr>
          <a:xfrm rot="0">
            <a:off x="6880860" y="5118735"/>
            <a:ext cx="4662068" cy="432435"/>
          </a:xfrm>
          <a:prstGeom prst="rect">
            <a:avLst/>
          </a:prstGeom>
        </p:spPr>
        <p:txBody>
          <a:bodyPr anchor="t" rtlCol="false" tIns="0" lIns="0" bIns="0" rIns="0">
            <a:spAutoFit/>
          </a:bodyPr>
          <a:lstStyle/>
          <a:p>
            <a:pPr algn="l">
              <a:lnSpc>
                <a:spcPts val="2729"/>
              </a:lnSpc>
            </a:pPr>
            <a:r>
              <a:rPr lang="en-US" sz="1950" b="true">
                <a:solidFill>
                  <a:srgbClr val="1D5FA8"/>
                </a:solidFill>
                <a:latin typeface="Nunito Sans Bold"/>
                <a:ea typeface="Nunito Sans Bold"/>
                <a:cs typeface="Nunito Sans Bold"/>
                <a:sym typeface="Nunito Sans Bold"/>
              </a:rPr>
              <a:t>TypeScript + NestJS</a:t>
            </a:r>
          </a:p>
        </p:txBody>
      </p:sp>
      <p:sp>
        <p:nvSpPr>
          <p:cNvPr name="TextBox 22" id="22"/>
          <p:cNvSpPr txBox="true"/>
          <p:nvPr/>
        </p:nvSpPr>
        <p:spPr>
          <a:xfrm rot="0">
            <a:off x="6880860" y="5570220"/>
            <a:ext cx="4662068" cy="744855"/>
          </a:xfrm>
          <a:prstGeom prst="rect">
            <a:avLst/>
          </a:prstGeom>
        </p:spPr>
        <p:txBody>
          <a:bodyPr anchor="t" rtlCol="false" tIns="0" lIns="0" bIns="0" rIns="0">
            <a:spAutoFit/>
          </a:bodyPr>
          <a:lstStyle/>
          <a:p>
            <a:pPr algn="l">
              <a:lnSpc>
                <a:spcPts val="2632"/>
              </a:lnSpc>
            </a:pPr>
            <a:r>
              <a:rPr lang="en-US" sz="1950">
                <a:solidFill>
                  <a:srgbClr val="4A5A52"/>
                </a:solidFill>
                <a:latin typeface="Nunito Sans"/>
                <a:ea typeface="Nunito Sans"/>
                <a:cs typeface="Nunito Sans"/>
                <a:sym typeface="Nunito Sans"/>
              </a:rPr>
              <a:t>Planificación, notas, asistencia, reportes y sincronización.</a:t>
            </a:r>
          </a:p>
        </p:txBody>
      </p:sp>
      <p:grpSp>
        <p:nvGrpSpPr>
          <p:cNvPr name="Group 23" id="23"/>
          <p:cNvGrpSpPr/>
          <p:nvPr/>
        </p:nvGrpSpPr>
        <p:grpSpPr>
          <a:xfrm rot="0">
            <a:off x="6880860" y="6372225"/>
            <a:ext cx="4526280" cy="472440"/>
            <a:chOff x="0" y="0"/>
            <a:chExt cx="6035040" cy="629920"/>
          </a:xfrm>
        </p:grpSpPr>
        <p:sp>
          <p:nvSpPr>
            <p:cNvPr name="Freeform 24" id="24"/>
            <p:cNvSpPr/>
            <p:nvPr/>
          </p:nvSpPr>
          <p:spPr>
            <a:xfrm flipH="false" flipV="false" rot="0">
              <a:off x="0" y="0"/>
              <a:ext cx="6035040" cy="629920"/>
            </a:xfrm>
            <a:custGeom>
              <a:avLst/>
              <a:gdLst/>
              <a:ahLst/>
              <a:cxnLst/>
              <a:rect r="r" b="b" t="t" l="l"/>
              <a:pathLst>
                <a:path h="629920" w="6035040">
                  <a:moveTo>
                    <a:pt x="0" y="127000"/>
                  </a:moveTo>
                  <a:cubicBezTo>
                    <a:pt x="0" y="56896"/>
                    <a:pt x="56896" y="0"/>
                    <a:pt x="127000" y="0"/>
                  </a:cubicBezTo>
                  <a:lnTo>
                    <a:pt x="5908040" y="0"/>
                  </a:lnTo>
                  <a:cubicBezTo>
                    <a:pt x="5978144" y="0"/>
                    <a:pt x="6035040" y="56896"/>
                    <a:pt x="6035040" y="127000"/>
                  </a:cubicBezTo>
                  <a:lnTo>
                    <a:pt x="6035040" y="502920"/>
                  </a:lnTo>
                  <a:cubicBezTo>
                    <a:pt x="6035040" y="573024"/>
                    <a:pt x="5978144" y="629920"/>
                    <a:pt x="5908040" y="629920"/>
                  </a:cubicBezTo>
                  <a:lnTo>
                    <a:pt x="127000" y="629920"/>
                  </a:lnTo>
                  <a:cubicBezTo>
                    <a:pt x="56896" y="629920"/>
                    <a:pt x="0" y="573024"/>
                    <a:pt x="0" y="502920"/>
                  </a:cubicBezTo>
                  <a:close/>
                </a:path>
              </a:pathLst>
            </a:custGeom>
            <a:solidFill>
              <a:srgbClr val="E9EEE6"/>
            </a:solidFill>
          </p:spPr>
        </p:sp>
        <p:sp>
          <p:nvSpPr>
            <p:cNvPr name="TextBox 25" id="25"/>
            <p:cNvSpPr txBox="true"/>
            <p:nvPr/>
          </p:nvSpPr>
          <p:spPr>
            <a:xfrm>
              <a:off x="0" y="-28575"/>
              <a:ext cx="6035040" cy="658495"/>
            </a:xfrm>
            <a:prstGeom prst="rect">
              <a:avLst/>
            </a:prstGeom>
          </p:spPr>
          <p:txBody>
            <a:bodyPr anchor="t" rtlCol="false" tIns="50800" lIns="50800" bIns="50800" rIns="50800"/>
            <a:lstStyle/>
            <a:p>
              <a:pPr algn="l">
                <a:lnSpc>
                  <a:spcPts val="2520"/>
                </a:lnSpc>
              </a:pPr>
              <a:r>
                <a:rPr lang="en-US" sz="1800" b="true">
                  <a:solidFill>
                    <a:srgbClr val="13261F"/>
                  </a:solidFill>
                  <a:latin typeface="Nunito Sans Bold"/>
                  <a:ea typeface="Nunito Sans Bold"/>
                  <a:cs typeface="Nunito Sans Bold"/>
                  <a:sym typeface="Nunito Sans Bold"/>
                </a:rPr>
                <a:t>PostgreSQL · db_academico</a:t>
              </a:r>
            </a:p>
          </p:txBody>
        </p:sp>
      </p:grpSp>
      <p:grpSp>
        <p:nvGrpSpPr>
          <p:cNvPr name="Group 26" id="26"/>
          <p:cNvGrpSpPr/>
          <p:nvPr/>
        </p:nvGrpSpPr>
        <p:grpSpPr>
          <a:xfrm rot="0">
            <a:off x="11963400" y="4392930"/>
            <a:ext cx="5105400" cy="2741295"/>
            <a:chOff x="0" y="0"/>
            <a:chExt cx="6807200" cy="3655060"/>
          </a:xfrm>
        </p:grpSpPr>
        <p:sp>
          <p:nvSpPr>
            <p:cNvPr name="Freeform 27" id="27"/>
            <p:cNvSpPr/>
            <p:nvPr/>
          </p:nvSpPr>
          <p:spPr>
            <a:xfrm flipH="false" flipV="false" rot="0">
              <a:off x="0" y="0"/>
              <a:ext cx="6807200" cy="3655060"/>
            </a:xfrm>
            <a:custGeom>
              <a:avLst/>
              <a:gdLst/>
              <a:ahLst/>
              <a:cxnLst/>
              <a:rect r="r" b="b" t="t" l="l"/>
              <a:pathLst>
                <a:path h="3655060" w="6807200">
                  <a:moveTo>
                    <a:pt x="0" y="211836"/>
                  </a:moveTo>
                  <a:cubicBezTo>
                    <a:pt x="0" y="94869"/>
                    <a:pt x="94869" y="0"/>
                    <a:pt x="211836" y="0"/>
                  </a:cubicBezTo>
                  <a:lnTo>
                    <a:pt x="6595364" y="0"/>
                  </a:lnTo>
                  <a:cubicBezTo>
                    <a:pt x="6712331" y="0"/>
                    <a:pt x="6807200" y="94869"/>
                    <a:pt x="6807200" y="211836"/>
                  </a:cubicBezTo>
                  <a:lnTo>
                    <a:pt x="6807200" y="3443224"/>
                  </a:lnTo>
                  <a:cubicBezTo>
                    <a:pt x="6807200" y="3560191"/>
                    <a:pt x="6712331" y="3655060"/>
                    <a:pt x="6595364" y="3655060"/>
                  </a:cubicBezTo>
                  <a:lnTo>
                    <a:pt x="211836" y="3655060"/>
                  </a:lnTo>
                  <a:cubicBezTo>
                    <a:pt x="94869" y="3655060"/>
                    <a:pt x="0" y="3560191"/>
                    <a:pt x="0" y="3443224"/>
                  </a:cubicBezTo>
                  <a:close/>
                </a:path>
              </a:pathLst>
            </a:custGeom>
            <a:solidFill>
              <a:srgbClr val="FFFFFF"/>
            </a:solidFill>
            <a:ln w="28575" cap="sq">
              <a:solidFill>
                <a:srgbClr val="137A41"/>
              </a:solidFill>
              <a:prstDash val="solid"/>
              <a:miter/>
            </a:ln>
          </p:spPr>
        </p:sp>
      </p:grpSp>
      <p:sp>
        <p:nvSpPr>
          <p:cNvPr name="TextBox 28" id="28"/>
          <p:cNvSpPr txBox="true"/>
          <p:nvPr/>
        </p:nvSpPr>
        <p:spPr>
          <a:xfrm rot="0">
            <a:off x="12252960" y="4682500"/>
            <a:ext cx="4662068" cy="426720"/>
          </a:xfrm>
          <a:prstGeom prst="rect">
            <a:avLst/>
          </a:prstGeom>
        </p:spPr>
        <p:txBody>
          <a:bodyPr anchor="t" rtlCol="false" tIns="0" lIns="0" bIns="0" rIns="0">
            <a:spAutoFit/>
          </a:bodyPr>
          <a:lstStyle/>
          <a:p>
            <a:pPr algn="l">
              <a:lnSpc>
                <a:spcPts val="3060"/>
              </a:lnSpc>
            </a:pPr>
            <a:r>
              <a:rPr lang="en-US" sz="2550" b="true">
                <a:solidFill>
                  <a:srgbClr val="13261F"/>
                </a:solidFill>
                <a:latin typeface="Nunito Sans Bold"/>
                <a:ea typeface="Nunito Sans Bold"/>
                <a:cs typeface="Nunito Sans Bold"/>
                <a:sym typeface="Nunito Sans Bold"/>
              </a:rPr>
              <a:t>ms-notificaciones</a:t>
            </a:r>
          </a:p>
        </p:txBody>
      </p:sp>
      <p:sp>
        <p:nvSpPr>
          <p:cNvPr name="TextBox 29" id="29"/>
          <p:cNvSpPr txBox="true"/>
          <p:nvPr/>
        </p:nvSpPr>
        <p:spPr>
          <a:xfrm rot="0">
            <a:off x="12252960" y="5118735"/>
            <a:ext cx="4662068" cy="432435"/>
          </a:xfrm>
          <a:prstGeom prst="rect">
            <a:avLst/>
          </a:prstGeom>
        </p:spPr>
        <p:txBody>
          <a:bodyPr anchor="t" rtlCol="false" tIns="0" lIns="0" bIns="0" rIns="0">
            <a:spAutoFit/>
          </a:bodyPr>
          <a:lstStyle/>
          <a:p>
            <a:pPr algn="l">
              <a:lnSpc>
                <a:spcPts val="2729"/>
              </a:lnSpc>
            </a:pPr>
            <a:r>
              <a:rPr lang="en-US" sz="1950" b="true">
                <a:solidFill>
                  <a:srgbClr val="137A41"/>
                </a:solidFill>
                <a:latin typeface="Nunito Sans Bold"/>
                <a:ea typeface="Nunito Sans Bold"/>
                <a:cs typeface="Nunito Sans Bold"/>
                <a:sym typeface="Nunito Sans Bold"/>
              </a:rPr>
              <a:t>Python + FastAPI</a:t>
            </a:r>
          </a:p>
        </p:txBody>
      </p:sp>
      <p:sp>
        <p:nvSpPr>
          <p:cNvPr name="TextBox 30" id="30"/>
          <p:cNvSpPr txBox="true"/>
          <p:nvPr/>
        </p:nvSpPr>
        <p:spPr>
          <a:xfrm rot="0">
            <a:off x="12252960" y="5570220"/>
            <a:ext cx="4662068" cy="744855"/>
          </a:xfrm>
          <a:prstGeom prst="rect">
            <a:avLst/>
          </a:prstGeom>
        </p:spPr>
        <p:txBody>
          <a:bodyPr anchor="t" rtlCol="false" tIns="0" lIns="0" bIns="0" rIns="0">
            <a:spAutoFit/>
          </a:bodyPr>
          <a:lstStyle/>
          <a:p>
            <a:pPr algn="l">
              <a:lnSpc>
                <a:spcPts val="2632"/>
              </a:lnSpc>
            </a:pPr>
            <a:r>
              <a:rPr lang="en-US" sz="1950">
                <a:solidFill>
                  <a:srgbClr val="4A5A52"/>
                </a:solidFill>
                <a:latin typeface="Nunito Sans"/>
                <a:ea typeface="Nunito Sans"/>
                <a:cs typeface="Nunito Sans"/>
                <a:sym typeface="Nunito Sans"/>
              </a:rPr>
              <a:t>Consentimiento, plantillas, cola de envío e historial de push y WhatsApp.</a:t>
            </a:r>
          </a:p>
        </p:txBody>
      </p:sp>
      <p:grpSp>
        <p:nvGrpSpPr>
          <p:cNvPr name="Group 31" id="31"/>
          <p:cNvGrpSpPr/>
          <p:nvPr/>
        </p:nvGrpSpPr>
        <p:grpSpPr>
          <a:xfrm rot="0">
            <a:off x="12252960" y="6372225"/>
            <a:ext cx="4526280" cy="472440"/>
            <a:chOff x="0" y="0"/>
            <a:chExt cx="6035040" cy="629920"/>
          </a:xfrm>
        </p:grpSpPr>
        <p:sp>
          <p:nvSpPr>
            <p:cNvPr name="Freeform 32" id="32"/>
            <p:cNvSpPr/>
            <p:nvPr/>
          </p:nvSpPr>
          <p:spPr>
            <a:xfrm flipH="false" flipV="false" rot="0">
              <a:off x="0" y="0"/>
              <a:ext cx="6035040" cy="629920"/>
            </a:xfrm>
            <a:custGeom>
              <a:avLst/>
              <a:gdLst/>
              <a:ahLst/>
              <a:cxnLst/>
              <a:rect r="r" b="b" t="t" l="l"/>
              <a:pathLst>
                <a:path h="629920" w="6035040">
                  <a:moveTo>
                    <a:pt x="0" y="127000"/>
                  </a:moveTo>
                  <a:cubicBezTo>
                    <a:pt x="0" y="56896"/>
                    <a:pt x="56896" y="0"/>
                    <a:pt x="127000" y="0"/>
                  </a:cubicBezTo>
                  <a:lnTo>
                    <a:pt x="5908040" y="0"/>
                  </a:lnTo>
                  <a:cubicBezTo>
                    <a:pt x="5978144" y="0"/>
                    <a:pt x="6035040" y="56896"/>
                    <a:pt x="6035040" y="127000"/>
                  </a:cubicBezTo>
                  <a:lnTo>
                    <a:pt x="6035040" y="502920"/>
                  </a:lnTo>
                  <a:cubicBezTo>
                    <a:pt x="6035040" y="573024"/>
                    <a:pt x="5978144" y="629920"/>
                    <a:pt x="5908040" y="629920"/>
                  </a:cubicBezTo>
                  <a:lnTo>
                    <a:pt x="127000" y="629920"/>
                  </a:lnTo>
                  <a:cubicBezTo>
                    <a:pt x="56896" y="629920"/>
                    <a:pt x="0" y="573024"/>
                    <a:pt x="0" y="502920"/>
                  </a:cubicBezTo>
                  <a:close/>
                </a:path>
              </a:pathLst>
            </a:custGeom>
            <a:solidFill>
              <a:srgbClr val="E9EEE6"/>
            </a:solidFill>
          </p:spPr>
        </p:sp>
        <p:sp>
          <p:nvSpPr>
            <p:cNvPr name="TextBox 33" id="33"/>
            <p:cNvSpPr txBox="true"/>
            <p:nvPr/>
          </p:nvSpPr>
          <p:spPr>
            <a:xfrm>
              <a:off x="0" y="-28575"/>
              <a:ext cx="6035040" cy="658495"/>
            </a:xfrm>
            <a:prstGeom prst="rect">
              <a:avLst/>
            </a:prstGeom>
          </p:spPr>
          <p:txBody>
            <a:bodyPr anchor="t" rtlCol="false" tIns="50800" lIns="50800" bIns="50800" rIns="50800"/>
            <a:lstStyle/>
            <a:p>
              <a:pPr algn="l">
                <a:lnSpc>
                  <a:spcPts val="2520"/>
                </a:lnSpc>
              </a:pPr>
              <a:r>
                <a:rPr lang="en-US" sz="1800" b="true">
                  <a:solidFill>
                    <a:srgbClr val="13261F"/>
                  </a:solidFill>
                  <a:latin typeface="Nunito Sans Bold"/>
                  <a:ea typeface="Nunito Sans Bold"/>
                  <a:cs typeface="Nunito Sans Bold"/>
                  <a:sym typeface="Nunito Sans Bold"/>
                </a:rPr>
                <a:t>PostgreSQL · db_notificaciones</a:t>
              </a:r>
            </a:p>
          </p:txBody>
        </p:sp>
      </p:grpSp>
      <p:sp>
        <p:nvSpPr>
          <p:cNvPr name="TextBox 34" id="34"/>
          <p:cNvSpPr txBox="true"/>
          <p:nvPr/>
        </p:nvSpPr>
        <p:spPr>
          <a:xfrm rot="0">
            <a:off x="1219200" y="9328785"/>
            <a:ext cx="16325088" cy="386715"/>
          </a:xfrm>
          <a:prstGeom prst="rect">
            <a:avLst/>
          </a:prstGeom>
        </p:spPr>
        <p:txBody>
          <a:bodyPr anchor="t" rtlCol="false" tIns="0" lIns="0" bIns="0" rIns="0">
            <a:spAutoFit/>
          </a:bodyPr>
          <a:lstStyle/>
          <a:p>
            <a:pPr algn="l">
              <a:lnSpc>
                <a:spcPts val="2520"/>
              </a:lnSpc>
            </a:pPr>
            <a:r>
              <a:rPr lang="en-US" sz="1800">
                <a:solidFill>
                  <a:srgbClr val="4A5A52"/>
                </a:solidFill>
                <a:latin typeface="Nunito Sans"/>
                <a:ea typeface="Nunito Sans"/>
                <a:cs typeface="Nunito Sans"/>
                <a:sym typeface="Nunito Sans"/>
              </a:rPr>
              <a:t>Académico publica eventos (nota o falta registrada) en RabbitMQ; notificaciones los consume y avisa por push y WhatsApp.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TECNOLOGÍAS Y CI/CD</a:t>
            </a:r>
          </a:p>
        </p:txBody>
      </p:sp>
      <p:sp>
        <p:nvSpPr>
          <p:cNvPr name="TextBox 3" id="3"/>
          <p:cNvSpPr txBox="true"/>
          <p:nvPr/>
        </p:nvSpPr>
        <p:spPr>
          <a:xfrm rot="0">
            <a:off x="1219200" y="1756410"/>
            <a:ext cx="16325088" cy="670560"/>
          </a:xfrm>
          <a:prstGeom prst="rect">
            <a:avLst/>
          </a:prstGeom>
        </p:spPr>
        <p:txBody>
          <a:bodyPr anchor="t" rtlCol="false" tIns="0" lIns="0" bIns="0" rIns="0">
            <a:spAutoFit/>
          </a:bodyPr>
          <a:lstStyle/>
          <a:p>
            <a:pPr algn="l">
              <a:lnSpc>
                <a:spcPts val="5280"/>
              </a:lnSpc>
            </a:pPr>
            <a:r>
              <a:rPr lang="en-US" sz="4800" b="true">
                <a:solidFill>
                  <a:srgbClr val="13261F"/>
                </a:solidFill>
                <a:latin typeface="Rubik Bold"/>
                <a:ea typeface="Rubik Bold"/>
                <a:cs typeface="Rubik Bold"/>
                <a:sym typeface="Rubik Bold"/>
              </a:rPr>
              <a:t>Varios lenguajes e IDEs, un solo pipeline seguro</a:t>
            </a:r>
          </a:p>
        </p:txBody>
      </p:sp>
      <p:grpSp>
        <p:nvGrpSpPr>
          <p:cNvPr name="Group 4" id="4"/>
          <p:cNvGrpSpPr/>
          <p:nvPr/>
        </p:nvGrpSpPr>
        <p:grpSpPr>
          <a:xfrm rot="0">
            <a:off x="1219200" y="2807970"/>
            <a:ext cx="5105400" cy="1817370"/>
            <a:chOff x="0" y="0"/>
            <a:chExt cx="6807200" cy="2423160"/>
          </a:xfrm>
        </p:grpSpPr>
        <p:sp>
          <p:nvSpPr>
            <p:cNvPr name="Freeform 5" id="5"/>
            <p:cNvSpPr/>
            <p:nvPr/>
          </p:nvSpPr>
          <p:spPr>
            <a:xfrm flipH="false" flipV="false" rot="0">
              <a:off x="0" y="0"/>
              <a:ext cx="6807200" cy="2423160"/>
            </a:xfrm>
            <a:custGeom>
              <a:avLst/>
              <a:gdLst/>
              <a:ahLst/>
              <a:cxnLst/>
              <a:rect r="r" b="b" t="t" l="l"/>
              <a:pathLst>
                <a:path h="2423160" w="6807200">
                  <a:moveTo>
                    <a:pt x="0" y="248920"/>
                  </a:moveTo>
                  <a:cubicBezTo>
                    <a:pt x="0" y="111506"/>
                    <a:pt x="111506" y="0"/>
                    <a:pt x="248920" y="0"/>
                  </a:cubicBezTo>
                  <a:lnTo>
                    <a:pt x="6558280" y="0"/>
                  </a:lnTo>
                  <a:cubicBezTo>
                    <a:pt x="6695694" y="0"/>
                    <a:pt x="6807200" y="111506"/>
                    <a:pt x="6807200" y="248920"/>
                  </a:cubicBezTo>
                  <a:lnTo>
                    <a:pt x="6807200" y="2174240"/>
                  </a:lnTo>
                  <a:cubicBezTo>
                    <a:pt x="6807200" y="2311781"/>
                    <a:pt x="6695694" y="2423160"/>
                    <a:pt x="6558280" y="2423160"/>
                  </a:cubicBezTo>
                  <a:lnTo>
                    <a:pt x="248920" y="2423160"/>
                  </a:lnTo>
                  <a:cubicBezTo>
                    <a:pt x="111506" y="2423160"/>
                    <a:pt x="0" y="2311654"/>
                    <a:pt x="0" y="2174240"/>
                  </a:cubicBezTo>
                  <a:close/>
                </a:path>
              </a:pathLst>
            </a:custGeom>
            <a:solidFill>
              <a:srgbClr val="FFFFFF"/>
            </a:solidFill>
            <a:ln w="9525" cap="sq">
              <a:solidFill>
                <a:srgbClr val="DCE3DA"/>
              </a:solidFill>
              <a:prstDash val="solid"/>
              <a:miter/>
            </a:ln>
          </p:spPr>
        </p:sp>
      </p:grpSp>
      <p:sp>
        <p:nvSpPr>
          <p:cNvPr name="TextBox 6" id="6"/>
          <p:cNvSpPr txBox="true"/>
          <p:nvPr/>
        </p:nvSpPr>
        <p:spPr>
          <a:xfrm rot="0">
            <a:off x="1531620" y="3129925"/>
            <a:ext cx="4614977" cy="394335"/>
          </a:xfrm>
          <a:prstGeom prst="rect">
            <a:avLst/>
          </a:prstGeom>
        </p:spPr>
        <p:txBody>
          <a:bodyPr anchor="t" rtlCol="false" tIns="0" lIns="0" bIns="0" rIns="0">
            <a:spAutoFit/>
          </a:bodyPr>
          <a:lstStyle/>
          <a:p>
            <a:pPr algn="l">
              <a:lnSpc>
                <a:spcPts val="2879"/>
              </a:lnSpc>
            </a:pPr>
            <a:r>
              <a:rPr lang="en-US" sz="2400" b="true">
                <a:solidFill>
                  <a:srgbClr val="137A41"/>
                </a:solidFill>
                <a:latin typeface="Nunito Sans Bold"/>
                <a:ea typeface="Nunito Sans Bold"/>
                <a:cs typeface="Nunito Sans Bold"/>
                <a:sym typeface="Nunito Sans Bold"/>
              </a:rPr>
              <a:t>Lenguajes</a:t>
            </a:r>
          </a:p>
        </p:txBody>
      </p:sp>
      <p:sp>
        <p:nvSpPr>
          <p:cNvPr name="TextBox 7" id="7"/>
          <p:cNvSpPr txBox="true"/>
          <p:nvPr/>
        </p:nvSpPr>
        <p:spPr>
          <a:xfrm rot="0">
            <a:off x="1531620" y="3600450"/>
            <a:ext cx="4614977" cy="75057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Java · TypeScript · Python · SQL · YAML</a:t>
            </a:r>
          </a:p>
        </p:txBody>
      </p:sp>
      <p:grpSp>
        <p:nvGrpSpPr>
          <p:cNvPr name="Group 8" id="8"/>
          <p:cNvGrpSpPr/>
          <p:nvPr/>
        </p:nvGrpSpPr>
        <p:grpSpPr>
          <a:xfrm rot="0">
            <a:off x="6591300" y="2807970"/>
            <a:ext cx="5105400" cy="1817370"/>
            <a:chOff x="0" y="0"/>
            <a:chExt cx="6807200" cy="2423160"/>
          </a:xfrm>
        </p:grpSpPr>
        <p:sp>
          <p:nvSpPr>
            <p:cNvPr name="Freeform 9" id="9"/>
            <p:cNvSpPr/>
            <p:nvPr/>
          </p:nvSpPr>
          <p:spPr>
            <a:xfrm flipH="false" flipV="false" rot="0">
              <a:off x="0" y="0"/>
              <a:ext cx="6807200" cy="2423160"/>
            </a:xfrm>
            <a:custGeom>
              <a:avLst/>
              <a:gdLst/>
              <a:ahLst/>
              <a:cxnLst/>
              <a:rect r="r" b="b" t="t" l="l"/>
              <a:pathLst>
                <a:path h="2423160" w="6807200">
                  <a:moveTo>
                    <a:pt x="0" y="248920"/>
                  </a:moveTo>
                  <a:cubicBezTo>
                    <a:pt x="0" y="111506"/>
                    <a:pt x="111506" y="0"/>
                    <a:pt x="248920" y="0"/>
                  </a:cubicBezTo>
                  <a:lnTo>
                    <a:pt x="6558280" y="0"/>
                  </a:lnTo>
                  <a:cubicBezTo>
                    <a:pt x="6695694" y="0"/>
                    <a:pt x="6807200" y="111506"/>
                    <a:pt x="6807200" y="248920"/>
                  </a:cubicBezTo>
                  <a:lnTo>
                    <a:pt x="6807200" y="2174240"/>
                  </a:lnTo>
                  <a:cubicBezTo>
                    <a:pt x="6807200" y="2311781"/>
                    <a:pt x="6695694" y="2423160"/>
                    <a:pt x="6558280" y="2423160"/>
                  </a:cubicBezTo>
                  <a:lnTo>
                    <a:pt x="248920" y="2423160"/>
                  </a:lnTo>
                  <a:cubicBezTo>
                    <a:pt x="111506" y="2423160"/>
                    <a:pt x="0" y="2311654"/>
                    <a:pt x="0" y="2174240"/>
                  </a:cubicBezTo>
                  <a:close/>
                </a:path>
              </a:pathLst>
            </a:custGeom>
            <a:solidFill>
              <a:srgbClr val="FFFFFF"/>
            </a:solidFill>
            <a:ln w="9525" cap="sq">
              <a:solidFill>
                <a:srgbClr val="DCE3DA"/>
              </a:solidFill>
              <a:prstDash val="solid"/>
              <a:miter/>
            </a:ln>
          </p:spPr>
        </p:sp>
      </p:grpSp>
      <p:sp>
        <p:nvSpPr>
          <p:cNvPr name="TextBox 10" id="10"/>
          <p:cNvSpPr txBox="true"/>
          <p:nvPr/>
        </p:nvSpPr>
        <p:spPr>
          <a:xfrm rot="0">
            <a:off x="6903720" y="3129925"/>
            <a:ext cx="4614977" cy="394335"/>
          </a:xfrm>
          <a:prstGeom prst="rect">
            <a:avLst/>
          </a:prstGeom>
        </p:spPr>
        <p:txBody>
          <a:bodyPr anchor="t" rtlCol="false" tIns="0" lIns="0" bIns="0" rIns="0">
            <a:spAutoFit/>
          </a:bodyPr>
          <a:lstStyle/>
          <a:p>
            <a:pPr algn="l">
              <a:lnSpc>
                <a:spcPts val="2879"/>
              </a:lnSpc>
            </a:pPr>
            <a:r>
              <a:rPr lang="en-US" sz="2400" b="true">
                <a:solidFill>
                  <a:srgbClr val="137A41"/>
                </a:solidFill>
                <a:latin typeface="Nunito Sans Bold"/>
                <a:ea typeface="Nunito Sans Bold"/>
                <a:cs typeface="Nunito Sans Bold"/>
                <a:sym typeface="Nunito Sans Bold"/>
              </a:rPr>
              <a:t>IDEs</a:t>
            </a:r>
          </a:p>
        </p:txBody>
      </p:sp>
      <p:sp>
        <p:nvSpPr>
          <p:cNvPr name="TextBox 11" id="11"/>
          <p:cNvSpPr txBox="true"/>
          <p:nvPr/>
        </p:nvSpPr>
        <p:spPr>
          <a:xfrm rot="0">
            <a:off x="6903720" y="3600450"/>
            <a:ext cx="4614977" cy="75057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IntelliJ IDEA · VS Code · PyCharm · DBeaver</a:t>
            </a:r>
          </a:p>
        </p:txBody>
      </p:sp>
      <p:grpSp>
        <p:nvGrpSpPr>
          <p:cNvPr name="Group 12" id="12"/>
          <p:cNvGrpSpPr/>
          <p:nvPr/>
        </p:nvGrpSpPr>
        <p:grpSpPr>
          <a:xfrm rot="0">
            <a:off x="11963400" y="2807970"/>
            <a:ext cx="5105400" cy="1817370"/>
            <a:chOff x="0" y="0"/>
            <a:chExt cx="6807200" cy="2423160"/>
          </a:xfrm>
        </p:grpSpPr>
        <p:sp>
          <p:nvSpPr>
            <p:cNvPr name="Freeform 13" id="13"/>
            <p:cNvSpPr/>
            <p:nvPr/>
          </p:nvSpPr>
          <p:spPr>
            <a:xfrm flipH="false" flipV="false" rot="0">
              <a:off x="0" y="0"/>
              <a:ext cx="6807200" cy="2423160"/>
            </a:xfrm>
            <a:custGeom>
              <a:avLst/>
              <a:gdLst/>
              <a:ahLst/>
              <a:cxnLst/>
              <a:rect r="r" b="b" t="t" l="l"/>
              <a:pathLst>
                <a:path h="2423160" w="6807200">
                  <a:moveTo>
                    <a:pt x="0" y="248920"/>
                  </a:moveTo>
                  <a:cubicBezTo>
                    <a:pt x="0" y="111506"/>
                    <a:pt x="111506" y="0"/>
                    <a:pt x="248920" y="0"/>
                  </a:cubicBezTo>
                  <a:lnTo>
                    <a:pt x="6558280" y="0"/>
                  </a:lnTo>
                  <a:cubicBezTo>
                    <a:pt x="6695694" y="0"/>
                    <a:pt x="6807200" y="111506"/>
                    <a:pt x="6807200" y="248920"/>
                  </a:cubicBezTo>
                  <a:lnTo>
                    <a:pt x="6807200" y="2174240"/>
                  </a:lnTo>
                  <a:cubicBezTo>
                    <a:pt x="6807200" y="2311781"/>
                    <a:pt x="6695694" y="2423160"/>
                    <a:pt x="6558280" y="2423160"/>
                  </a:cubicBezTo>
                  <a:lnTo>
                    <a:pt x="248920" y="2423160"/>
                  </a:lnTo>
                  <a:cubicBezTo>
                    <a:pt x="111506" y="2423160"/>
                    <a:pt x="0" y="2311654"/>
                    <a:pt x="0" y="2174240"/>
                  </a:cubicBezTo>
                  <a:close/>
                </a:path>
              </a:pathLst>
            </a:custGeom>
            <a:solidFill>
              <a:srgbClr val="FFFFFF"/>
            </a:solidFill>
            <a:ln w="9525" cap="sq">
              <a:solidFill>
                <a:srgbClr val="DCE3DA"/>
              </a:solidFill>
              <a:prstDash val="solid"/>
              <a:miter/>
            </a:ln>
          </p:spPr>
        </p:sp>
      </p:grpSp>
      <p:sp>
        <p:nvSpPr>
          <p:cNvPr name="TextBox 14" id="14"/>
          <p:cNvSpPr txBox="true"/>
          <p:nvPr/>
        </p:nvSpPr>
        <p:spPr>
          <a:xfrm rot="0">
            <a:off x="12275820" y="3129925"/>
            <a:ext cx="4614977" cy="394335"/>
          </a:xfrm>
          <a:prstGeom prst="rect">
            <a:avLst/>
          </a:prstGeom>
        </p:spPr>
        <p:txBody>
          <a:bodyPr anchor="t" rtlCol="false" tIns="0" lIns="0" bIns="0" rIns="0">
            <a:spAutoFit/>
          </a:bodyPr>
          <a:lstStyle/>
          <a:p>
            <a:pPr algn="l">
              <a:lnSpc>
                <a:spcPts val="2879"/>
              </a:lnSpc>
            </a:pPr>
            <a:r>
              <a:rPr lang="en-US" sz="2400" b="true">
                <a:solidFill>
                  <a:srgbClr val="137A41"/>
                </a:solidFill>
                <a:latin typeface="Nunito Sans Bold"/>
                <a:ea typeface="Nunito Sans Bold"/>
                <a:cs typeface="Nunito Sans Bold"/>
                <a:sym typeface="Nunito Sans Bold"/>
              </a:rPr>
              <a:t>Infraestructura</a:t>
            </a:r>
          </a:p>
        </p:txBody>
      </p:sp>
      <p:sp>
        <p:nvSpPr>
          <p:cNvPr name="TextBox 15" id="15"/>
          <p:cNvSpPr txBox="true"/>
          <p:nvPr/>
        </p:nvSpPr>
        <p:spPr>
          <a:xfrm rot="0">
            <a:off x="12275820" y="3600450"/>
            <a:ext cx="4614977" cy="750570"/>
          </a:xfrm>
          <a:prstGeom prst="rect">
            <a:avLst/>
          </a:prstGeom>
        </p:spPr>
        <p:txBody>
          <a:bodyPr anchor="t" rtlCol="false" tIns="0" lIns="0" bIns="0" rIns="0">
            <a:spAutoFit/>
          </a:bodyPr>
          <a:lstStyle/>
          <a:p>
            <a:pPr algn="l">
              <a:lnSpc>
                <a:spcPts val="2730"/>
              </a:lnSpc>
            </a:pPr>
            <a:r>
              <a:rPr lang="en-US" sz="2100">
                <a:solidFill>
                  <a:srgbClr val="13261F"/>
                </a:solidFill>
                <a:latin typeface="Nunito Sans"/>
                <a:ea typeface="Nunito Sans"/>
                <a:cs typeface="Nunito Sans"/>
                <a:sym typeface="Nunito Sans"/>
              </a:rPr>
              <a:t>Docker · RabbitMQ · Redis · Prometheus y Grafana</a:t>
            </a:r>
          </a:p>
        </p:txBody>
      </p:sp>
      <p:sp>
        <p:nvSpPr>
          <p:cNvPr name="TextBox 16" id="16"/>
          <p:cNvSpPr txBox="true"/>
          <p:nvPr/>
        </p:nvSpPr>
        <p:spPr>
          <a:xfrm rot="0">
            <a:off x="1219200" y="5053975"/>
            <a:ext cx="16325088" cy="394335"/>
          </a:xfrm>
          <a:prstGeom prst="rect">
            <a:avLst/>
          </a:prstGeom>
        </p:spPr>
        <p:txBody>
          <a:bodyPr anchor="t" rtlCol="false" tIns="0" lIns="0" bIns="0" rIns="0">
            <a:spAutoFit/>
          </a:bodyPr>
          <a:lstStyle/>
          <a:p>
            <a:pPr algn="l">
              <a:lnSpc>
                <a:spcPts val="2879"/>
              </a:lnSpc>
            </a:pPr>
            <a:r>
              <a:rPr lang="en-US" sz="2400" b="true">
                <a:solidFill>
                  <a:srgbClr val="13261F"/>
                </a:solidFill>
                <a:latin typeface="Nunito Sans Bold"/>
                <a:ea typeface="Nunito Sans Bold"/>
                <a:cs typeface="Nunito Sans Bold"/>
                <a:sym typeface="Nunito Sans Bold"/>
              </a:rPr>
              <a:t>Pipeline en GitHub Actions (uno por microservicio)</a:t>
            </a:r>
          </a:p>
        </p:txBody>
      </p:sp>
      <p:grpSp>
        <p:nvGrpSpPr>
          <p:cNvPr name="Group 17" id="17"/>
          <p:cNvGrpSpPr/>
          <p:nvPr/>
        </p:nvGrpSpPr>
        <p:grpSpPr>
          <a:xfrm rot="0">
            <a:off x="1219200" y="5562600"/>
            <a:ext cx="2165271" cy="982980"/>
            <a:chOff x="0" y="0"/>
            <a:chExt cx="2887028" cy="1310640"/>
          </a:xfrm>
        </p:grpSpPr>
        <p:sp>
          <p:nvSpPr>
            <p:cNvPr name="Freeform 18" id="18"/>
            <p:cNvSpPr/>
            <p:nvPr/>
          </p:nvSpPr>
          <p:spPr>
            <a:xfrm flipH="false" flipV="false" rot="0">
              <a:off x="0" y="0"/>
              <a:ext cx="2887091" cy="1310640"/>
            </a:xfrm>
            <a:custGeom>
              <a:avLst/>
              <a:gdLst/>
              <a:ahLst/>
              <a:cxnLst/>
              <a:rect r="r" b="b" t="t" l="l"/>
              <a:pathLst>
                <a:path h="1310640" w="2887091">
                  <a:moveTo>
                    <a:pt x="152400" y="0"/>
                  </a:moveTo>
                  <a:lnTo>
                    <a:pt x="2734691" y="0"/>
                  </a:lnTo>
                  <a:cubicBezTo>
                    <a:pt x="2818892" y="0"/>
                    <a:pt x="2887091" y="68199"/>
                    <a:pt x="2887091" y="152400"/>
                  </a:cubicBezTo>
                  <a:lnTo>
                    <a:pt x="2887091" y="1158240"/>
                  </a:lnTo>
                  <a:cubicBezTo>
                    <a:pt x="2887091" y="1242441"/>
                    <a:pt x="2818892" y="1310640"/>
                    <a:pt x="2734691" y="1310640"/>
                  </a:cubicBezTo>
                  <a:lnTo>
                    <a:pt x="152400" y="1310640"/>
                  </a:lnTo>
                  <a:cubicBezTo>
                    <a:pt x="68199" y="1310640"/>
                    <a:pt x="0" y="1242441"/>
                    <a:pt x="0" y="1158240"/>
                  </a:cubicBezTo>
                  <a:lnTo>
                    <a:pt x="0" y="152400"/>
                  </a:lnTo>
                  <a:cubicBezTo>
                    <a:pt x="0" y="68199"/>
                    <a:pt x="68199" y="0"/>
                    <a:pt x="152400" y="0"/>
                  </a:cubicBezTo>
                  <a:close/>
                </a:path>
              </a:pathLst>
            </a:custGeom>
            <a:solidFill>
              <a:srgbClr val="0F2A22"/>
            </a:solidFill>
          </p:spPr>
        </p:sp>
        <p:sp>
          <p:nvSpPr>
            <p:cNvPr name="TextBox 19" id="19"/>
            <p:cNvSpPr txBox="true"/>
            <p:nvPr/>
          </p:nvSpPr>
          <p:spPr>
            <a:xfrm>
              <a:off x="0" y="-28575"/>
              <a:ext cx="2887028" cy="1339215"/>
            </a:xfrm>
            <a:prstGeom prst="rect">
              <a:avLst/>
            </a:prstGeom>
          </p:spPr>
          <p:txBody>
            <a:bodyPr anchor="t" rtlCol="false" tIns="50800" lIns="50800" bIns="50800" rIns="50800"/>
            <a:lstStyle/>
            <a:p>
              <a:pPr algn="ctr">
                <a:lnSpc>
                  <a:spcPts val="2520"/>
                </a:lnSpc>
              </a:pPr>
              <a:r>
                <a:rPr lang="en-US" sz="1800" b="true">
                  <a:solidFill>
                    <a:srgbClr val="F5F6F0"/>
                  </a:solidFill>
                  <a:latin typeface="Nunito Sans Bold"/>
                  <a:ea typeface="Nunito Sans Bold"/>
                  <a:cs typeface="Nunito Sans Bold"/>
                  <a:sym typeface="Nunito Sans Bold"/>
                </a:rPr>
                <a:t>Secretos</a:t>
              </a:r>
            </a:p>
            <a:p>
              <a:pPr algn="ctr">
                <a:lnSpc>
                  <a:spcPts val="2520"/>
                </a:lnSpc>
              </a:pPr>
              <a:r>
                <a:rPr lang="en-US" sz="1800" b="true">
                  <a:solidFill>
                    <a:srgbClr val="F5F6F0"/>
                  </a:solidFill>
                  <a:latin typeface="Nunito Sans Bold"/>
                  <a:ea typeface="Nunito Sans Bold"/>
                  <a:cs typeface="Nunito Sans Bold"/>
                  <a:sym typeface="Nunito Sans Bold"/>
                </a:rPr>
                <a:t>Gitleaks</a:t>
              </a:r>
            </a:p>
          </p:txBody>
        </p:sp>
      </p:grpSp>
      <p:grpSp>
        <p:nvGrpSpPr>
          <p:cNvPr name="Group 20" id="20"/>
          <p:cNvGrpSpPr/>
          <p:nvPr/>
        </p:nvGrpSpPr>
        <p:grpSpPr>
          <a:xfrm rot="0">
            <a:off x="3498771" y="5939800"/>
            <a:ext cx="342900" cy="228600"/>
            <a:chOff x="0" y="0"/>
            <a:chExt cx="457200" cy="304800"/>
          </a:xfrm>
        </p:grpSpPr>
        <p:sp>
          <p:nvSpPr>
            <p:cNvPr name="Freeform 21" id="21" descr="arrow-right"/>
            <p:cNvSpPr/>
            <p:nvPr/>
          </p:nvSpPr>
          <p:spPr>
            <a:xfrm flipH="false" flipV="false" rot="0">
              <a:off x="0" y="0"/>
              <a:ext cx="457200" cy="304800"/>
            </a:xfrm>
            <a:custGeom>
              <a:avLst/>
              <a:gdLst/>
              <a:ahLst/>
              <a:cxnLst/>
              <a:rect r="r" b="b" t="t" l="l"/>
              <a:pathLst>
                <a:path h="304800" w="457200">
                  <a:moveTo>
                    <a:pt x="0" y="0"/>
                  </a:moveTo>
                  <a:lnTo>
                    <a:pt x="457200" y="0"/>
                  </a:lnTo>
                  <a:lnTo>
                    <a:pt x="457200" y="304800"/>
                  </a:lnTo>
                  <a:lnTo>
                    <a:pt x="0" y="304800"/>
                  </a:lnTo>
                  <a:lnTo>
                    <a:pt x="0" y="0"/>
                  </a:lnTo>
                  <a:close/>
                </a:path>
              </a:pathLst>
            </a:custGeom>
            <a:blipFill>
              <a:blip r:embed="rId3"/>
              <a:stretch>
                <a:fillRect l="0" t="0" r="0" b="0"/>
              </a:stretch>
            </a:blipFill>
          </p:spPr>
        </p:sp>
      </p:grpSp>
      <p:grpSp>
        <p:nvGrpSpPr>
          <p:cNvPr name="Group 22" id="22"/>
          <p:cNvGrpSpPr/>
          <p:nvPr/>
        </p:nvGrpSpPr>
        <p:grpSpPr>
          <a:xfrm rot="0">
            <a:off x="3955971" y="5562600"/>
            <a:ext cx="2165385" cy="982980"/>
            <a:chOff x="0" y="0"/>
            <a:chExt cx="2887180" cy="1310640"/>
          </a:xfrm>
        </p:grpSpPr>
        <p:sp>
          <p:nvSpPr>
            <p:cNvPr name="Freeform 23" id="23"/>
            <p:cNvSpPr/>
            <p:nvPr/>
          </p:nvSpPr>
          <p:spPr>
            <a:xfrm flipH="false" flipV="false" rot="0">
              <a:off x="0" y="0"/>
              <a:ext cx="2887218" cy="1310640"/>
            </a:xfrm>
            <a:custGeom>
              <a:avLst/>
              <a:gdLst/>
              <a:ahLst/>
              <a:cxnLst/>
              <a:rect r="r" b="b" t="t" l="l"/>
              <a:pathLst>
                <a:path h="1310640" w="2887218">
                  <a:moveTo>
                    <a:pt x="152400" y="0"/>
                  </a:moveTo>
                  <a:lnTo>
                    <a:pt x="2734818" y="0"/>
                  </a:lnTo>
                  <a:cubicBezTo>
                    <a:pt x="2819019" y="0"/>
                    <a:pt x="2887218" y="68199"/>
                    <a:pt x="2887218" y="152400"/>
                  </a:cubicBezTo>
                  <a:lnTo>
                    <a:pt x="2887218" y="1158240"/>
                  </a:lnTo>
                  <a:cubicBezTo>
                    <a:pt x="2887218" y="1242441"/>
                    <a:pt x="2819019" y="1310640"/>
                    <a:pt x="2734818" y="1310640"/>
                  </a:cubicBezTo>
                  <a:lnTo>
                    <a:pt x="152400" y="1310640"/>
                  </a:lnTo>
                  <a:cubicBezTo>
                    <a:pt x="68199" y="1310640"/>
                    <a:pt x="0" y="1242441"/>
                    <a:pt x="0" y="1158240"/>
                  </a:cubicBezTo>
                  <a:lnTo>
                    <a:pt x="0" y="152400"/>
                  </a:lnTo>
                  <a:cubicBezTo>
                    <a:pt x="0" y="68199"/>
                    <a:pt x="68199" y="0"/>
                    <a:pt x="152400" y="0"/>
                  </a:cubicBezTo>
                  <a:close/>
                </a:path>
              </a:pathLst>
            </a:custGeom>
            <a:solidFill>
              <a:srgbClr val="0F2A22"/>
            </a:solidFill>
          </p:spPr>
        </p:sp>
        <p:sp>
          <p:nvSpPr>
            <p:cNvPr name="TextBox 24" id="24"/>
            <p:cNvSpPr txBox="true"/>
            <p:nvPr/>
          </p:nvSpPr>
          <p:spPr>
            <a:xfrm>
              <a:off x="0" y="-28575"/>
              <a:ext cx="2887180" cy="1339215"/>
            </a:xfrm>
            <a:prstGeom prst="rect">
              <a:avLst/>
            </a:prstGeom>
          </p:spPr>
          <p:txBody>
            <a:bodyPr anchor="t" rtlCol="false" tIns="50800" lIns="50800" bIns="50800" rIns="50800"/>
            <a:lstStyle/>
            <a:p>
              <a:pPr algn="ctr">
                <a:lnSpc>
                  <a:spcPts val="2520"/>
                </a:lnSpc>
              </a:pPr>
              <a:r>
                <a:rPr lang="en-US" sz="1800" b="true">
                  <a:solidFill>
                    <a:srgbClr val="F5F6F0"/>
                  </a:solidFill>
                  <a:latin typeface="Nunito Sans Bold"/>
                  <a:ea typeface="Nunito Sans Bold"/>
                  <a:cs typeface="Nunito Sans Bold"/>
                  <a:sym typeface="Nunito Sans Bold"/>
                </a:rPr>
                <a:t>Compilar</a:t>
              </a:r>
            </a:p>
            <a:p>
              <a:pPr algn="ctr">
                <a:lnSpc>
                  <a:spcPts val="2520"/>
                </a:lnSpc>
              </a:pPr>
              <a:r>
                <a:rPr lang="en-US" sz="1800" b="true">
                  <a:solidFill>
                    <a:srgbClr val="F5F6F0"/>
                  </a:solidFill>
                  <a:latin typeface="Nunito Sans Bold"/>
                  <a:ea typeface="Nunito Sans Bold"/>
                  <a:cs typeface="Nunito Sans Bold"/>
                  <a:sym typeface="Nunito Sans Bold"/>
                </a:rPr>
                <a:t>y probar</a:t>
              </a:r>
            </a:p>
          </p:txBody>
        </p:sp>
      </p:grpSp>
      <p:grpSp>
        <p:nvGrpSpPr>
          <p:cNvPr name="Group 25" id="25"/>
          <p:cNvGrpSpPr/>
          <p:nvPr/>
        </p:nvGrpSpPr>
        <p:grpSpPr>
          <a:xfrm rot="0">
            <a:off x="6235665" y="5939800"/>
            <a:ext cx="342900" cy="228600"/>
            <a:chOff x="0" y="0"/>
            <a:chExt cx="457200" cy="304800"/>
          </a:xfrm>
        </p:grpSpPr>
        <p:sp>
          <p:nvSpPr>
            <p:cNvPr name="Freeform 26" id="26" descr="arrow-right"/>
            <p:cNvSpPr/>
            <p:nvPr/>
          </p:nvSpPr>
          <p:spPr>
            <a:xfrm flipH="false" flipV="false" rot="0">
              <a:off x="0" y="0"/>
              <a:ext cx="457200" cy="304800"/>
            </a:xfrm>
            <a:custGeom>
              <a:avLst/>
              <a:gdLst/>
              <a:ahLst/>
              <a:cxnLst/>
              <a:rect r="r" b="b" t="t" l="l"/>
              <a:pathLst>
                <a:path h="304800" w="457200">
                  <a:moveTo>
                    <a:pt x="0" y="0"/>
                  </a:moveTo>
                  <a:lnTo>
                    <a:pt x="457200" y="0"/>
                  </a:lnTo>
                  <a:lnTo>
                    <a:pt x="457200" y="304800"/>
                  </a:lnTo>
                  <a:lnTo>
                    <a:pt x="0" y="304800"/>
                  </a:lnTo>
                  <a:lnTo>
                    <a:pt x="0" y="0"/>
                  </a:lnTo>
                  <a:close/>
                </a:path>
              </a:pathLst>
            </a:custGeom>
            <a:blipFill>
              <a:blip r:embed="rId3"/>
              <a:stretch>
                <a:fillRect l="0" t="0" r="0" b="0"/>
              </a:stretch>
            </a:blipFill>
          </p:spPr>
        </p:sp>
      </p:grpSp>
      <p:grpSp>
        <p:nvGrpSpPr>
          <p:cNvPr name="Group 27" id="27"/>
          <p:cNvGrpSpPr/>
          <p:nvPr/>
        </p:nvGrpSpPr>
        <p:grpSpPr>
          <a:xfrm rot="0">
            <a:off x="6692865" y="5722620"/>
            <a:ext cx="2165271" cy="662940"/>
            <a:chOff x="0" y="0"/>
            <a:chExt cx="2887028" cy="883920"/>
          </a:xfrm>
        </p:grpSpPr>
        <p:sp>
          <p:nvSpPr>
            <p:cNvPr name="Freeform 28" id="28"/>
            <p:cNvSpPr/>
            <p:nvPr/>
          </p:nvSpPr>
          <p:spPr>
            <a:xfrm flipH="false" flipV="false" rot="0">
              <a:off x="0" y="0"/>
              <a:ext cx="2887091" cy="883920"/>
            </a:xfrm>
            <a:custGeom>
              <a:avLst/>
              <a:gdLst/>
              <a:ahLst/>
              <a:cxnLst/>
              <a:rect r="r" b="b" t="t" l="l"/>
              <a:pathLst>
                <a:path h="883920" w="2887091">
                  <a:moveTo>
                    <a:pt x="152400" y="0"/>
                  </a:moveTo>
                  <a:lnTo>
                    <a:pt x="2734691" y="0"/>
                  </a:lnTo>
                  <a:cubicBezTo>
                    <a:pt x="2818892" y="0"/>
                    <a:pt x="2887091" y="68199"/>
                    <a:pt x="2887091" y="152400"/>
                  </a:cubicBezTo>
                  <a:lnTo>
                    <a:pt x="2887091" y="731520"/>
                  </a:lnTo>
                  <a:cubicBezTo>
                    <a:pt x="2887091" y="815721"/>
                    <a:pt x="2818892" y="883920"/>
                    <a:pt x="2734691" y="883920"/>
                  </a:cubicBezTo>
                  <a:lnTo>
                    <a:pt x="152400" y="883920"/>
                  </a:lnTo>
                  <a:cubicBezTo>
                    <a:pt x="68199" y="883920"/>
                    <a:pt x="0" y="815721"/>
                    <a:pt x="0" y="731520"/>
                  </a:cubicBezTo>
                  <a:lnTo>
                    <a:pt x="0" y="152400"/>
                  </a:lnTo>
                  <a:cubicBezTo>
                    <a:pt x="0" y="68199"/>
                    <a:pt x="68199" y="0"/>
                    <a:pt x="152400" y="0"/>
                  </a:cubicBezTo>
                  <a:close/>
                </a:path>
              </a:pathLst>
            </a:custGeom>
            <a:solidFill>
              <a:srgbClr val="0F2A22"/>
            </a:solidFill>
          </p:spPr>
        </p:sp>
        <p:sp>
          <p:nvSpPr>
            <p:cNvPr name="TextBox 29" id="29"/>
            <p:cNvSpPr txBox="true"/>
            <p:nvPr/>
          </p:nvSpPr>
          <p:spPr>
            <a:xfrm>
              <a:off x="0" y="-28575"/>
              <a:ext cx="2887028" cy="912495"/>
            </a:xfrm>
            <a:prstGeom prst="rect">
              <a:avLst/>
            </a:prstGeom>
          </p:spPr>
          <p:txBody>
            <a:bodyPr anchor="t" rtlCol="false" tIns="50800" lIns="50800" bIns="50800" rIns="50800"/>
            <a:lstStyle/>
            <a:p>
              <a:pPr algn="ctr">
                <a:lnSpc>
                  <a:spcPts val="2520"/>
                </a:lnSpc>
              </a:pPr>
              <a:r>
                <a:rPr lang="en-US" sz="1800" b="true">
                  <a:solidFill>
                    <a:srgbClr val="F5F6F0"/>
                  </a:solidFill>
                  <a:latin typeface="Nunito Sans Bold"/>
                  <a:ea typeface="Nunito Sans Bold"/>
                  <a:cs typeface="Nunito Sans Bold"/>
                  <a:sym typeface="Nunito Sans Bold"/>
                </a:rPr>
                <a:t>Dependencias</a:t>
              </a:r>
            </a:p>
          </p:txBody>
        </p:sp>
      </p:grpSp>
      <p:grpSp>
        <p:nvGrpSpPr>
          <p:cNvPr name="Group 30" id="30"/>
          <p:cNvGrpSpPr/>
          <p:nvPr/>
        </p:nvGrpSpPr>
        <p:grpSpPr>
          <a:xfrm rot="0">
            <a:off x="8972436" y="5939800"/>
            <a:ext cx="342900" cy="228600"/>
            <a:chOff x="0" y="0"/>
            <a:chExt cx="457200" cy="304800"/>
          </a:xfrm>
        </p:grpSpPr>
        <p:sp>
          <p:nvSpPr>
            <p:cNvPr name="Freeform 31" id="31" descr="arrow-right"/>
            <p:cNvSpPr/>
            <p:nvPr/>
          </p:nvSpPr>
          <p:spPr>
            <a:xfrm flipH="false" flipV="false" rot="0">
              <a:off x="0" y="0"/>
              <a:ext cx="457200" cy="304800"/>
            </a:xfrm>
            <a:custGeom>
              <a:avLst/>
              <a:gdLst/>
              <a:ahLst/>
              <a:cxnLst/>
              <a:rect r="r" b="b" t="t" l="l"/>
              <a:pathLst>
                <a:path h="304800" w="457200">
                  <a:moveTo>
                    <a:pt x="0" y="0"/>
                  </a:moveTo>
                  <a:lnTo>
                    <a:pt x="457200" y="0"/>
                  </a:lnTo>
                  <a:lnTo>
                    <a:pt x="457200" y="304800"/>
                  </a:lnTo>
                  <a:lnTo>
                    <a:pt x="0" y="304800"/>
                  </a:lnTo>
                  <a:lnTo>
                    <a:pt x="0" y="0"/>
                  </a:lnTo>
                  <a:close/>
                </a:path>
              </a:pathLst>
            </a:custGeom>
            <a:blipFill>
              <a:blip r:embed="rId3"/>
              <a:stretch>
                <a:fillRect l="0" t="0" r="0" b="0"/>
              </a:stretch>
            </a:blipFill>
          </p:spPr>
        </p:sp>
      </p:grpSp>
      <p:grpSp>
        <p:nvGrpSpPr>
          <p:cNvPr name="Group 32" id="32"/>
          <p:cNvGrpSpPr/>
          <p:nvPr/>
        </p:nvGrpSpPr>
        <p:grpSpPr>
          <a:xfrm rot="0">
            <a:off x="9429636" y="5722620"/>
            <a:ext cx="2165385" cy="662940"/>
            <a:chOff x="0" y="0"/>
            <a:chExt cx="2887180" cy="883920"/>
          </a:xfrm>
        </p:grpSpPr>
        <p:sp>
          <p:nvSpPr>
            <p:cNvPr name="Freeform 33" id="33"/>
            <p:cNvSpPr/>
            <p:nvPr/>
          </p:nvSpPr>
          <p:spPr>
            <a:xfrm flipH="false" flipV="false" rot="0">
              <a:off x="0" y="0"/>
              <a:ext cx="2887218" cy="883920"/>
            </a:xfrm>
            <a:custGeom>
              <a:avLst/>
              <a:gdLst/>
              <a:ahLst/>
              <a:cxnLst/>
              <a:rect r="r" b="b" t="t" l="l"/>
              <a:pathLst>
                <a:path h="883920" w="2887218">
                  <a:moveTo>
                    <a:pt x="152400" y="0"/>
                  </a:moveTo>
                  <a:lnTo>
                    <a:pt x="2734818" y="0"/>
                  </a:lnTo>
                  <a:cubicBezTo>
                    <a:pt x="2819019" y="0"/>
                    <a:pt x="2887218" y="68199"/>
                    <a:pt x="2887218" y="152400"/>
                  </a:cubicBezTo>
                  <a:lnTo>
                    <a:pt x="2887218" y="731520"/>
                  </a:lnTo>
                  <a:cubicBezTo>
                    <a:pt x="2887218" y="815721"/>
                    <a:pt x="2819019" y="883920"/>
                    <a:pt x="2734818" y="883920"/>
                  </a:cubicBezTo>
                  <a:lnTo>
                    <a:pt x="152400" y="883920"/>
                  </a:lnTo>
                  <a:cubicBezTo>
                    <a:pt x="68199" y="883920"/>
                    <a:pt x="0" y="815721"/>
                    <a:pt x="0" y="731520"/>
                  </a:cubicBezTo>
                  <a:lnTo>
                    <a:pt x="0" y="152400"/>
                  </a:lnTo>
                  <a:cubicBezTo>
                    <a:pt x="0" y="68199"/>
                    <a:pt x="68199" y="0"/>
                    <a:pt x="152400" y="0"/>
                  </a:cubicBezTo>
                  <a:close/>
                </a:path>
              </a:pathLst>
            </a:custGeom>
            <a:solidFill>
              <a:srgbClr val="0F2A22"/>
            </a:solidFill>
          </p:spPr>
        </p:sp>
        <p:sp>
          <p:nvSpPr>
            <p:cNvPr name="TextBox 34" id="34"/>
            <p:cNvSpPr txBox="true"/>
            <p:nvPr/>
          </p:nvSpPr>
          <p:spPr>
            <a:xfrm>
              <a:off x="0" y="-28575"/>
              <a:ext cx="2887180" cy="912495"/>
            </a:xfrm>
            <a:prstGeom prst="rect">
              <a:avLst/>
            </a:prstGeom>
          </p:spPr>
          <p:txBody>
            <a:bodyPr anchor="t" rtlCol="false" tIns="50800" lIns="50800" bIns="50800" rIns="50800"/>
            <a:lstStyle/>
            <a:p>
              <a:pPr algn="ctr">
                <a:lnSpc>
                  <a:spcPts val="2520"/>
                </a:lnSpc>
              </a:pPr>
              <a:r>
                <a:rPr lang="en-US" sz="1800" b="true">
                  <a:solidFill>
                    <a:srgbClr val="F5F6F0"/>
                  </a:solidFill>
                  <a:latin typeface="Nunito Sans Bold"/>
                  <a:ea typeface="Nunito Sans Bold"/>
                  <a:cs typeface="Nunito Sans Bold"/>
                  <a:sym typeface="Nunito Sans Bold"/>
                </a:rPr>
                <a:t>SonarQube</a:t>
              </a:r>
            </a:p>
          </p:txBody>
        </p:sp>
      </p:grpSp>
      <p:grpSp>
        <p:nvGrpSpPr>
          <p:cNvPr name="Group 35" id="35"/>
          <p:cNvGrpSpPr/>
          <p:nvPr/>
        </p:nvGrpSpPr>
        <p:grpSpPr>
          <a:xfrm rot="0">
            <a:off x="11709321" y="5939800"/>
            <a:ext cx="342900" cy="228600"/>
            <a:chOff x="0" y="0"/>
            <a:chExt cx="457200" cy="304800"/>
          </a:xfrm>
        </p:grpSpPr>
        <p:sp>
          <p:nvSpPr>
            <p:cNvPr name="Freeform 36" id="36" descr="arrow-right"/>
            <p:cNvSpPr/>
            <p:nvPr/>
          </p:nvSpPr>
          <p:spPr>
            <a:xfrm flipH="false" flipV="false" rot="0">
              <a:off x="0" y="0"/>
              <a:ext cx="457200" cy="304800"/>
            </a:xfrm>
            <a:custGeom>
              <a:avLst/>
              <a:gdLst/>
              <a:ahLst/>
              <a:cxnLst/>
              <a:rect r="r" b="b" t="t" l="l"/>
              <a:pathLst>
                <a:path h="304800" w="457200">
                  <a:moveTo>
                    <a:pt x="0" y="0"/>
                  </a:moveTo>
                  <a:lnTo>
                    <a:pt x="457200" y="0"/>
                  </a:lnTo>
                  <a:lnTo>
                    <a:pt x="457200" y="304800"/>
                  </a:lnTo>
                  <a:lnTo>
                    <a:pt x="0" y="304800"/>
                  </a:lnTo>
                  <a:lnTo>
                    <a:pt x="0" y="0"/>
                  </a:lnTo>
                  <a:close/>
                </a:path>
              </a:pathLst>
            </a:custGeom>
            <a:blipFill>
              <a:blip r:embed="rId3"/>
              <a:stretch>
                <a:fillRect l="0" t="0" r="0" b="0"/>
              </a:stretch>
            </a:blipFill>
          </p:spPr>
        </p:sp>
      </p:grpSp>
      <p:grpSp>
        <p:nvGrpSpPr>
          <p:cNvPr name="Group 37" id="37"/>
          <p:cNvGrpSpPr/>
          <p:nvPr/>
        </p:nvGrpSpPr>
        <p:grpSpPr>
          <a:xfrm rot="0">
            <a:off x="12166521" y="5562600"/>
            <a:ext cx="2165385" cy="982980"/>
            <a:chOff x="0" y="0"/>
            <a:chExt cx="2887180" cy="1310640"/>
          </a:xfrm>
        </p:grpSpPr>
        <p:sp>
          <p:nvSpPr>
            <p:cNvPr name="Freeform 38" id="38"/>
            <p:cNvSpPr/>
            <p:nvPr/>
          </p:nvSpPr>
          <p:spPr>
            <a:xfrm flipH="false" flipV="false" rot="0">
              <a:off x="0" y="0"/>
              <a:ext cx="2887218" cy="1310640"/>
            </a:xfrm>
            <a:custGeom>
              <a:avLst/>
              <a:gdLst/>
              <a:ahLst/>
              <a:cxnLst/>
              <a:rect r="r" b="b" t="t" l="l"/>
              <a:pathLst>
                <a:path h="1310640" w="2887218">
                  <a:moveTo>
                    <a:pt x="152400" y="0"/>
                  </a:moveTo>
                  <a:lnTo>
                    <a:pt x="2734818" y="0"/>
                  </a:lnTo>
                  <a:cubicBezTo>
                    <a:pt x="2819019" y="0"/>
                    <a:pt x="2887218" y="68199"/>
                    <a:pt x="2887218" y="152400"/>
                  </a:cubicBezTo>
                  <a:lnTo>
                    <a:pt x="2887218" y="1158240"/>
                  </a:lnTo>
                  <a:cubicBezTo>
                    <a:pt x="2887218" y="1242441"/>
                    <a:pt x="2819019" y="1310640"/>
                    <a:pt x="2734818" y="1310640"/>
                  </a:cubicBezTo>
                  <a:lnTo>
                    <a:pt x="152400" y="1310640"/>
                  </a:lnTo>
                  <a:cubicBezTo>
                    <a:pt x="68199" y="1310640"/>
                    <a:pt x="0" y="1242441"/>
                    <a:pt x="0" y="1158240"/>
                  </a:cubicBezTo>
                  <a:lnTo>
                    <a:pt x="0" y="152400"/>
                  </a:lnTo>
                  <a:cubicBezTo>
                    <a:pt x="0" y="68199"/>
                    <a:pt x="68199" y="0"/>
                    <a:pt x="152400" y="0"/>
                  </a:cubicBezTo>
                  <a:close/>
                </a:path>
              </a:pathLst>
            </a:custGeom>
            <a:solidFill>
              <a:srgbClr val="0F2A22"/>
            </a:solidFill>
          </p:spPr>
        </p:sp>
        <p:sp>
          <p:nvSpPr>
            <p:cNvPr name="TextBox 39" id="39"/>
            <p:cNvSpPr txBox="true"/>
            <p:nvPr/>
          </p:nvSpPr>
          <p:spPr>
            <a:xfrm>
              <a:off x="0" y="-28575"/>
              <a:ext cx="2887180" cy="1339215"/>
            </a:xfrm>
            <a:prstGeom prst="rect">
              <a:avLst/>
            </a:prstGeom>
          </p:spPr>
          <p:txBody>
            <a:bodyPr anchor="t" rtlCol="false" tIns="50800" lIns="50800" bIns="50800" rIns="50800"/>
            <a:lstStyle/>
            <a:p>
              <a:pPr algn="ctr">
                <a:lnSpc>
                  <a:spcPts val="2520"/>
                </a:lnSpc>
              </a:pPr>
              <a:r>
                <a:rPr lang="en-US" sz="1800" b="true">
                  <a:solidFill>
                    <a:srgbClr val="F5F6F0"/>
                  </a:solidFill>
                  <a:latin typeface="Nunito Sans Bold"/>
                  <a:ea typeface="Nunito Sans Bold"/>
                  <a:cs typeface="Nunito Sans Bold"/>
                  <a:sym typeface="Nunito Sans Bold"/>
                </a:rPr>
                <a:t>Imagen</a:t>
              </a:r>
            </a:p>
            <a:p>
              <a:pPr algn="ctr">
                <a:lnSpc>
                  <a:spcPts val="2520"/>
                </a:lnSpc>
              </a:pPr>
              <a:r>
                <a:rPr lang="en-US" sz="1800" b="true">
                  <a:solidFill>
                    <a:srgbClr val="F5F6F0"/>
                  </a:solidFill>
                  <a:latin typeface="Nunito Sans Bold"/>
                  <a:ea typeface="Nunito Sans Bold"/>
                  <a:cs typeface="Nunito Sans Bold"/>
                  <a:sym typeface="Nunito Sans Bold"/>
                </a:rPr>
                <a:t>Trivy</a:t>
              </a:r>
            </a:p>
          </p:txBody>
        </p:sp>
      </p:grpSp>
      <p:grpSp>
        <p:nvGrpSpPr>
          <p:cNvPr name="Group 40" id="40"/>
          <p:cNvGrpSpPr/>
          <p:nvPr/>
        </p:nvGrpSpPr>
        <p:grpSpPr>
          <a:xfrm rot="0">
            <a:off x="14446215" y="5939800"/>
            <a:ext cx="342900" cy="228600"/>
            <a:chOff x="0" y="0"/>
            <a:chExt cx="457200" cy="304800"/>
          </a:xfrm>
        </p:grpSpPr>
        <p:sp>
          <p:nvSpPr>
            <p:cNvPr name="Freeform 41" id="41" descr="arrow-right"/>
            <p:cNvSpPr/>
            <p:nvPr/>
          </p:nvSpPr>
          <p:spPr>
            <a:xfrm flipH="false" flipV="false" rot="0">
              <a:off x="0" y="0"/>
              <a:ext cx="457200" cy="304800"/>
            </a:xfrm>
            <a:custGeom>
              <a:avLst/>
              <a:gdLst/>
              <a:ahLst/>
              <a:cxnLst/>
              <a:rect r="r" b="b" t="t" l="l"/>
              <a:pathLst>
                <a:path h="304800" w="457200">
                  <a:moveTo>
                    <a:pt x="0" y="0"/>
                  </a:moveTo>
                  <a:lnTo>
                    <a:pt x="457200" y="0"/>
                  </a:lnTo>
                  <a:lnTo>
                    <a:pt x="457200" y="304800"/>
                  </a:lnTo>
                  <a:lnTo>
                    <a:pt x="0" y="304800"/>
                  </a:lnTo>
                  <a:lnTo>
                    <a:pt x="0" y="0"/>
                  </a:lnTo>
                  <a:close/>
                </a:path>
              </a:pathLst>
            </a:custGeom>
            <a:blipFill>
              <a:blip r:embed="rId3"/>
              <a:stretch>
                <a:fillRect l="0" t="0" r="0" b="0"/>
              </a:stretch>
            </a:blipFill>
          </p:spPr>
        </p:sp>
      </p:grpSp>
      <p:grpSp>
        <p:nvGrpSpPr>
          <p:cNvPr name="Group 42" id="42"/>
          <p:cNvGrpSpPr/>
          <p:nvPr/>
        </p:nvGrpSpPr>
        <p:grpSpPr>
          <a:xfrm rot="0">
            <a:off x="14903415" y="5562600"/>
            <a:ext cx="2165385" cy="982980"/>
            <a:chOff x="0" y="0"/>
            <a:chExt cx="2887180" cy="1310640"/>
          </a:xfrm>
        </p:grpSpPr>
        <p:sp>
          <p:nvSpPr>
            <p:cNvPr name="Freeform 43" id="43"/>
            <p:cNvSpPr/>
            <p:nvPr/>
          </p:nvSpPr>
          <p:spPr>
            <a:xfrm flipH="false" flipV="false" rot="0">
              <a:off x="0" y="0"/>
              <a:ext cx="2887218" cy="1310640"/>
            </a:xfrm>
            <a:custGeom>
              <a:avLst/>
              <a:gdLst/>
              <a:ahLst/>
              <a:cxnLst/>
              <a:rect r="r" b="b" t="t" l="l"/>
              <a:pathLst>
                <a:path h="1310640" w="2887218">
                  <a:moveTo>
                    <a:pt x="152400" y="0"/>
                  </a:moveTo>
                  <a:lnTo>
                    <a:pt x="2734818" y="0"/>
                  </a:lnTo>
                  <a:cubicBezTo>
                    <a:pt x="2819019" y="0"/>
                    <a:pt x="2887218" y="68199"/>
                    <a:pt x="2887218" y="152400"/>
                  </a:cubicBezTo>
                  <a:lnTo>
                    <a:pt x="2887218" y="1158240"/>
                  </a:lnTo>
                  <a:cubicBezTo>
                    <a:pt x="2887218" y="1242441"/>
                    <a:pt x="2819019" y="1310640"/>
                    <a:pt x="2734818" y="1310640"/>
                  </a:cubicBezTo>
                  <a:lnTo>
                    <a:pt x="152400" y="1310640"/>
                  </a:lnTo>
                  <a:cubicBezTo>
                    <a:pt x="68199" y="1310640"/>
                    <a:pt x="0" y="1242441"/>
                    <a:pt x="0" y="1158240"/>
                  </a:cubicBezTo>
                  <a:lnTo>
                    <a:pt x="0" y="152400"/>
                  </a:lnTo>
                  <a:cubicBezTo>
                    <a:pt x="0" y="68199"/>
                    <a:pt x="68199" y="0"/>
                    <a:pt x="152400" y="0"/>
                  </a:cubicBezTo>
                  <a:close/>
                </a:path>
              </a:pathLst>
            </a:custGeom>
            <a:solidFill>
              <a:srgbClr val="137A41"/>
            </a:solidFill>
          </p:spPr>
        </p:sp>
        <p:sp>
          <p:nvSpPr>
            <p:cNvPr name="TextBox 44" id="44"/>
            <p:cNvSpPr txBox="true"/>
            <p:nvPr/>
          </p:nvSpPr>
          <p:spPr>
            <a:xfrm>
              <a:off x="0" y="-28575"/>
              <a:ext cx="2887180" cy="1339215"/>
            </a:xfrm>
            <a:prstGeom prst="rect">
              <a:avLst/>
            </a:prstGeom>
          </p:spPr>
          <p:txBody>
            <a:bodyPr anchor="t" rtlCol="false" tIns="50800" lIns="50800" bIns="50800" rIns="50800"/>
            <a:lstStyle/>
            <a:p>
              <a:pPr algn="ctr">
                <a:lnSpc>
                  <a:spcPts val="2520"/>
                </a:lnSpc>
              </a:pPr>
              <a:r>
                <a:rPr lang="en-US" sz="1800" b="true">
                  <a:solidFill>
                    <a:srgbClr val="F5F6F0"/>
                  </a:solidFill>
                  <a:latin typeface="Nunito Sans Bold"/>
                  <a:ea typeface="Nunito Sans Bold"/>
                  <a:cs typeface="Nunito Sans Bold"/>
                  <a:sym typeface="Nunito Sans Bold"/>
                </a:rPr>
                <a:t>Despliegue</a:t>
              </a:r>
            </a:p>
            <a:p>
              <a:pPr algn="ctr">
                <a:lnSpc>
                  <a:spcPts val="2520"/>
                </a:lnSpc>
              </a:pPr>
              <a:r>
                <a:rPr lang="en-US" sz="1800" b="true">
                  <a:solidFill>
                    <a:srgbClr val="F5F6F0"/>
                  </a:solidFill>
                  <a:latin typeface="Nunito Sans Bold"/>
                  <a:ea typeface="Nunito Sans Bold"/>
                  <a:cs typeface="Nunito Sans Bold"/>
                  <a:sym typeface="Nunito Sans Bold"/>
                </a:rPr>
                <a:t>test / main</a:t>
              </a:r>
            </a:p>
          </p:txBody>
        </p:sp>
      </p:grpSp>
      <p:sp>
        <p:nvSpPr>
          <p:cNvPr name="TextBox 45" id="45"/>
          <p:cNvSpPr txBox="true"/>
          <p:nvPr/>
        </p:nvSpPr>
        <p:spPr>
          <a:xfrm rot="0">
            <a:off x="1219200" y="9328785"/>
            <a:ext cx="16325088" cy="386715"/>
          </a:xfrm>
          <a:prstGeom prst="rect">
            <a:avLst/>
          </a:prstGeom>
        </p:spPr>
        <p:txBody>
          <a:bodyPr anchor="t" rtlCol="false" tIns="0" lIns="0" bIns="0" rIns="0">
            <a:spAutoFit/>
          </a:bodyPr>
          <a:lstStyle/>
          <a:p>
            <a:pPr algn="l">
              <a:lnSpc>
                <a:spcPts val="2520"/>
              </a:lnSpc>
            </a:pPr>
            <a:r>
              <a:rPr lang="en-US" sz="1800">
                <a:solidFill>
                  <a:srgbClr val="4A5A52"/>
                </a:solidFill>
                <a:latin typeface="Nunito Sans"/>
                <a:ea typeface="Nunito Sans"/>
                <a:cs typeface="Nunito Sans"/>
                <a:sym typeface="Nunito Sans"/>
              </a:rPr>
              <a:t>Cada etapa avisa por Telegram · producción solo con aprobación manual · detalle en el documento técnico</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REQUISITOS</a:t>
            </a:r>
          </a:p>
        </p:txBody>
      </p:sp>
      <p:sp>
        <p:nvSpPr>
          <p:cNvPr name="TextBox 3" id="3"/>
          <p:cNvSpPr txBox="true"/>
          <p:nvPr/>
        </p:nvSpPr>
        <p:spPr>
          <a:xfrm rot="0">
            <a:off x="1219200" y="1756410"/>
            <a:ext cx="16325088" cy="1341120"/>
          </a:xfrm>
          <a:prstGeom prst="rect">
            <a:avLst/>
          </a:prstGeom>
        </p:spPr>
        <p:txBody>
          <a:bodyPr anchor="t" rtlCol="false" tIns="0" lIns="0" bIns="0" rIns="0">
            <a:spAutoFit/>
          </a:bodyPr>
          <a:lstStyle/>
          <a:p>
            <a:pPr algn="l">
              <a:lnSpc>
                <a:spcPts val="5280"/>
              </a:lnSpc>
            </a:pPr>
            <a:r>
              <a:rPr lang="en-US" sz="4800" b="true">
                <a:solidFill>
                  <a:srgbClr val="13261F"/>
                </a:solidFill>
                <a:latin typeface="Rubik Bold"/>
                <a:ea typeface="Rubik Bold"/>
                <a:cs typeface="Rubik Bold"/>
                <a:sym typeface="Rubik Bold"/>
              </a:rPr>
              <a:t>38 funcionales y 15 no funcionales, validados con el colegio</a:t>
            </a:r>
          </a:p>
        </p:txBody>
      </p:sp>
      <p:sp>
        <p:nvSpPr>
          <p:cNvPr name="TextBox 4" id="4"/>
          <p:cNvSpPr txBox="true"/>
          <p:nvPr/>
        </p:nvSpPr>
        <p:spPr>
          <a:xfrm rot="0">
            <a:off x="1219200" y="3411855"/>
            <a:ext cx="2266950" cy="638175"/>
          </a:xfrm>
          <a:prstGeom prst="rect">
            <a:avLst/>
          </a:prstGeom>
        </p:spPr>
        <p:txBody>
          <a:bodyPr anchor="t" rtlCol="false" tIns="0" lIns="0" bIns="0" rIns="0">
            <a:spAutoFit/>
          </a:bodyPr>
          <a:lstStyle/>
          <a:p>
            <a:pPr algn="l">
              <a:lnSpc>
                <a:spcPts val="4200"/>
              </a:lnSpc>
            </a:pPr>
            <a:r>
              <a:rPr lang="en-US" sz="3000" b="true">
                <a:solidFill>
                  <a:srgbClr val="137A41"/>
                </a:solidFill>
                <a:latin typeface="Rubik Bold"/>
                <a:ea typeface="Rubik Bold"/>
                <a:cs typeface="Rubik Bold"/>
                <a:sym typeface="Rubik Bold"/>
              </a:rPr>
              <a:t>RF-01–08</a:t>
            </a:r>
          </a:p>
        </p:txBody>
      </p:sp>
      <p:sp>
        <p:nvSpPr>
          <p:cNvPr name="TextBox 5" id="5"/>
          <p:cNvSpPr txBox="true"/>
          <p:nvPr/>
        </p:nvSpPr>
        <p:spPr>
          <a:xfrm rot="0">
            <a:off x="3600450" y="3520450"/>
            <a:ext cx="3783759" cy="449580"/>
          </a:xfrm>
          <a:prstGeom prst="rect">
            <a:avLst/>
          </a:prstGeom>
        </p:spPr>
        <p:txBody>
          <a:bodyPr anchor="t" rtlCol="false" tIns="0" lIns="0" bIns="0" rIns="0">
            <a:spAutoFit/>
          </a:bodyPr>
          <a:lstStyle/>
          <a:p>
            <a:pPr algn="l">
              <a:lnSpc>
                <a:spcPts val="2940"/>
              </a:lnSpc>
            </a:pPr>
            <a:r>
              <a:rPr lang="en-US" sz="2100">
                <a:solidFill>
                  <a:srgbClr val="13261F"/>
                </a:solidFill>
                <a:latin typeface="Nunito Sans"/>
                <a:ea typeface="Nunito Sans"/>
                <a:cs typeface="Nunito Sans"/>
                <a:sym typeface="Nunito Sans"/>
              </a:rPr>
              <a:t>Usuarios, roles y matrícula</a:t>
            </a:r>
          </a:p>
        </p:txBody>
      </p:sp>
      <p:sp>
        <p:nvSpPr>
          <p:cNvPr name="TextBox 6" id="6"/>
          <p:cNvSpPr txBox="true"/>
          <p:nvPr/>
        </p:nvSpPr>
        <p:spPr>
          <a:xfrm rot="0">
            <a:off x="1219200" y="4116705"/>
            <a:ext cx="2266950" cy="638175"/>
          </a:xfrm>
          <a:prstGeom prst="rect">
            <a:avLst/>
          </a:prstGeom>
        </p:spPr>
        <p:txBody>
          <a:bodyPr anchor="t" rtlCol="false" tIns="0" lIns="0" bIns="0" rIns="0">
            <a:spAutoFit/>
          </a:bodyPr>
          <a:lstStyle/>
          <a:p>
            <a:pPr algn="l">
              <a:lnSpc>
                <a:spcPts val="4200"/>
              </a:lnSpc>
            </a:pPr>
            <a:r>
              <a:rPr lang="en-US" sz="3000" b="true">
                <a:solidFill>
                  <a:srgbClr val="137A41"/>
                </a:solidFill>
                <a:latin typeface="Rubik Bold"/>
                <a:ea typeface="Rubik Bold"/>
                <a:cs typeface="Rubik Bold"/>
                <a:sym typeface="Rubik Bold"/>
              </a:rPr>
              <a:t>RF-09–16</a:t>
            </a:r>
          </a:p>
        </p:txBody>
      </p:sp>
      <p:sp>
        <p:nvSpPr>
          <p:cNvPr name="TextBox 7" id="7"/>
          <p:cNvSpPr txBox="true"/>
          <p:nvPr/>
        </p:nvSpPr>
        <p:spPr>
          <a:xfrm rot="0">
            <a:off x="3600450" y="4225300"/>
            <a:ext cx="3220545" cy="449580"/>
          </a:xfrm>
          <a:prstGeom prst="rect">
            <a:avLst/>
          </a:prstGeom>
        </p:spPr>
        <p:txBody>
          <a:bodyPr anchor="t" rtlCol="false" tIns="0" lIns="0" bIns="0" rIns="0">
            <a:spAutoFit/>
          </a:bodyPr>
          <a:lstStyle/>
          <a:p>
            <a:pPr algn="l">
              <a:lnSpc>
                <a:spcPts val="2940"/>
              </a:lnSpc>
            </a:pPr>
            <a:r>
              <a:rPr lang="en-US" sz="2100">
                <a:solidFill>
                  <a:srgbClr val="13261F"/>
                </a:solidFill>
                <a:latin typeface="Nunito Sans"/>
                <a:ea typeface="Nunito Sans"/>
                <a:cs typeface="Nunito Sans"/>
                <a:sym typeface="Nunito Sans"/>
              </a:rPr>
              <a:t>Planificación curricular</a:t>
            </a:r>
          </a:p>
        </p:txBody>
      </p:sp>
      <p:sp>
        <p:nvSpPr>
          <p:cNvPr name="TextBox 8" id="8"/>
          <p:cNvSpPr txBox="true"/>
          <p:nvPr/>
        </p:nvSpPr>
        <p:spPr>
          <a:xfrm rot="0">
            <a:off x="1219200" y="4821555"/>
            <a:ext cx="2266950" cy="638175"/>
          </a:xfrm>
          <a:prstGeom prst="rect">
            <a:avLst/>
          </a:prstGeom>
        </p:spPr>
        <p:txBody>
          <a:bodyPr anchor="t" rtlCol="false" tIns="0" lIns="0" bIns="0" rIns="0">
            <a:spAutoFit/>
          </a:bodyPr>
          <a:lstStyle/>
          <a:p>
            <a:pPr algn="l">
              <a:lnSpc>
                <a:spcPts val="4200"/>
              </a:lnSpc>
            </a:pPr>
            <a:r>
              <a:rPr lang="en-US" sz="3000" b="true">
                <a:solidFill>
                  <a:srgbClr val="137A41"/>
                </a:solidFill>
                <a:latin typeface="Rubik Bold"/>
                <a:ea typeface="Rubik Bold"/>
                <a:cs typeface="Rubik Bold"/>
                <a:sym typeface="Rubik Bold"/>
              </a:rPr>
              <a:t>RF-17–27</a:t>
            </a:r>
          </a:p>
        </p:txBody>
      </p:sp>
      <p:sp>
        <p:nvSpPr>
          <p:cNvPr name="TextBox 9" id="9"/>
          <p:cNvSpPr txBox="true"/>
          <p:nvPr/>
        </p:nvSpPr>
        <p:spPr>
          <a:xfrm rot="0">
            <a:off x="3600450" y="4930150"/>
            <a:ext cx="3484578" cy="449580"/>
          </a:xfrm>
          <a:prstGeom prst="rect">
            <a:avLst/>
          </a:prstGeom>
        </p:spPr>
        <p:txBody>
          <a:bodyPr anchor="t" rtlCol="false" tIns="0" lIns="0" bIns="0" rIns="0">
            <a:spAutoFit/>
          </a:bodyPr>
          <a:lstStyle/>
          <a:p>
            <a:pPr algn="l">
              <a:lnSpc>
                <a:spcPts val="2940"/>
              </a:lnSpc>
            </a:pPr>
            <a:r>
              <a:rPr lang="en-US" sz="2100">
                <a:solidFill>
                  <a:srgbClr val="13261F"/>
                </a:solidFill>
                <a:latin typeface="Nunito Sans"/>
                <a:ea typeface="Nunito Sans"/>
                <a:cs typeface="Nunito Sans"/>
                <a:sym typeface="Nunito Sans"/>
              </a:rPr>
              <a:t>Calificaciones y reportes</a:t>
            </a:r>
          </a:p>
        </p:txBody>
      </p:sp>
      <p:sp>
        <p:nvSpPr>
          <p:cNvPr name="TextBox 10" id="10"/>
          <p:cNvSpPr txBox="true"/>
          <p:nvPr/>
        </p:nvSpPr>
        <p:spPr>
          <a:xfrm rot="0">
            <a:off x="1219200" y="5526405"/>
            <a:ext cx="2266950" cy="638175"/>
          </a:xfrm>
          <a:prstGeom prst="rect">
            <a:avLst/>
          </a:prstGeom>
        </p:spPr>
        <p:txBody>
          <a:bodyPr anchor="t" rtlCol="false" tIns="0" lIns="0" bIns="0" rIns="0">
            <a:spAutoFit/>
          </a:bodyPr>
          <a:lstStyle/>
          <a:p>
            <a:pPr algn="l">
              <a:lnSpc>
                <a:spcPts val="4200"/>
              </a:lnSpc>
            </a:pPr>
            <a:r>
              <a:rPr lang="en-US" sz="3000" b="true">
                <a:solidFill>
                  <a:srgbClr val="137A41"/>
                </a:solidFill>
                <a:latin typeface="Rubik Bold"/>
                <a:ea typeface="Rubik Bold"/>
                <a:cs typeface="Rubik Bold"/>
                <a:sym typeface="Rubik Bold"/>
              </a:rPr>
              <a:t>RF-28–38</a:t>
            </a:r>
          </a:p>
        </p:txBody>
      </p:sp>
      <p:sp>
        <p:nvSpPr>
          <p:cNvPr name="TextBox 11" id="11"/>
          <p:cNvSpPr txBox="true"/>
          <p:nvPr/>
        </p:nvSpPr>
        <p:spPr>
          <a:xfrm rot="0">
            <a:off x="3600450" y="5635000"/>
            <a:ext cx="4265533" cy="449580"/>
          </a:xfrm>
          <a:prstGeom prst="rect">
            <a:avLst/>
          </a:prstGeom>
        </p:spPr>
        <p:txBody>
          <a:bodyPr anchor="t" rtlCol="false" tIns="0" lIns="0" bIns="0" rIns="0">
            <a:spAutoFit/>
          </a:bodyPr>
          <a:lstStyle/>
          <a:p>
            <a:pPr algn="l">
              <a:lnSpc>
                <a:spcPts val="2940"/>
              </a:lnSpc>
            </a:pPr>
            <a:r>
              <a:rPr lang="en-US" sz="2100">
                <a:solidFill>
                  <a:srgbClr val="13261F"/>
                </a:solidFill>
                <a:latin typeface="Nunito Sans"/>
                <a:ea typeface="Nunito Sans"/>
                <a:cs typeface="Nunito Sans"/>
                <a:sym typeface="Nunito Sans"/>
              </a:rPr>
              <a:t>Comunicación y notificaciones</a:t>
            </a:r>
          </a:p>
        </p:txBody>
      </p:sp>
      <p:sp>
        <p:nvSpPr>
          <p:cNvPr name="TextBox 12" id="12"/>
          <p:cNvSpPr txBox="true"/>
          <p:nvPr/>
        </p:nvSpPr>
        <p:spPr>
          <a:xfrm rot="0">
            <a:off x="1219200" y="6337935"/>
            <a:ext cx="2266950" cy="638175"/>
          </a:xfrm>
          <a:prstGeom prst="rect">
            <a:avLst/>
          </a:prstGeom>
        </p:spPr>
        <p:txBody>
          <a:bodyPr anchor="t" rtlCol="false" tIns="0" lIns="0" bIns="0" rIns="0">
            <a:spAutoFit/>
          </a:bodyPr>
          <a:lstStyle/>
          <a:p>
            <a:pPr algn="l">
              <a:lnSpc>
                <a:spcPts val="4200"/>
              </a:lnSpc>
            </a:pPr>
            <a:r>
              <a:rPr lang="en-US" sz="3000" b="true">
                <a:solidFill>
                  <a:srgbClr val="137A41"/>
                </a:solidFill>
                <a:latin typeface="Rubik Bold"/>
                <a:ea typeface="Rubik Bold"/>
                <a:cs typeface="Rubik Bold"/>
                <a:sym typeface="Rubik Bold"/>
              </a:rPr>
              <a:t>RNF</a:t>
            </a:r>
          </a:p>
        </p:txBody>
      </p:sp>
      <p:sp>
        <p:nvSpPr>
          <p:cNvPr name="TextBox 13" id="13"/>
          <p:cNvSpPr txBox="true"/>
          <p:nvPr/>
        </p:nvSpPr>
        <p:spPr>
          <a:xfrm rot="0">
            <a:off x="3600450" y="6259830"/>
            <a:ext cx="5121212" cy="822960"/>
          </a:xfrm>
          <a:prstGeom prst="rect">
            <a:avLst/>
          </a:prstGeom>
        </p:spPr>
        <p:txBody>
          <a:bodyPr anchor="t" rtlCol="false" tIns="0" lIns="0" bIns="0" rIns="0">
            <a:spAutoFit/>
          </a:bodyPr>
          <a:lstStyle/>
          <a:p>
            <a:pPr algn="l">
              <a:lnSpc>
                <a:spcPts val="2940"/>
              </a:lnSpc>
            </a:pPr>
            <a:r>
              <a:rPr lang="en-US" sz="2100">
                <a:solidFill>
                  <a:srgbClr val="13261F"/>
                </a:solidFill>
                <a:latin typeface="Nunito Sans"/>
                <a:ea typeface="Nunito Sans"/>
                <a:cs typeface="Nunito Sans"/>
                <a:sym typeface="Nunito Sans"/>
              </a:rPr>
              <a:t>Sin conexión, exactitud, seguridad, rendimiento</a:t>
            </a:r>
          </a:p>
        </p:txBody>
      </p:sp>
      <p:grpSp>
        <p:nvGrpSpPr>
          <p:cNvPr name="Group 14" id="14"/>
          <p:cNvGrpSpPr/>
          <p:nvPr/>
        </p:nvGrpSpPr>
        <p:grpSpPr>
          <a:xfrm rot="0">
            <a:off x="8953500" y="3478530"/>
            <a:ext cx="8115300" cy="3956685"/>
            <a:chOff x="0" y="0"/>
            <a:chExt cx="10820400" cy="5275580"/>
          </a:xfrm>
        </p:grpSpPr>
        <p:sp>
          <p:nvSpPr>
            <p:cNvPr name="Freeform 15" id="15"/>
            <p:cNvSpPr/>
            <p:nvPr/>
          </p:nvSpPr>
          <p:spPr>
            <a:xfrm flipH="false" flipV="false" rot="0">
              <a:off x="0" y="0"/>
              <a:ext cx="10820400" cy="5275580"/>
            </a:xfrm>
            <a:custGeom>
              <a:avLst/>
              <a:gdLst/>
              <a:ahLst/>
              <a:cxnLst/>
              <a:rect r="r" b="b" t="t" l="l"/>
              <a:pathLst>
                <a:path h="5275580" w="10820400">
                  <a:moveTo>
                    <a:pt x="0" y="254000"/>
                  </a:moveTo>
                  <a:cubicBezTo>
                    <a:pt x="0" y="113665"/>
                    <a:pt x="113665" y="0"/>
                    <a:pt x="254000" y="0"/>
                  </a:cubicBezTo>
                  <a:lnTo>
                    <a:pt x="10566400" y="0"/>
                  </a:lnTo>
                  <a:cubicBezTo>
                    <a:pt x="10706735" y="0"/>
                    <a:pt x="10820400" y="113665"/>
                    <a:pt x="10820400" y="254000"/>
                  </a:cubicBezTo>
                  <a:lnTo>
                    <a:pt x="10820400" y="5021580"/>
                  </a:lnTo>
                  <a:cubicBezTo>
                    <a:pt x="10820400" y="5161915"/>
                    <a:pt x="10706735" y="5275580"/>
                    <a:pt x="10566400" y="5275580"/>
                  </a:cubicBezTo>
                  <a:lnTo>
                    <a:pt x="254000" y="5275580"/>
                  </a:lnTo>
                  <a:cubicBezTo>
                    <a:pt x="113665" y="5275580"/>
                    <a:pt x="0" y="5161915"/>
                    <a:pt x="0" y="5021580"/>
                  </a:cubicBezTo>
                  <a:close/>
                </a:path>
              </a:pathLst>
            </a:custGeom>
            <a:solidFill>
              <a:srgbClr val="0F2A22"/>
            </a:solidFill>
          </p:spPr>
        </p:sp>
      </p:grpSp>
      <p:sp>
        <p:nvSpPr>
          <p:cNvPr name="TextBox 16" id="16"/>
          <p:cNvSpPr txBox="true"/>
          <p:nvPr/>
        </p:nvSpPr>
        <p:spPr>
          <a:xfrm rot="0">
            <a:off x="9334500" y="3859530"/>
            <a:ext cx="7573899" cy="426720"/>
          </a:xfrm>
          <a:prstGeom prst="rect">
            <a:avLst/>
          </a:prstGeom>
        </p:spPr>
        <p:txBody>
          <a:bodyPr anchor="t" rtlCol="false" tIns="0" lIns="0" bIns="0" rIns="0">
            <a:spAutoFit/>
          </a:bodyPr>
          <a:lstStyle/>
          <a:p>
            <a:pPr algn="l">
              <a:lnSpc>
                <a:spcPts val="3060"/>
              </a:lnSpc>
            </a:pPr>
            <a:r>
              <a:rPr lang="en-US" sz="2550" b="true">
                <a:solidFill>
                  <a:srgbClr val="4ADE80"/>
                </a:solidFill>
                <a:latin typeface="Nunito Sans Bold"/>
                <a:ea typeface="Nunito Sans Bold"/>
                <a:cs typeface="Nunito Sans Bold"/>
                <a:sym typeface="Nunito Sans Bold"/>
              </a:rPr>
              <a:t>Requisitos de la novedad</a:t>
            </a:r>
          </a:p>
        </p:txBody>
      </p:sp>
      <p:sp>
        <p:nvSpPr>
          <p:cNvPr name="TextBox 17" id="17"/>
          <p:cNvSpPr txBox="true"/>
          <p:nvPr/>
        </p:nvSpPr>
        <p:spPr>
          <a:xfrm rot="0">
            <a:off x="9334500" y="4343400"/>
            <a:ext cx="7573899" cy="410528"/>
          </a:xfrm>
          <a:prstGeom prst="rect">
            <a:avLst/>
          </a:prstGeom>
        </p:spPr>
        <p:txBody>
          <a:bodyPr anchor="t" rtlCol="false" tIns="0" lIns="0" bIns="0" rIns="0">
            <a:spAutoFit/>
          </a:bodyPr>
          <a:lstStyle/>
          <a:p>
            <a:pPr algn="l">
              <a:lnSpc>
                <a:spcPts val="2632"/>
              </a:lnSpc>
            </a:pPr>
            <a:r>
              <a:rPr lang="en-US" sz="1950" b="true">
                <a:solidFill>
                  <a:srgbClr val="F5F6F0"/>
                </a:solidFill>
                <a:latin typeface="Nunito Sans Bold"/>
                <a:ea typeface="Nunito Sans Bold"/>
                <a:cs typeface="Nunito Sans Bold"/>
                <a:sym typeface="Nunito Sans Bold"/>
              </a:rPr>
              <a:t>RF-29</a:t>
            </a:r>
            <a:r>
              <a:rPr lang="en-US" sz="1950">
                <a:solidFill>
                  <a:srgbClr val="F5F6F0"/>
                </a:solidFill>
                <a:latin typeface="Nunito Sans"/>
                <a:ea typeface="Nunito Sans"/>
                <a:cs typeface="Nunito Sans"/>
                <a:sym typeface="Nunito Sans"/>
              </a:rPr>
              <a:t> Número y autorización del representante</a:t>
            </a:r>
          </a:p>
        </p:txBody>
      </p:sp>
      <p:sp>
        <p:nvSpPr>
          <p:cNvPr name="TextBox 18" id="18"/>
          <p:cNvSpPr txBox="true"/>
          <p:nvPr/>
        </p:nvSpPr>
        <p:spPr>
          <a:xfrm rot="0">
            <a:off x="9334500" y="4811087"/>
            <a:ext cx="7573899" cy="410528"/>
          </a:xfrm>
          <a:prstGeom prst="rect">
            <a:avLst/>
          </a:prstGeom>
        </p:spPr>
        <p:txBody>
          <a:bodyPr anchor="t" rtlCol="false" tIns="0" lIns="0" bIns="0" rIns="0">
            <a:spAutoFit/>
          </a:bodyPr>
          <a:lstStyle/>
          <a:p>
            <a:pPr algn="l">
              <a:lnSpc>
                <a:spcPts val="2632"/>
              </a:lnSpc>
            </a:pPr>
            <a:r>
              <a:rPr lang="en-US" sz="1950" b="true">
                <a:solidFill>
                  <a:srgbClr val="F5F6F0"/>
                </a:solidFill>
                <a:latin typeface="Nunito Sans Bold"/>
                <a:ea typeface="Nunito Sans Bold"/>
                <a:cs typeface="Nunito Sans Bold"/>
                <a:sym typeface="Nunito Sans Bold"/>
              </a:rPr>
              <a:t>RF-30 / 31</a:t>
            </a:r>
            <a:r>
              <a:rPr lang="en-US" sz="1950">
                <a:solidFill>
                  <a:srgbClr val="F5F6F0"/>
                </a:solidFill>
                <a:latin typeface="Nunito Sans"/>
                <a:ea typeface="Nunito Sans"/>
                <a:cs typeface="Nunito Sans"/>
                <a:sym typeface="Nunito Sans"/>
              </a:rPr>
              <a:t> Aviso por promedio menor a 7 y por falta</a:t>
            </a:r>
          </a:p>
        </p:txBody>
      </p:sp>
      <p:sp>
        <p:nvSpPr>
          <p:cNvPr name="TextBox 19" id="19"/>
          <p:cNvSpPr txBox="true"/>
          <p:nvPr/>
        </p:nvSpPr>
        <p:spPr>
          <a:xfrm rot="0">
            <a:off x="9334500" y="5278755"/>
            <a:ext cx="7573899" cy="410528"/>
          </a:xfrm>
          <a:prstGeom prst="rect">
            <a:avLst/>
          </a:prstGeom>
        </p:spPr>
        <p:txBody>
          <a:bodyPr anchor="t" rtlCol="false" tIns="0" lIns="0" bIns="0" rIns="0">
            <a:spAutoFit/>
          </a:bodyPr>
          <a:lstStyle/>
          <a:p>
            <a:pPr algn="l">
              <a:lnSpc>
                <a:spcPts val="2632"/>
              </a:lnSpc>
            </a:pPr>
            <a:r>
              <a:rPr lang="en-US" sz="1950" b="true">
                <a:solidFill>
                  <a:srgbClr val="F5F6F0"/>
                </a:solidFill>
                <a:latin typeface="Nunito Sans Bold"/>
                <a:ea typeface="Nunito Sans Bold"/>
                <a:cs typeface="Nunito Sans Bold"/>
                <a:sym typeface="Nunito Sans Bold"/>
              </a:rPr>
              <a:t>RF-33</a:t>
            </a:r>
            <a:r>
              <a:rPr lang="en-US" sz="1950">
                <a:solidFill>
                  <a:srgbClr val="F5F6F0"/>
                </a:solidFill>
                <a:latin typeface="Nunito Sans"/>
                <a:ea typeface="Nunito Sans"/>
                <a:cs typeface="Nunito Sans"/>
                <a:sym typeface="Nunito Sans"/>
              </a:rPr>
              <a:t> Historial con estado de entrega</a:t>
            </a:r>
          </a:p>
        </p:txBody>
      </p:sp>
      <p:sp>
        <p:nvSpPr>
          <p:cNvPr name="TextBox 20" id="20"/>
          <p:cNvSpPr txBox="true"/>
          <p:nvPr/>
        </p:nvSpPr>
        <p:spPr>
          <a:xfrm rot="0">
            <a:off x="9334500" y="5746432"/>
            <a:ext cx="7573899" cy="410528"/>
          </a:xfrm>
          <a:prstGeom prst="rect">
            <a:avLst/>
          </a:prstGeom>
        </p:spPr>
        <p:txBody>
          <a:bodyPr anchor="t" rtlCol="false" tIns="0" lIns="0" bIns="0" rIns="0">
            <a:spAutoFit/>
          </a:bodyPr>
          <a:lstStyle/>
          <a:p>
            <a:pPr algn="l">
              <a:lnSpc>
                <a:spcPts val="2632"/>
              </a:lnSpc>
            </a:pPr>
            <a:r>
              <a:rPr lang="en-US" sz="1950" b="true">
                <a:solidFill>
                  <a:srgbClr val="F5F6F0"/>
                </a:solidFill>
                <a:latin typeface="Nunito Sans Bold"/>
                <a:ea typeface="Nunito Sans Bold"/>
                <a:cs typeface="Nunito Sans Bold"/>
                <a:sym typeface="Nunito Sans Bold"/>
              </a:rPr>
              <a:t>RF-34</a:t>
            </a:r>
            <a:r>
              <a:rPr lang="en-US" sz="1950">
                <a:solidFill>
                  <a:srgbClr val="F5F6F0"/>
                </a:solidFill>
                <a:latin typeface="Nunito Sans"/>
                <a:ea typeface="Nunito Sans"/>
                <a:cs typeface="Nunito Sans"/>
                <a:sym typeface="Nunito Sans"/>
              </a:rPr>
              <a:t> Sin duplicados ni envíos no autorizados</a:t>
            </a:r>
          </a:p>
        </p:txBody>
      </p:sp>
      <p:sp>
        <p:nvSpPr>
          <p:cNvPr name="TextBox 21" id="21"/>
          <p:cNvSpPr txBox="true"/>
          <p:nvPr/>
        </p:nvSpPr>
        <p:spPr>
          <a:xfrm rot="0">
            <a:off x="9334500" y="6214110"/>
            <a:ext cx="7573899" cy="410528"/>
          </a:xfrm>
          <a:prstGeom prst="rect">
            <a:avLst/>
          </a:prstGeom>
        </p:spPr>
        <p:txBody>
          <a:bodyPr anchor="t" rtlCol="false" tIns="0" lIns="0" bIns="0" rIns="0">
            <a:spAutoFit/>
          </a:bodyPr>
          <a:lstStyle/>
          <a:p>
            <a:pPr algn="l">
              <a:lnSpc>
                <a:spcPts val="2632"/>
              </a:lnSpc>
            </a:pPr>
            <a:r>
              <a:rPr lang="en-US" sz="1950" b="true">
                <a:solidFill>
                  <a:srgbClr val="F5F6F0"/>
                </a:solidFill>
                <a:latin typeface="Nunito Sans Bold"/>
                <a:ea typeface="Nunito Sans Bold"/>
                <a:cs typeface="Nunito Sans Bold"/>
                <a:sym typeface="Nunito Sans Bold"/>
              </a:rPr>
              <a:t>RF-35</a:t>
            </a:r>
            <a:r>
              <a:rPr lang="en-US" sz="1950">
                <a:solidFill>
                  <a:srgbClr val="F5F6F0"/>
                </a:solidFill>
                <a:latin typeface="Nunito Sans"/>
                <a:ea typeface="Nunito Sans"/>
                <a:cs typeface="Nunito Sans"/>
                <a:sym typeface="Nunito Sans"/>
              </a:rPr>
              <a:t> Cola de avisos sin conexión</a:t>
            </a:r>
          </a:p>
        </p:txBody>
      </p:sp>
      <p:sp>
        <p:nvSpPr>
          <p:cNvPr name="TextBox 22" id="22"/>
          <p:cNvSpPr txBox="true"/>
          <p:nvPr/>
        </p:nvSpPr>
        <p:spPr>
          <a:xfrm rot="0">
            <a:off x="9334500" y="6681788"/>
            <a:ext cx="7573899" cy="410528"/>
          </a:xfrm>
          <a:prstGeom prst="rect">
            <a:avLst/>
          </a:prstGeom>
        </p:spPr>
        <p:txBody>
          <a:bodyPr anchor="t" rtlCol="false" tIns="0" lIns="0" bIns="0" rIns="0">
            <a:spAutoFit/>
          </a:bodyPr>
          <a:lstStyle/>
          <a:p>
            <a:pPr algn="l">
              <a:lnSpc>
                <a:spcPts val="2632"/>
              </a:lnSpc>
            </a:pPr>
            <a:r>
              <a:rPr lang="en-US" sz="1950" b="true">
                <a:solidFill>
                  <a:srgbClr val="F5F6F0"/>
                </a:solidFill>
                <a:latin typeface="Nunito Sans Bold"/>
                <a:ea typeface="Nunito Sans Bold"/>
                <a:cs typeface="Nunito Sans Bold"/>
                <a:sym typeface="Nunito Sans Bold"/>
              </a:rPr>
              <a:t>RNF-05</a:t>
            </a:r>
            <a:r>
              <a:rPr lang="en-US" sz="1950">
                <a:solidFill>
                  <a:srgbClr val="F5F6F0"/>
                </a:solidFill>
                <a:latin typeface="Nunito Sans"/>
                <a:ea typeface="Nunito Sans"/>
                <a:cs typeface="Nunito Sans"/>
                <a:sym typeface="Nunito Sans"/>
              </a:rPr>
              <a:t> Consentimiento y baja del servicio</a:t>
            </a:r>
          </a:p>
        </p:txBody>
      </p:sp>
      <p:sp>
        <p:nvSpPr>
          <p:cNvPr name="TextBox 23" id="23"/>
          <p:cNvSpPr txBox="true"/>
          <p:nvPr/>
        </p:nvSpPr>
        <p:spPr>
          <a:xfrm rot="0">
            <a:off x="1219200" y="9328785"/>
            <a:ext cx="16325088" cy="386715"/>
          </a:xfrm>
          <a:prstGeom prst="rect">
            <a:avLst/>
          </a:prstGeom>
        </p:spPr>
        <p:txBody>
          <a:bodyPr anchor="t" rtlCol="false" tIns="0" lIns="0" bIns="0" rIns="0">
            <a:spAutoFit/>
          </a:bodyPr>
          <a:lstStyle/>
          <a:p>
            <a:pPr algn="l">
              <a:lnSpc>
                <a:spcPts val="2520"/>
              </a:lnSpc>
            </a:pPr>
            <a:r>
              <a:rPr lang="en-US" sz="1800">
                <a:solidFill>
                  <a:srgbClr val="4A5A52"/>
                </a:solidFill>
                <a:latin typeface="Nunito Sans"/>
                <a:ea typeface="Nunito Sans"/>
                <a:cs typeface="Nunito Sans"/>
                <a:sym typeface="Nunito Sans"/>
              </a:rPr>
              <a:t>Fuente: SRS y Entregable 3 · priorización con la matriz de Wiegers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2429837"/>
            <a:ext cx="5494020"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CASOS DE USO</a:t>
            </a:r>
          </a:p>
        </p:txBody>
      </p:sp>
      <p:sp>
        <p:nvSpPr>
          <p:cNvPr name="TextBox 3" id="3"/>
          <p:cNvSpPr txBox="true"/>
          <p:nvPr/>
        </p:nvSpPr>
        <p:spPr>
          <a:xfrm rot="0">
            <a:off x="1219200" y="3090862"/>
            <a:ext cx="5494020" cy="1257300"/>
          </a:xfrm>
          <a:prstGeom prst="rect">
            <a:avLst/>
          </a:prstGeom>
        </p:spPr>
        <p:txBody>
          <a:bodyPr anchor="t" rtlCol="false" tIns="0" lIns="0" bIns="0" rIns="0">
            <a:spAutoFit/>
          </a:bodyPr>
          <a:lstStyle/>
          <a:p>
            <a:pPr algn="l">
              <a:lnSpc>
                <a:spcPts val="4950"/>
              </a:lnSpc>
            </a:pPr>
            <a:r>
              <a:rPr lang="en-US" sz="4500" b="true">
                <a:solidFill>
                  <a:srgbClr val="13261F"/>
                </a:solidFill>
                <a:latin typeface="Rubik Bold"/>
                <a:ea typeface="Rubik Bold"/>
                <a:cs typeface="Rubik Bold"/>
                <a:sym typeface="Rubik Bold"/>
              </a:rPr>
              <a:t>Cinco actores y un servicio externo</a:t>
            </a:r>
          </a:p>
        </p:txBody>
      </p:sp>
      <p:sp>
        <p:nvSpPr>
          <p:cNvPr name="TextBox 4" id="4"/>
          <p:cNvSpPr txBox="true"/>
          <p:nvPr/>
        </p:nvSpPr>
        <p:spPr>
          <a:xfrm rot="0">
            <a:off x="1219200" y="4500562"/>
            <a:ext cx="5494020" cy="822960"/>
          </a:xfrm>
          <a:prstGeom prst="rect">
            <a:avLst/>
          </a:prstGeom>
        </p:spPr>
        <p:txBody>
          <a:bodyPr anchor="t" rtlCol="false" tIns="0" lIns="0" bIns="0" rIns="0">
            <a:spAutoFit/>
          </a:bodyPr>
          <a:lstStyle/>
          <a:p>
            <a:pPr algn="l">
              <a:lnSpc>
                <a:spcPts val="2940"/>
              </a:lnSpc>
            </a:pPr>
            <a:r>
              <a:rPr lang="en-US" sz="2100">
                <a:solidFill>
                  <a:srgbClr val="4A5A52"/>
                </a:solidFill>
                <a:latin typeface="Nunito Sans"/>
                <a:ea typeface="Nunito Sans"/>
                <a:cs typeface="Nunito Sans"/>
                <a:sym typeface="Nunito Sans"/>
              </a:rPr>
              <a:t>En verde, los casos que agregamos para la novedad:</a:t>
            </a:r>
          </a:p>
        </p:txBody>
      </p:sp>
      <p:sp>
        <p:nvSpPr>
          <p:cNvPr name="TextBox 5" id="5"/>
          <p:cNvSpPr txBox="true"/>
          <p:nvPr/>
        </p:nvSpPr>
        <p:spPr>
          <a:xfrm rot="0">
            <a:off x="1219200" y="5485447"/>
            <a:ext cx="5494020" cy="388620"/>
          </a:xfrm>
          <a:prstGeom prst="rect">
            <a:avLst/>
          </a:prstGeom>
        </p:spPr>
        <p:txBody>
          <a:bodyPr anchor="t" rtlCol="false" tIns="0" lIns="0" bIns="0" rIns="0">
            <a:spAutoFit/>
          </a:bodyPr>
          <a:lstStyle/>
          <a:p>
            <a:pPr algn="l">
              <a:lnSpc>
                <a:spcPts val="2535"/>
              </a:lnSpc>
            </a:pPr>
            <a:r>
              <a:rPr lang="en-US" sz="1950" b="true">
                <a:solidFill>
                  <a:srgbClr val="13261F"/>
                </a:solidFill>
                <a:latin typeface="Nunito Sans Bold"/>
                <a:ea typeface="Nunito Sans Bold"/>
                <a:cs typeface="Nunito Sans Bold"/>
                <a:sym typeface="Nunito Sans Bold"/>
              </a:rPr>
              <a:t>Secretaría:</a:t>
            </a:r>
            <a:r>
              <a:rPr lang="en-US" sz="1950">
                <a:solidFill>
                  <a:srgbClr val="13261F"/>
                </a:solidFill>
                <a:latin typeface="Nunito Sans"/>
                <a:ea typeface="Nunito Sans"/>
                <a:cs typeface="Nunito Sans"/>
                <a:sym typeface="Nunito Sans"/>
              </a:rPr>
              <a:t> registra número y autorización</a:t>
            </a:r>
          </a:p>
        </p:txBody>
      </p:sp>
      <p:sp>
        <p:nvSpPr>
          <p:cNvPr name="TextBox 6" id="6"/>
          <p:cNvSpPr txBox="true"/>
          <p:nvPr/>
        </p:nvSpPr>
        <p:spPr>
          <a:xfrm rot="0">
            <a:off x="1219200" y="5902643"/>
            <a:ext cx="5494020" cy="388620"/>
          </a:xfrm>
          <a:prstGeom prst="rect">
            <a:avLst/>
          </a:prstGeom>
        </p:spPr>
        <p:txBody>
          <a:bodyPr anchor="t" rtlCol="false" tIns="0" lIns="0" bIns="0" rIns="0">
            <a:spAutoFit/>
          </a:bodyPr>
          <a:lstStyle/>
          <a:p>
            <a:pPr algn="l">
              <a:lnSpc>
                <a:spcPts val="2535"/>
              </a:lnSpc>
            </a:pPr>
            <a:r>
              <a:rPr lang="en-US" sz="1950" b="true">
                <a:solidFill>
                  <a:srgbClr val="13261F"/>
                </a:solidFill>
                <a:latin typeface="Nunito Sans Bold"/>
                <a:ea typeface="Nunito Sans Bold"/>
                <a:cs typeface="Nunito Sans Bold"/>
                <a:sym typeface="Nunito Sans Bold"/>
              </a:rPr>
              <a:t>Representante:</a:t>
            </a:r>
            <a:r>
              <a:rPr lang="en-US" sz="1950">
                <a:solidFill>
                  <a:srgbClr val="13261F"/>
                </a:solidFill>
                <a:latin typeface="Nunito Sans"/>
                <a:ea typeface="Nunito Sans"/>
                <a:cs typeface="Nunito Sans"/>
                <a:sym typeface="Nunito Sans"/>
              </a:rPr>
              <a:t> da o retira su consentimiento</a:t>
            </a:r>
          </a:p>
        </p:txBody>
      </p:sp>
      <p:sp>
        <p:nvSpPr>
          <p:cNvPr name="TextBox 7" id="7"/>
          <p:cNvSpPr txBox="true"/>
          <p:nvPr/>
        </p:nvSpPr>
        <p:spPr>
          <a:xfrm rot="0">
            <a:off x="1219200" y="6319837"/>
            <a:ext cx="5494020" cy="388620"/>
          </a:xfrm>
          <a:prstGeom prst="rect">
            <a:avLst/>
          </a:prstGeom>
        </p:spPr>
        <p:txBody>
          <a:bodyPr anchor="t" rtlCol="false" tIns="0" lIns="0" bIns="0" rIns="0">
            <a:spAutoFit/>
          </a:bodyPr>
          <a:lstStyle/>
          <a:p>
            <a:pPr algn="l">
              <a:lnSpc>
                <a:spcPts val="2535"/>
              </a:lnSpc>
            </a:pPr>
            <a:r>
              <a:rPr lang="en-US" sz="1950" b="true">
                <a:solidFill>
                  <a:srgbClr val="13261F"/>
                </a:solidFill>
                <a:latin typeface="Nunito Sans Bold"/>
                <a:ea typeface="Nunito Sans Bold"/>
                <a:cs typeface="Nunito Sans Bold"/>
                <a:sym typeface="Nunito Sans Bold"/>
              </a:rPr>
              <a:t>Docente y Admin:</a:t>
            </a:r>
            <a:r>
              <a:rPr lang="en-US" sz="1950">
                <a:solidFill>
                  <a:srgbClr val="13261F"/>
                </a:solidFill>
                <a:latin typeface="Nunito Sans"/>
                <a:ea typeface="Nunito Sans"/>
                <a:cs typeface="Nunito Sans"/>
                <a:sym typeface="Nunito Sans"/>
              </a:rPr>
              <a:t> consultan el historial</a:t>
            </a:r>
          </a:p>
        </p:txBody>
      </p:sp>
      <p:sp>
        <p:nvSpPr>
          <p:cNvPr name="TextBox 8" id="8"/>
          <p:cNvSpPr txBox="true"/>
          <p:nvPr/>
        </p:nvSpPr>
        <p:spPr>
          <a:xfrm rot="0">
            <a:off x="1219200" y="6737032"/>
            <a:ext cx="5494020" cy="388620"/>
          </a:xfrm>
          <a:prstGeom prst="rect">
            <a:avLst/>
          </a:prstGeom>
        </p:spPr>
        <p:txBody>
          <a:bodyPr anchor="t" rtlCol="false" tIns="0" lIns="0" bIns="0" rIns="0">
            <a:spAutoFit/>
          </a:bodyPr>
          <a:lstStyle/>
          <a:p>
            <a:pPr algn="l">
              <a:lnSpc>
                <a:spcPts val="2535"/>
              </a:lnSpc>
            </a:pPr>
            <a:r>
              <a:rPr lang="en-US" sz="1950" b="true">
                <a:solidFill>
                  <a:srgbClr val="13261F"/>
                </a:solidFill>
                <a:latin typeface="Nunito Sans Bold"/>
                <a:ea typeface="Nunito Sans Bold"/>
                <a:cs typeface="Nunito Sans Bold"/>
                <a:sym typeface="Nunito Sans Bold"/>
              </a:rPr>
              <a:t>Estudiante:</a:t>
            </a:r>
            <a:r>
              <a:rPr lang="en-US" sz="1950">
                <a:solidFill>
                  <a:srgbClr val="13261F"/>
                </a:solidFill>
                <a:latin typeface="Nunito Sans"/>
                <a:ea typeface="Nunito Sans"/>
                <a:cs typeface="Nunito Sans"/>
                <a:sym typeface="Nunito Sans"/>
              </a:rPr>
              <a:t> justifica la falta</a:t>
            </a:r>
          </a:p>
        </p:txBody>
      </p:sp>
      <p:sp>
        <p:nvSpPr>
          <p:cNvPr name="TextBox 9" id="9"/>
          <p:cNvSpPr txBox="true"/>
          <p:nvPr/>
        </p:nvSpPr>
        <p:spPr>
          <a:xfrm rot="0">
            <a:off x="1219200" y="7154237"/>
            <a:ext cx="5791200" cy="388620"/>
          </a:xfrm>
          <a:prstGeom prst="rect">
            <a:avLst/>
          </a:prstGeom>
        </p:spPr>
        <p:txBody>
          <a:bodyPr anchor="t" rtlCol="false" tIns="0" lIns="0" bIns="0" rIns="0">
            <a:spAutoFit/>
          </a:bodyPr>
          <a:lstStyle/>
          <a:p>
            <a:pPr algn="l">
              <a:lnSpc>
                <a:spcPts val="2535"/>
              </a:lnSpc>
            </a:pPr>
            <a:r>
              <a:rPr lang="en-US" sz="1950" b="true">
                <a:solidFill>
                  <a:srgbClr val="13261F"/>
                </a:solidFill>
                <a:latin typeface="Nunito Sans Bold"/>
                <a:ea typeface="Nunito Sans Bold"/>
                <a:cs typeface="Nunito Sans Bold"/>
                <a:sym typeface="Nunito Sans Bold"/>
              </a:rPr>
              <a:t>Sistema:</a:t>
            </a:r>
            <a:r>
              <a:rPr lang="en-US" sz="1950">
                <a:solidFill>
                  <a:srgbClr val="13261F"/>
                </a:solidFill>
                <a:latin typeface="Nunito Sans"/>
                <a:ea typeface="Nunito Sans"/>
                <a:cs typeface="Nunito Sans"/>
                <a:sym typeface="Nunito Sans"/>
              </a:rPr>
              <a:t> «extend» si promedio menor a 7 o falta</a:t>
            </a:r>
          </a:p>
        </p:txBody>
      </p:sp>
      <p:grpSp>
        <p:nvGrpSpPr>
          <p:cNvPr name="Group 10" id="10"/>
          <p:cNvGrpSpPr/>
          <p:nvPr/>
        </p:nvGrpSpPr>
        <p:grpSpPr>
          <a:xfrm rot="0">
            <a:off x="7010400" y="914400"/>
            <a:ext cx="10058400" cy="8153400"/>
            <a:chOff x="0" y="0"/>
            <a:chExt cx="13411200" cy="10871200"/>
          </a:xfrm>
        </p:grpSpPr>
        <p:sp>
          <p:nvSpPr>
            <p:cNvPr name="Freeform 11" id="11"/>
            <p:cNvSpPr/>
            <p:nvPr/>
          </p:nvSpPr>
          <p:spPr>
            <a:xfrm flipH="false" flipV="false" rot="0">
              <a:off x="0" y="0"/>
              <a:ext cx="13411200" cy="10871200"/>
            </a:xfrm>
            <a:custGeom>
              <a:avLst/>
              <a:gdLst/>
              <a:ahLst/>
              <a:cxnLst/>
              <a:rect r="r" b="b" t="t" l="l"/>
              <a:pathLst>
                <a:path h="10871200" w="13411200">
                  <a:moveTo>
                    <a:pt x="0" y="203200"/>
                  </a:moveTo>
                  <a:cubicBezTo>
                    <a:pt x="0" y="90932"/>
                    <a:pt x="90932" y="0"/>
                    <a:pt x="203200" y="0"/>
                  </a:cubicBezTo>
                  <a:lnTo>
                    <a:pt x="13208000" y="0"/>
                  </a:lnTo>
                  <a:cubicBezTo>
                    <a:pt x="13320268" y="0"/>
                    <a:pt x="13411200" y="90932"/>
                    <a:pt x="13411200" y="203200"/>
                  </a:cubicBezTo>
                  <a:lnTo>
                    <a:pt x="13411200" y="10668000"/>
                  </a:lnTo>
                  <a:cubicBezTo>
                    <a:pt x="13411200" y="10780268"/>
                    <a:pt x="13320268" y="10871200"/>
                    <a:pt x="13208000" y="10871200"/>
                  </a:cubicBezTo>
                  <a:lnTo>
                    <a:pt x="203200" y="10871200"/>
                  </a:lnTo>
                  <a:cubicBezTo>
                    <a:pt x="90932" y="10871200"/>
                    <a:pt x="0" y="10780268"/>
                    <a:pt x="0" y="10668000"/>
                  </a:cubicBezTo>
                  <a:close/>
                </a:path>
              </a:pathLst>
            </a:custGeom>
            <a:solidFill>
              <a:srgbClr val="FFFFFF"/>
            </a:solidFill>
          </p:spPr>
        </p:sp>
      </p:grpSp>
      <p:grpSp>
        <p:nvGrpSpPr>
          <p:cNvPr name="Group 12" id="12"/>
          <p:cNvGrpSpPr/>
          <p:nvPr/>
        </p:nvGrpSpPr>
        <p:grpSpPr>
          <a:xfrm rot="0">
            <a:off x="7239981" y="923925"/>
            <a:ext cx="9599247" cy="8134350"/>
            <a:chOff x="0" y="0"/>
            <a:chExt cx="12798996" cy="10845800"/>
          </a:xfrm>
        </p:grpSpPr>
        <p:sp>
          <p:nvSpPr>
            <p:cNvPr name="Freeform 13" id="13" descr="Diagrama de casos de uso con los actores Administrador, Secretaría, Docente, Estudiante, Representante y Servicio de WhatsApp, y los casos nuevos de la novedad en verde"/>
            <p:cNvSpPr/>
            <p:nvPr/>
          </p:nvSpPr>
          <p:spPr>
            <a:xfrm flipH="false" flipV="false" rot="0">
              <a:off x="0" y="0"/>
              <a:ext cx="12798933" cy="10845800"/>
            </a:xfrm>
            <a:custGeom>
              <a:avLst/>
              <a:gdLst/>
              <a:ahLst/>
              <a:cxnLst/>
              <a:rect r="r" b="b" t="t" l="l"/>
              <a:pathLst>
                <a:path h="10845800" w="12798933">
                  <a:moveTo>
                    <a:pt x="0" y="0"/>
                  </a:moveTo>
                  <a:lnTo>
                    <a:pt x="12798933" y="0"/>
                  </a:lnTo>
                  <a:lnTo>
                    <a:pt x="12798933" y="10845800"/>
                  </a:lnTo>
                  <a:lnTo>
                    <a:pt x="0" y="10845800"/>
                  </a:lnTo>
                  <a:lnTo>
                    <a:pt x="0" y="0"/>
                  </a:lnTo>
                  <a:close/>
                </a:path>
              </a:pathLst>
            </a:custGeom>
            <a:blipFill>
              <a:blip r:embed="rId3"/>
              <a:stretch>
                <a:fillRect l="0" t="0" r="0" b="0"/>
              </a:stretch>
            </a:blipFill>
          </p:spPr>
        </p:sp>
      </p:grpSp>
      <p:grpSp>
        <p:nvGrpSpPr>
          <p:cNvPr name="Group 14" id="14"/>
          <p:cNvGrpSpPr/>
          <p:nvPr/>
        </p:nvGrpSpPr>
        <p:grpSpPr>
          <a:xfrm rot="0">
            <a:off x="7010400" y="914400"/>
            <a:ext cx="10058400" cy="8153400"/>
            <a:chOff x="0" y="0"/>
            <a:chExt cx="13411200" cy="10871200"/>
          </a:xfrm>
        </p:grpSpPr>
        <p:sp>
          <p:nvSpPr>
            <p:cNvPr name="Freeform 15" id="15"/>
            <p:cNvSpPr/>
            <p:nvPr/>
          </p:nvSpPr>
          <p:spPr>
            <a:xfrm flipH="false" flipV="false" rot="0">
              <a:off x="0" y="0"/>
              <a:ext cx="13411200" cy="10871200"/>
            </a:xfrm>
            <a:custGeom>
              <a:avLst/>
              <a:gdLst/>
              <a:ahLst/>
              <a:cxnLst/>
              <a:rect r="r" b="b" t="t" l="l"/>
              <a:pathLst>
                <a:path h="10871200" w="13411200">
                  <a:moveTo>
                    <a:pt x="0" y="197104"/>
                  </a:moveTo>
                  <a:cubicBezTo>
                    <a:pt x="0" y="88265"/>
                    <a:pt x="88265" y="0"/>
                    <a:pt x="197104" y="0"/>
                  </a:cubicBezTo>
                  <a:lnTo>
                    <a:pt x="13214096" y="0"/>
                  </a:lnTo>
                  <a:cubicBezTo>
                    <a:pt x="13322936" y="0"/>
                    <a:pt x="13411200" y="88265"/>
                    <a:pt x="13411200" y="197104"/>
                  </a:cubicBezTo>
                  <a:lnTo>
                    <a:pt x="13411200" y="10674096"/>
                  </a:lnTo>
                  <a:cubicBezTo>
                    <a:pt x="13411200" y="10782935"/>
                    <a:pt x="13322936" y="10871200"/>
                    <a:pt x="13214096" y="10871200"/>
                  </a:cubicBezTo>
                  <a:lnTo>
                    <a:pt x="197104" y="10871200"/>
                  </a:lnTo>
                  <a:cubicBezTo>
                    <a:pt x="88265" y="10871200"/>
                    <a:pt x="0" y="10782935"/>
                    <a:pt x="0" y="10674096"/>
                  </a:cubicBezTo>
                  <a:close/>
                </a:path>
              </a:pathLst>
            </a:custGeom>
            <a:blipFill>
              <a:blip r:embed="rId4">
                <a:alphaModFix amt="0"/>
              </a:blip>
              <a:stretch>
                <a:fillRect l="-54003" t="0" r="-54003" b="0"/>
              </a:stretch>
            </a:blipFill>
            <a:ln w="9525" cap="sq">
              <a:solidFill>
                <a:srgbClr val="DCE3DA"/>
              </a:solidFill>
              <a:prstDash val="solid"/>
              <a:miter/>
            </a:ln>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SEGURIDAD</a:t>
            </a:r>
          </a:p>
        </p:txBody>
      </p:sp>
      <p:sp>
        <p:nvSpPr>
          <p:cNvPr name="TextBox 3" id="3"/>
          <p:cNvSpPr txBox="true"/>
          <p:nvPr/>
        </p:nvSpPr>
        <p:spPr>
          <a:xfrm rot="0">
            <a:off x="1219200" y="1756410"/>
            <a:ext cx="16325088" cy="670560"/>
          </a:xfrm>
          <a:prstGeom prst="rect">
            <a:avLst/>
          </a:prstGeom>
        </p:spPr>
        <p:txBody>
          <a:bodyPr anchor="t" rtlCol="false" tIns="0" lIns="0" bIns="0" rIns="0">
            <a:spAutoFit/>
          </a:bodyPr>
          <a:lstStyle/>
          <a:p>
            <a:pPr algn="l">
              <a:lnSpc>
                <a:spcPts val="5280"/>
              </a:lnSpc>
            </a:pPr>
            <a:r>
              <a:rPr lang="en-US" sz="4800" b="true">
                <a:solidFill>
                  <a:srgbClr val="13261F"/>
                </a:solidFill>
                <a:latin typeface="Rubik Bold"/>
                <a:ea typeface="Rubik Bold"/>
                <a:cs typeface="Rubik Bold"/>
                <a:sym typeface="Rubik Bold"/>
              </a:rPr>
              <a:t>Cinco vulnerabilidades, cada una con su control</a:t>
            </a:r>
          </a:p>
        </p:txBody>
      </p:sp>
      <p:graphicFrame>
        <p:nvGraphicFramePr>
          <p:cNvPr name="Table 4" id="4"/>
          <p:cNvGraphicFramePr>
            <a:graphicFrameLocks noGrp="true"/>
          </p:cNvGraphicFramePr>
          <p:nvPr/>
        </p:nvGraphicFramePr>
        <p:xfrm>
          <a:off x="1234440" y="2785108"/>
          <a:ext cx="15811500" cy="3200400"/>
        </p:xfrm>
        <a:graphic>
          <a:graphicData uri="http://schemas.openxmlformats.org/drawingml/2006/table">
            <a:tbl>
              <a:tblPr/>
              <a:tblGrid>
                <a:gridCol w="5375155"/>
                <a:gridCol w="2235518"/>
                <a:gridCol w="8200827"/>
              </a:tblGrid>
              <a:tr h="533400">
                <a:tc>
                  <a:txBody>
                    <a:bodyPr anchor="t" rtlCol="false"/>
                    <a:lstStyle/>
                    <a:p>
                      <a:pPr algn="l">
                        <a:lnSpc>
                          <a:spcPts val="2729"/>
                        </a:lnSpc>
                        <a:defRPr/>
                      </a:pPr>
                      <a:r>
                        <a:rPr lang="en-US" sz="1950" b="true">
                          <a:solidFill>
                            <a:srgbClr val="F5F6F0"/>
                          </a:solidFill>
                          <a:latin typeface="Nunito Sans Bold"/>
                          <a:ea typeface="Nunito Sans Bold"/>
                          <a:cs typeface="Nunito Sans Bold"/>
                          <a:sym typeface="Nunito Sans Bold"/>
                        </a:rPr>
                        <a:t>Vulnerabilidad</a:t>
                      </a:r>
                      <a:endParaRPr lang="en-US" sz="1100"/>
                    </a:p>
                  </a:txBody>
                  <a:tcPr marL="57785" marR="57785" marT="57785" marB="57785" anchor="t">
                    <a:lnL cmpd="sng" algn="ctr" cap="flat" w="12700">
                      <a:solidFill>
                        <a:srgbClr val="C4C4BF"/>
                      </a:solidFill>
                      <a:prstDash val="solid"/>
                      <a:round/>
                      <a:headEnd type="none" w="med" len="med"/>
                      <a:tailEnd type="none" w="med" len="med"/>
                    </a:lnL>
                    <a:lnR cmpd="sng" algn="ctr" cap="flat" w="12700">
                      <a:solidFill>
                        <a:srgbClr val="10251F"/>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10251F"/>
                      </a:solidFill>
                      <a:prstDash val="solid"/>
                      <a:round/>
                      <a:headEnd type="none" w="med" len="med"/>
                      <a:tailEnd type="none" w="med" len="med"/>
                    </a:lnB>
                    <a:solidFill>
                      <a:srgbClr val="0F2A22"/>
                    </a:solidFill>
                  </a:tcPr>
                </a:tc>
                <a:tc>
                  <a:txBody>
                    <a:bodyPr anchor="t" rtlCol="false"/>
                    <a:lstStyle/>
                    <a:p>
                      <a:pPr algn="l">
                        <a:lnSpc>
                          <a:spcPts val="2729"/>
                        </a:lnSpc>
                        <a:defRPr/>
                      </a:pPr>
                      <a:r>
                        <a:rPr lang="en-US" sz="1950" b="true">
                          <a:solidFill>
                            <a:srgbClr val="F5F6F0"/>
                          </a:solidFill>
                          <a:latin typeface="Nunito Sans Bold"/>
                          <a:ea typeface="Nunito Sans Bold"/>
                          <a:cs typeface="Nunito Sans Bold"/>
                          <a:sym typeface="Nunito Sans Bold"/>
                        </a:rPr>
                        <a:t>Nivel</a:t>
                      </a:r>
                      <a:endParaRPr lang="en-US" sz="1100"/>
                    </a:p>
                  </a:txBody>
                  <a:tcPr marL="57785" marR="57785" marT="57785" marB="57785" anchor="t">
                    <a:lnL cmpd="sng" algn="ctr" cap="flat" w="12700">
                      <a:solidFill>
                        <a:srgbClr val="10251F"/>
                      </a:solidFill>
                      <a:prstDash val="solid"/>
                      <a:round/>
                      <a:headEnd type="none" w="med" len="med"/>
                      <a:tailEnd type="none" w="med" len="med"/>
                    </a:lnL>
                    <a:lnR cmpd="sng" algn="ctr" cap="flat" w="12700">
                      <a:solidFill>
                        <a:srgbClr val="10251F"/>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10251F"/>
                      </a:solidFill>
                      <a:prstDash val="solid"/>
                      <a:round/>
                      <a:headEnd type="none" w="med" len="med"/>
                      <a:tailEnd type="none" w="med" len="med"/>
                    </a:lnB>
                    <a:solidFill>
                      <a:srgbClr val="0F2A22"/>
                    </a:solidFill>
                  </a:tcPr>
                </a:tc>
                <a:tc>
                  <a:txBody>
                    <a:bodyPr anchor="t" rtlCol="false"/>
                    <a:lstStyle/>
                    <a:p>
                      <a:pPr algn="l">
                        <a:lnSpc>
                          <a:spcPts val="2729"/>
                        </a:lnSpc>
                        <a:defRPr/>
                      </a:pPr>
                      <a:r>
                        <a:rPr lang="en-US" sz="1950" b="true">
                          <a:solidFill>
                            <a:srgbClr val="F5F6F0"/>
                          </a:solidFill>
                          <a:latin typeface="Nunito Sans Bold"/>
                          <a:ea typeface="Nunito Sans Bold"/>
                          <a:cs typeface="Nunito Sans Bold"/>
                          <a:sym typeface="Nunito Sans Bold"/>
                        </a:rPr>
                        <a:t>Control técnico</a:t>
                      </a:r>
                      <a:endParaRPr lang="en-US" sz="1100"/>
                    </a:p>
                  </a:txBody>
                  <a:tcPr marL="57785" marR="57785" marT="57785" marB="57785" anchor="t">
                    <a:lnL cmpd="sng" algn="ctr" cap="flat" w="12700">
                      <a:solidFill>
                        <a:srgbClr val="10251F"/>
                      </a:solidFill>
                      <a:prstDash val="solid"/>
                      <a:round/>
                      <a:headEnd type="none" w="med" len="med"/>
                      <a:tailEnd type="none" w="med" len="med"/>
                    </a:lnL>
                    <a:lnR cmpd="sng" algn="ctr" cap="flat" w="12700">
                      <a:solidFill>
                        <a:srgbClr val="10251F"/>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10251F"/>
                      </a:solidFill>
                      <a:prstDash val="solid"/>
                      <a:round/>
                      <a:headEnd type="none" w="med" len="med"/>
                      <a:tailEnd type="none" w="med" len="med"/>
                    </a:lnB>
                    <a:solidFill>
                      <a:srgbClr val="0F2A22"/>
                    </a:solidFill>
                  </a:tcPr>
                </a:tc>
              </a:tr>
              <a:tr h="533400">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V1. Datos sin cifrar en el equipo</a:t>
                      </a:r>
                      <a:endParaRPr lang="en-US" sz="1100"/>
                    </a:p>
                  </a:txBody>
                  <a:tcPr marL="57785" marR="57785" marT="57785" marB="57785"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10251F"/>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Alto</a:t>
                      </a:r>
                      <a:endParaRPr lang="en-US" sz="1100"/>
                    </a:p>
                  </a:txBody>
                  <a:tcPr marL="57785" marR="57785" marT="57785" marB="57785"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10251F"/>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Cifrado local, cierre por inactividad y borrado al salir</a:t>
                      </a:r>
                      <a:endParaRPr lang="en-US" sz="1100"/>
                    </a:p>
                  </a:txBody>
                  <a:tcPr marL="57785" marR="57785" marT="57785" marB="57785"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10251F"/>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r>
              <a:tr h="533400">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V2. Sincronización sin regla</a:t>
                      </a:r>
                      <a:endParaRPr lang="en-US" sz="1100"/>
                    </a:p>
                  </a:txBody>
                  <a:tcPr marL="57785" marR="57785" marT="57785" marB="57785" anchor="t">
                    <a:lnL cmpd="sng" algn="ctr" cap="flat" w="12700">
                      <a:solidFill>
                        <a:srgbClr val="C4C4BF"/>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Alto</a:t>
                      </a:r>
                      <a:endParaRPr lang="en-US" sz="1100"/>
                    </a:p>
                  </a:txBody>
                  <a:tcPr marL="57785" marR="57785" marT="57785" marB="57785"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Resolución por campo, versiones y registro del conflicto</a:t>
                      </a:r>
                      <a:endParaRPr lang="en-US" sz="1100"/>
                    </a:p>
                  </a:txBody>
                  <a:tcPr marL="57785" marR="57785" marT="57785" marB="57785"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r>
              <a:tr h="533400">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V3. WhatsApp sin verificar</a:t>
                      </a:r>
                      <a:endParaRPr lang="en-US" sz="1100"/>
                    </a:p>
                  </a:txBody>
                  <a:tcPr marL="57785" marR="57785" marT="57785" marB="57785" anchor="t">
                    <a:lnL cmpd="sng" algn="ctr" cap="flat" w="12700">
                      <a:solidFill>
                        <a:srgbClr val="C4C4BF"/>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Alto</a:t>
                      </a:r>
                      <a:endParaRPr lang="en-US" sz="1100"/>
                    </a:p>
                  </a:txBody>
                  <a:tcPr marL="57785" marR="57785" marT="57785" marB="57785" anchor="t">
                    <a:lnL cmpd="sng" algn="ctr" cap="flat" w="12700">
                      <a:solidFill>
                        <a:srgbClr val="AEC4B5"/>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Número verificado, autorización y plantilla sin la nota</a:t>
                      </a:r>
                      <a:endParaRPr lang="en-US" sz="1100"/>
                    </a:p>
                  </a:txBody>
                  <a:tcPr marL="57785" marR="57785" marT="57785" marB="57785" anchor="t">
                    <a:lnL cmpd="sng" algn="ctr" cap="flat" w="12700">
                      <a:solidFill>
                        <a:srgbClr val="AEC4B5"/>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r>
              <a:tr h="533400">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V4. Notas sin registro de cambios</a:t>
                      </a:r>
                      <a:endParaRPr lang="en-US" sz="1100"/>
                    </a:p>
                  </a:txBody>
                  <a:tcPr marL="57785" marR="57785" marT="57785" marB="57785" anchor="t">
                    <a:lnL cmpd="sng" algn="ctr" cap="flat" w="12700">
                      <a:solidFill>
                        <a:srgbClr val="C4C4BF"/>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Medio</a:t>
                      </a:r>
                      <a:endParaRPr lang="en-US" sz="1100"/>
                    </a:p>
                  </a:txBody>
                  <a:tcPr marL="57785" marR="57785" marT="57785" marB="57785"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Auditoría (quién, cuándo, valor anterior) y bloqueo por trimestre</a:t>
                      </a:r>
                      <a:endParaRPr lang="en-US" sz="1100"/>
                    </a:p>
                  </a:txBody>
                  <a:tcPr marL="57785" marR="57785" marT="57785" marB="57785"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r>
              <a:tr h="533400">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V5. Sin límite de peticiones</a:t>
                      </a:r>
                      <a:endParaRPr lang="en-US" sz="1100"/>
                    </a:p>
                  </a:txBody>
                  <a:tcPr marL="57785" marR="57785" marT="57785" marB="57785"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Alto</a:t>
                      </a:r>
                      <a:endParaRPr lang="en-US" sz="1100"/>
                    </a:p>
                  </a:txBody>
                  <a:tcPr marL="57785" marR="57785" marT="57785" marB="57785"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729"/>
                        </a:lnSpc>
                        <a:defRPr/>
                      </a:pPr>
                      <a:r>
                        <a:rPr lang="en-US" sz="1950">
                          <a:solidFill>
                            <a:srgbClr val="13261F"/>
                          </a:solidFill>
                          <a:latin typeface="Nunito Sans"/>
                          <a:ea typeface="Nunito Sans"/>
                          <a:cs typeface="Nunito Sans"/>
                          <a:sym typeface="Nunito Sans"/>
                        </a:rPr>
                        <a:t>Rate limiting por IP y usuario en el API Gateway</a:t>
                      </a:r>
                      <a:endParaRPr lang="en-US" sz="1100"/>
                    </a:p>
                  </a:txBody>
                  <a:tcPr marL="57785" marR="57785" marT="57785" marB="57785"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r>
            </a:tbl>
          </a:graphicData>
        </a:graphic>
      </p:graphicFrame>
      <p:grpSp>
        <p:nvGrpSpPr>
          <p:cNvPr name="Group 5" id="5"/>
          <p:cNvGrpSpPr/>
          <p:nvPr/>
        </p:nvGrpSpPr>
        <p:grpSpPr>
          <a:xfrm rot="0">
            <a:off x="1219200" y="6377950"/>
            <a:ext cx="15849600" cy="1177290"/>
            <a:chOff x="0" y="0"/>
            <a:chExt cx="21132800" cy="1569720"/>
          </a:xfrm>
        </p:grpSpPr>
        <p:sp>
          <p:nvSpPr>
            <p:cNvPr name="Freeform 6" id="6"/>
            <p:cNvSpPr/>
            <p:nvPr/>
          </p:nvSpPr>
          <p:spPr>
            <a:xfrm flipH="false" flipV="false" rot="0">
              <a:off x="0" y="0"/>
              <a:ext cx="21132800" cy="1569720"/>
            </a:xfrm>
            <a:custGeom>
              <a:avLst/>
              <a:gdLst/>
              <a:ahLst/>
              <a:cxnLst/>
              <a:rect r="r" b="b" t="t" l="l"/>
              <a:pathLst>
                <a:path h="1569720" w="21132800">
                  <a:moveTo>
                    <a:pt x="0" y="203200"/>
                  </a:moveTo>
                  <a:cubicBezTo>
                    <a:pt x="0" y="90932"/>
                    <a:pt x="90932" y="0"/>
                    <a:pt x="203200" y="0"/>
                  </a:cubicBezTo>
                  <a:lnTo>
                    <a:pt x="20929600" y="0"/>
                  </a:lnTo>
                  <a:cubicBezTo>
                    <a:pt x="21041868" y="0"/>
                    <a:pt x="21132800" y="90932"/>
                    <a:pt x="21132800" y="203200"/>
                  </a:cubicBezTo>
                  <a:lnTo>
                    <a:pt x="21132800" y="1366520"/>
                  </a:lnTo>
                  <a:cubicBezTo>
                    <a:pt x="21132800" y="1478788"/>
                    <a:pt x="21041868" y="1569720"/>
                    <a:pt x="20929600" y="1569720"/>
                  </a:cubicBezTo>
                  <a:lnTo>
                    <a:pt x="203200" y="1569720"/>
                  </a:lnTo>
                  <a:cubicBezTo>
                    <a:pt x="90932" y="1569720"/>
                    <a:pt x="0" y="1478788"/>
                    <a:pt x="0" y="1366520"/>
                  </a:cubicBezTo>
                  <a:close/>
                </a:path>
              </a:pathLst>
            </a:custGeom>
            <a:solidFill>
              <a:srgbClr val="0F2A22"/>
            </a:solidFill>
          </p:spPr>
        </p:sp>
      </p:grpSp>
      <p:grpSp>
        <p:nvGrpSpPr>
          <p:cNvPr name="Group 7" id="7"/>
          <p:cNvGrpSpPr/>
          <p:nvPr/>
        </p:nvGrpSpPr>
        <p:grpSpPr>
          <a:xfrm rot="0">
            <a:off x="1524000" y="6737985"/>
            <a:ext cx="442198" cy="457200"/>
            <a:chOff x="0" y="0"/>
            <a:chExt cx="589598" cy="609600"/>
          </a:xfrm>
        </p:grpSpPr>
        <p:sp>
          <p:nvSpPr>
            <p:cNvPr name="Freeform 8" id="8" descr="Lock"/>
            <p:cNvSpPr/>
            <p:nvPr/>
          </p:nvSpPr>
          <p:spPr>
            <a:xfrm flipH="false" flipV="false" rot="0">
              <a:off x="0" y="0"/>
              <a:ext cx="589661" cy="609600"/>
            </a:xfrm>
            <a:custGeom>
              <a:avLst/>
              <a:gdLst/>
              <a:ahLst/>
              <a:cxnLst/>
              <a:rect r="r" b="b" t="t" l="l"/>
              <a:pathLst>
                <a:path h="609600" w="589661">
                  <a:moveTo>
                    <a:pt x="0" y="0"/>
                  </a:moveTo>
                  <a:lnTo>
                    <a:pt x="589661" y="0"/>
                  </a:lnTo>
                  <a:lnTo>
                    <a:pt x="589661" y="609600"/>
                  </a:lnTo>
                  <a:lnTo>
                    <a:pt x="0" y="609600"/>
                  </a:lnTo>
                  <a:lnTo>
                    <a:pt x="0" y="0"/>
                  </a:lnTo>
                  <a:close/>
                </a:path>
              </a:pathLst>
            </a:custGeom>
            <a:blipFill>
              <a:blip r:embed="rId3"/>
              <a:stretch>
                <a:fillRect l="458" t="0" r="467" b="0"/>
              </a:stretch>
            </a:blipFill>
          </p:spPr>
        </p:sp>
      </p:grpSp>
      <p:sp>
        <p:nvSpPr>
          <p:cNvPr name="TextBox 9" id="9"/>
          <p:cNvSpPr txBox="true"/>
          <p:nvPr/>
        </p:nvSpPr>
        <p:spPr>
          <a:xfrm rot="0">
            <a:off x="2194798" y="6577975"/>
            <a:ext cx="15006276" cy="786765"/>
          </a:xfrm>
          <a:prstGeom prst="rect">
            <a:avLst/>
          </a:prstGeom>
        </p:spPr>
        <p:txBody>
          <a:bodyPr anchor="t" rtlCol="false" tIns="0" lIns="0" bIns="0" rIns="0">
            <a:spAutoFit/>
          </a:bodyPr>
          <a:lstStyle/>
          <a:p>
            <a:pPr algn="l">
              <a:lnSpc>
                <a:spcPts val="2835"/>
              </a:lnSpc>
            </a:pPr>
            <a:r>
              <a:rPr lang="en-US" sz="2100">
                <a:solidFill>
                  <a:srgbClr val="F5F6F0"/>
                </a:solidFill>
                <a:latin typeface="Nunito Sans"/>
                <a:ea typeface="Nunito Sans"/>
                <a:cs typeface="Nunito Sans"/>
                <a:sym typeface="Nunito Sans"/>
              </a:rPr>
              <a:t>Además: claves con hash, bloqueo tras 3 intentos, HTTPS en todo el tráfico y Ley Orgánica de Protección de Datos Personales.</a:t>
            </a:r>
          </a:p>
        </p:txBody>
      </p:sp>
      <p:sp>
        <p:nvSpPr>
          <p:cNvPr name="TextBox 10" id="10"/>
          <p:cNvSpPr txBox="true"/>
          <p:nvPr/>
        </p:nvSpPr>
        <p:spPr>
          <a:xfrm rot="0">
            <a:off x="1219200" y="9328785"/>
            <a:ext cx="16325088" cy="386715"/>
          </a:xfrm>
          <a:prstGeom prst="rect">
            <a:avLst/>
          </a:prstGeom>
        </p:spPr>
        <p:txBody>
          <a:bodyPr anchor="t" rtlCol="false" tIns="0" lIns="0" bIns="0" rIns="0">
            <a:spAutoFit/>
          </a:bodyPr>
          <a:lstStyle/>
          <a:p>
            <a:pPr algn="l">
              <a:lnSpc>
                <a:spcPts val="2520"/>
              </a:lnSpc>
            </a:pPr>
            <a:r>
              <a:rPr lang="en-US" sz="1800">
                <a:solidFill>
                  <a:srgbClr val="4A5A52"/>
                </a:solidFill>
                <a:latin typeface="Nunito Sans"/>
                <a:ea typeface="Nunito Sans"/>
                <a:cs typeface="Nunito Sans"/>
                <a:sym typeface="Nunito Sans"/>
              </a:rPr>
              <a:t>Fuente: Taller 1.2 de vulnerabilidades y riesgos · RNF-04, RNF-12 a RNF-15</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0F2A22"/>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4ADE80"/>
                </a:solidFill>
                <a:latin typeface="Nunito Sans Bold"/>
                <a:ea typeface="Nunito Sans Bold"/>
                <a:cs typeface="Nunito Sans Bold"/>
                <a:sym typeface="Nunito Sans Bold"/>
              </a:rPr>
              <a:t>POLÍTICA MÍNIMA DE SEGURIDAD</a:t>
            </a:r>
          </a:p>
        </p:txBody>
      </p:sp>
      <p:sp>
        <p:nvSpPr>
          <p:cNvPr name="TextBox 3" id="3"/>
          <p:cNvSpPr txBox="true"/>
          <p:nvPr/>
        </p:nvSpPr>
        <p:spPr>
          <a:xfrm rot="0">
            <a:off x="1219200" y="1756410"/>
            <a:ext cx="16325088" cy="670560"/>
          </a:xfrm>
          <a:prstGeom prst="rect">
            <a:avLst/>
          </a:prstGeom>
        </p:spPr>
        <p:txBody>
          <a:bodyPr anchor="t" rtlCol="false" tIns="0" lIns="0" bIns="0" rIns="0">
            <a:spAutoFit/>
          </a:bodyPr>
          <a:lstStyle/>
          <a:p>
            <a:pPr algn="l">
              <a:lnSpc>
                <a:spcPts val="5280"/>
              </a:lnSpc>
            </a:pPr>
            <a:r>
              <a:rPr lang="en-US" sz="4800" b="true">
                <a:solidFill>
                  <a:srgbClr val="F5F6F0"/>
                </a:solidFill>
                <a:latin typeface="Rubik Bold"/>
                <a:ea typeface="Rubik Bold"/>
                <a:cs typeface="Rubik Bold"/>
                <a:sym typeface="Rubik Bold"/>
              </a:rPr>
              <a:t>Cinco reglas que el sistema cumple siempre</a:t>
            </a:r>
          </a:p>
        </p:txBody>
      </p:sp>
      <p:grpSp>
        <p:nvGrpSpPr>
          <p:cNvPr name="Group 4" id="4"/>
          <p:cNvGrpSpPr/>
          <p:nvPr/>
        </p:nvGrpSpPr>
        <p:grpSpPr>
          <a:xfrm rot="0">
            <a:off x="1219200" y="2846070"/>
            <a:ext cx="7810500" cy="1435418"/>
            <a:chOff x="0" y="0"/>
            <a:chExt cx="10414000" cy="1913890"/>
          </a:xfrm>
        </p:grpSpPr>
        <p:sp>
          <p:nvSpPr>
            <p:cNvPr name="Freeform 5" id="5"/>
            <p:cNvSpPr/>
            <p:nvPr/>
          </p:nvSpPr>
          <p:spPr>
            <a:xfrm flipH="false" flipV="false" rot="0">
              <a:off x="0" y="0"/>
              <a:ext cx="10414000" cy="1913890"/>
            </a:xfrm>
            <a:custGeom>
              <a:avLst/>
              <a:gdLst/>
              <a:ahLst/>
              <a:cxnLst/>
              <a:rect r="r" b="b" t="t" l="l"/>
              <a:pathLst>
                <a:path h="1913890" w="10414000">
                  <a:moveTo>
                    <a:pt x="0" y="228600"/>
                  </a:moveTo>
                  <a:cubicBezTo>
                    <a:pt x="0" y="102362"/>
                    <a:pt x="102362" y="0"/>
                    <a:pt x="228600" y="0"/>
                  </a:cubicBezTo>
                  <a:lnTo>
                    <a:pt x="10185400" y="0"/>
                  </a:lnTo>
                  <a:cubicBezTo>
                    <a:pt x="10311638" y="0"/>
                    <a:pt x="10414000" y="102362"/>
                    <a:pt x="10414000" y="228600"/>
                  </a:cubicBezTo>
                  <a:lnTo>
                    <a:pt x="10414000" y="1685290"/>
                  </a:lnTo>
                  <a:cubicBezTo>
                    <a:pt x="10414000" y="1811528"/>
                    <a:pt x="10311638" y="1913890"/>
                    <a:pt x="10185400" y="1913890"/>
                  </a:cubicBezTo>
                  <a:lnTo>
                    <a:pt x="228600" y="1913890"/>
                  </a:lnTo>
                  <a:cubicBezTo>
                    <a:pt x="102362" y="1913890"/>
                    <a:pt x="0" y="1811528"/>
                    <a:pt x="0" y="1685290"/>
                  </a:cubicBezTo>
                  <a:close/>
                </a:path>
              </a:pathLst>
            </a:custGeom>
            <a:solidFill>
              <a:srgbClr val="16382D"/>
            </a:solidFill>
          </p:spPr>
        </p:sp>
      </p:grpSp>
      <p:sp>
        <p:nvSpPr>
          <p:cNvPr name="TextBox 6" id="6"/>
          <p:cNvSpPr txBox="true"/>
          <p:nvPr/>
        </p:nvSpPr>
        <p:spPr>
          <a:xfrm rot="0">
            <a:off x="1524000" y="3160395"/>
            <a:ext cx="7416927" cy="394335"/>
          </a:xfrm>
          <a:prstGeom prst="rect">
            <a:avLst/>
          </a:prstGeom>
        </p:spPr>
        <p:txBody>
          <a:bodyPr anchor="t" rtlCol="false" tIns="0" lIns="0" bIns="0" rIns="0">
            <a:spAutoFit/>
          </a:bodyPr>
          <a:lstStyle/>
          <a:p>
            <a:pPr algn="l">
              <a:lnSpc>
                <a:spcPts val="2879"/>
              </a:lnSpc>
            </a:pPr>
            <a:r>
              <a:rPr lang="en-US" sz="2400" b="true">
                <a:solidFill>
                  <a:srgbClr val="4ADE80"/>
                </a:solidFill>
                <a:latin typeface="Nunito Sans Bold"/>
                <a:ea typeface="Nunito Sans Bold"/>
                <a:cs typeface="Nunito Sans Bold"/>
                <a:sym typeface="Nunito Sans Bold"/>
              </a:rPr>
              <a:t>1 · Sincronización</a:t>
            </a:r>
          </a:p>
        </p:txBody>
      </p:sp>
      <p:sp>
        <p:nvSpPr>
          <p:cNvPr name="TextBox 7" id="7"/>
          <p:cNvSpPr txBox="true"/>
          <p:nvPr/>
        </p:nvSpPr>
        <p:spPr>
          <a:xfrm rot="0">
            <a:off x="1524000" y="3573780"/>
            <a:ext cx="7416927" cy="410528"/>
          </a:xfrm>
          <a:prstGeom prst="rect">
            <a:avLst/>
          </a:prstGeom>
        </p:spPr>
        <p:txBody>
          <a:bodyPr anchor="t" rtlCol="false" tIns="0" lIns="0" bIns="0" rIns="0">
            <a:spAutoFit/>
          </a:bodyPr>
          <a:lstStyle/>
          <a:p>
            <a:pPr algn="l">
              <a:lnSpc>
                <a:spcPts val="2632"/>
              </a:lnSpc>
            </a:pPr>
            <a:r>
              <a:rPr lang="en-US" sz="1950">
                <a:solidFill>
                  <a:srgbClr val="B9CCC2"/>
                </a:solidFill>
                <a:latin typeface="Nunito Sans"/>
                <a:ea typeface="Nunito Sans"/>
                <a:cs typeface="Nunito Sans"/>
                <a:sym typeface="Nunito Sans"/>
              </a:rPr>
              <a:t>Ningún dato se sobrescribe sin dejar registro.</a:t>
            </a:r>
          </a:p>
        </p:txBody>
      </p:sp>
      <p:grpSp>
        <p:nvGrpSpPr>
          <p:cNvPr name="Group 8" id="8"/>
          <p:cNvGrpSpPr/>
          <p:nvPr/>
        </p:nvGrpSpPr>
        <p:grpSpPr>
          <a:xfrm rot="0">
            <a:off x="9258300" y="2846070"/>
            <a:ext cx="7810500" cy="1435418"/>
            <a:chOff x="0" y="0"/>
            <a:chExt cx="10414000" cy="1913890"/>
          </a:xfrm>
        </p:grpSpPr>
        <p:sp>
          <p:nvSpPr>
            <p:cNvPr name="Freeform 9" id="9"/>
            <p:cNvSpPr/>
            <p:nvPr/>
          </p:nvSpPr>
          <p:spPr>
            <a:xfrm flipH="false" flipV="false" rot="0">
              <a:off x="0" y="0"/>
              <a:ext cx="10414000" cy="1913890"/>
            </a:xfrm>
            <a:custGeom>
              <a:avLst/>
              <a:gdLst/>
              <a:ahLst/>
              <a:cxnLst/>
              <a:rect r="r" b="b" t="t" l="l"/>
              <a:pathLst>
                <a:path h="1913890" w="10414000">
                  <a:moveTo>
                    <a:pt x="0" y="218821"/>
                  </a:moveTo>
                  <a:cubicBezTo>
                    <a:pt x="0" y="97917"/>
                    <a:pt x="97917" y="0"/>
                    <a:pt x="218821" y="0"/>
                  </a:cubicBezTo>
                  <a:lnTo>
                    <a:pt x="10195179" y="0"/>
                  </a:lnTo>
                  <a:cubicBezTo>
                    <a:pt x="10316083" y="0"/>
                    <a:pt x="10414000" y="97917"/>
                    <a:pt x="10414000" y="218821"/>
                  </a:cubicBezTo>
                  <a:lnTo>
                    <a:pt x="10414000" y="1695069"/>
                  </a:lnTo>
                  <a:cubicBezTo>
                    <a:pt x="10414000" y="1815846"/>
                    <a:pt x="10316083" y="1913890"/>
                    <a:pt x="10195179" y="1913890"/>
                  </a:cubicBezTo>
                  <a:lnTo>
                    <a:pt x="218821" y="1913890"/>
                  </a:lnTo>
                  <a:cubicBezTo>
                    <a:pt x="97917" y="1913890"/>
                    <a:pt x="0" y="1815973"/>
                    <a:pt x="0" y="1695069"/>
                  </a:cubicBezTo>
                  <a:close/>
                </a:path>
              </a:pathLst>
            </a:custGeom>
            <a:solidFill>
              <a:srgbClr val="16382D"/>
            </a:solidFill>
            <a:ln w="19050" cap="sq">
              <a:solidFill>
                <a:srgbClr val="4ADE80"/>
              </a:solidFill>
              <a:prstDash val="solid"/>
              <a:miter/>
            </a:ln>
          </p:spPr>
        </p:sp>
      </p:grpSp>
      <p:sp>
        <p:nvSpPr>
          <p:cNvPr name="TextBox 10" id="10"/>
          <p:cNvSpPr txBox="true"/>
          <p:nvPr/>
        </p:nvSpPr>
        <p:spPr>
          <a:xfrm rot="0">
            <a:off x="9578340" y="3175635"/>
            <a:ext cx="7385533" cy="394335"/>
          </a:xfrm>
          <a:prstGeom prst="rect">
            <a:avLst/>
          </a:prstGeom>
        </p:spPr>
        <p:txBody>
          <a:bodyPr anchor="t" rtlCol="false" tIns="0" lIns="0" bIns="0" rIns="0">
            <a:spAutoFit/>
          </a:bodyPr>
          <a:lstStyle/>
          <a:p>
            <a:pPr algn="l">
              <a:lnSpc>
                <a:spcPts val="2879"/>
              </a:lnSpc>
            </a:pPr>
            <a:r>
              <a:rPr lang="en-US" sz="2400" b="true">
                <a:solidFill>
                  <a:srgbClr val="4ADE80"/>
                </a:solidFill>
                <a:latin typeface="Nunito Sans Bold"/>
                <a:ea typeface="Nunito Sans Bold"/>
                <a:cs typeface="Nunito Sans Bold"/>
                <a:sym typeface="Nunito Sans Bold"/>
              </a:rPr>
              <a:t>2 · Notificaciones</a:t>
            </a:r>
          </a:p>
        </p:txBody>
      </p:sp>
      <p:sp>
        <p:nvSpPr>
          <p:cNvPr name="TextBox 11" id="11"/>
          <p:cNvSpPr txBox="true"/>
          <p:nvPr/>
        </p:nvSpPr>
        <p:spPr>
          <a:xfrm rot="0">
            <a:off x="9578340" y="3589020"/>
            <a:ext cx="7471410" cy="410528"/>
          </a:xfrm>
          <a:prstGeom prst="rect">
            <a:avLst/>
          </a:prstGeom>
        </p:spPr>
        <p:txBody>
          <a:bodyPr anchor="t" rtlCol="false" tIns="0" lIns="0" bIns="0" rIns="0">
            <a:spAutoFit/>
          </a:bodyPr>
          <a:lstStyle/>
          <a:p>
            <a:pPr algn="l">
              <a:lnSpc>
                <a:spcPts val="2632"/>
              </a:lnSpc>
            </a:pPr>
            <a:r>
              <a:rPr lang="en-US" sz="1950">
                <a:solidFill>
                  <a:srgbClr val="B9CCC2"/>
                </a:solidFill>
                <a:latin typeface="Nunito Sans"/>
                <a:ea typeface="Nunito Sans"/>
                <a:cs typeface="Nunito Sans"/>
                <a:sym typeface="Nunito Sans"/>
              </a:rPr>
              <a:t>Solo a números verificados y autorizados, sin detalles de notas.</a:t>
            </a:r>
          </a:p>
        </p:txBody>
      </p:sp>
      <p:grpSp>
        <p:nvGrpSpPr>
          <p:cNvPr name="Group 12" id="12"/>
          <p:cNvGrpSpPr/>
          <p:nvPr/>
        </p:nvGrpSpPr>
        <p:grpSpPr>
          <a:xfrm rot="0">
            <a:off x="1219200" y="4510088"/>
            <a:ext cx="7810500" cy="1404938"/>
            <a:chOff x="0" y="0"/>
            <a:chExt cx="10414000" cy="1873250"/>
          </a:xfrm>
        </p:grpSpPr>
        <p:sp>
          <p:nvSpPr>
            <p:cNvPr name="Freeform 13" id="13"/>
            <p:cNvSpPr/>
            <p:nvPr/>
          </p:nvSpPr>
          <p:spPr>
            <a:xfrm flipH="false" flipV="false" rot="0">
              <a:off x="0" y="0"/>
              <a:ext cx="10414000" cy="1873250"/>
            </a:xfrm>
            <a:custGeom>
              <a:avLst/>
              <a:gdLst/>
              <a:ahLst/>
              <a:cxnLst/>
              <a:rect r="r" b="b" t="t" l="l"/>
              <a:pathLst>
                <a:path h="1873250" w="10414000">
                  <a:moveTo>
                    <a:pt x="0" y="228600"/>
                  </a:moveTo>
                  <a:cubicBezTo>
                    <a:pt x="0" y="102362"/>
                    <a:pt x="102362" y="0"/>
                    <a:pt x="228600" y="0"/>
                  </a:cubicBezTo>
                  <a:lnTo>
                    <a:pt x="10185400" y="0"/>
                  </a:lnTo>
                  <a:cubicBezTo>
                    <a:pt x="10311638" y="0"/>
                    <a:pt x="10414000" y="102362"/>
                    <a:pt x="10414000" y="228600"/>
                  </a:cubicBezTo>
                  <a:lnTo>
                    <a:pt x="10414000" y="1644650"/>
                  </a:lnTo>
                  <a:cubicBezTo>
                    <a:pt x="10414000" y="1770888"/>
                    <a:pt x="10311638" y="1873250"/>
                    <a:pt x="10185400" y="1873250"/>
                  </a:cubicBezTo>
                  <a:lnTo>
                    <a:pt x="228600" y="1873250"/>
                  </a:lnTo>
                  <a:cubicBezTo>
                    <a:pt x="102362" y="1873250"/>
                    <a:pt x="0" y="1770888"/>
                    <a:pt x="0" y="1644650"/>
                  </a:cubicBezTo>
                  <a:close/>
                </a:path>
              </a:pathLst>
            </a:custGeom>
            <a:solidFill>
              <a:srgbClr val="16382D"/>
            </a:solidFill>
          </p:spPr>
        </p:sp>
      </p:grpSp>
      <p:sp>
        <p:nvSpPr>
          <p:cNvPr name="TextBox 14" id="14"/>
          <p:cNvSpPr txBox="true"/>
          <p:nvPr/>
        </p:nvSpPr>
        <p:spPr>
          <a:xfrm rot="0">
            <a:off x="1524000" y="4824413"/>
            <a:ext cx="7416927" cy="394335"/>
          </a:xfrm>
          <a:prstGeom prst="rect">
            <a:avLst/>
          </a:prstGeom>
        </p:spPr>
        <p:txBody>
          <a:bodyPr anchor="t" rtlCol="false" tIns="0" lIns="0" bIns="0" rIns="0">
            <a:spAutoFit/>
          </a:bodyPr>
          <a:lstStyle/>
          <a:p>
            <a:pPr algn="l">
              <a:lnSpc>
                <a:spcPts val="2879"/>
              </a:lnSpc>
            </a:pPr>
            <a:r>
              <a:rPr lang="en-US" sz="2400" b="true">
                <a:solidFill>
                  <a:srgbClr val="4ADE80"/>
                </a:solidFill>
                <a:latin typeface="Nunito Sans Bold"/>
                <a:ea typeface="Nunito Sans Bold"/>
                <a:cs typeface="Nunito Sans Bold"/>
                <a:sym typeface="Nunito Sans Bold"/>
              </a:rPr>
              <a:t>3 · Auditoría</a:t>
            </a:r>
          </a:p>
        </p:txBody>
      </p:sp>
      <p:sp>
        <p:nvSpPr>
          <p:cNvPr name="TextBox 15" id="15"/>
          <p:cNvSpPr txBox="true"/>
          <p:nvPr/>
        </p:nvSpPr>
        <p:spPr>
          <a:xfrm rot="0">
            <a:off x="1524000" y="5237797"/>
            <a:ext cx="7505700" cy="410528"/>
          </a:xfrm>
          <a:prstGeom prst="rect">
            <a:avLst/>
          </a:prstGeom>
        </p:spPr>
        <p:txBody>
          <a:bodyPr anchor="t" rtlCol="false" tIns="0" lIns="0" bIns="0" rIns="0">
            <a:spAutoFit/>
          </a:bodyPr>
          <a:lstStyle/>
          <a:p>
            <a:pPr algn="l">
              <a:lnSpc>
                <a:spcPts val="2632"/>
              </a:lnSpc>
            </a:pPr>
            <a:r>
              <a:rPr lang="en-US" sz="1950">
                <a:solidFill>
                  <a:srgbClr val="B9CCC2"/>
                </a:solidFill>
                <a:latin typeface="Nunito Sans"/>
                <a:ea typeface="Nunito Sans"/>
                <a:cs typeface="Nunito Sans"/>
                <a:sym typeface="Nunito Sans"/>
              </a:rPr>
              <a:t>Todo cambio de nota o planificación registra quién, cuándo y qué.</a:t>
            </a:r>
          </a:p>
        </p:txBody>
      </p:sp>
      <p:grpSp>
        <p:nvGrpSpPr>
          <p:cNvPr name="Group 16" id="16"/>
          <p:cNvGrpSpPr/>
          <p:nvPr/>
        </p:nvGrpSpPr>
        <p:grpSpPr>
          <a:xfrm rot="0">
            <a:off x="9258300" y="4510088"/>
            <a:ext cx="7810500" cy="1404938"/>
            <a:chOff x="0" y="0"/>
            <a:chExt cx="10414000" cy="1873250"/>
          </a:xfrm>
        </p:grpSpPr>
        <p:sp>
          <p:nvSpPr>
            <p:cNvPr name="Freeform 17" id="17"/>
            <p:cNvSpPr/>
            <p:nvPr/>
          </p:nvSpPr>
          <p:spPr>
            <a:xfrm flipH="false" flipV="false" rot="0">
              <a:off x="0" y="0"/>
              <a:ext cx="10414000" cy="1873250"/>
            </a:xfrm>
            <a:custGeom>
              <a:avLst/>
              <a:gdLst/>
              <a:ahLst/>
              <a:cxnLst/>
              <a:rect r="r" b="b" t="t" l="l"/>
              <a:pathLst>
                <a:path h="1873250" w="10414000">
                  <a:moveTo>
                    <a:pt x="0" y="228600"/>
                  </a:moveTo>
                  <a:cubicBezTo>
                    <a:pt x="0" y="102362"/>
                    <a:pt x="102362" y="0"/>
                    <a:pt x="228600" y="0"/>
                  </a:cubicBezTo>
                  <a:lnTo>
                    <a:pt x="10185400" y="0"/>
                  </a:lnTo>
                  <a:cubicBezTo>
                    <a:pt x="10311638" y="0"/>
                    <a:pt x="10414000" y="102362"/>
                    <a:pt x="10414000" y="228600"/>
                  </a:cubicBezTo>
                  <a:lnTo>
                    <a:pt x="10414000" y="1644650"/>
                  </a:lnTo>
                  <a:cubicBezTo>
                    <a:pt x="10414000" y="1770888"/>
                    <a:pt x="10311638" y="1873250"/>
                    <a:pt x="10185400" y="1873250"/>
                  </a:cubicBezTo>
                  <a:lnTo>
                    <a:pt x="228600" y="1873250"/>
                  </a:lnTo>
                  <a:cubicBezTo>
                    <a:pt x="102362" y="1873250"/>
                    <a:pt x="0" y="1770888"/>
                    <a:pt x="0" y="1644650"/>
                  </a:cubicBezTo>
                  <a:close/>
                </a:path>
              </a:pathLst>
            </a:custGeom>
            <a:solidFill>
              <a:srgbClr val="16382D"/>
            </a:solidFill>
          </p:spPr>
        </p:sp>
      </p:grpSp>
      <p:sp>
        <p:nvSpPr>
          <p:cNvPr name="TextBox 18" id="18"/>
          <p:cNvSpPr txBox="true"/>
          <p:nvPr/>
        </p:nvSpPr>
        <p:spPr>
          <a:xfrm rot="0">
            <a:off x="9563100" y="4824413"/>
            <a:ext cx="7416927" cy="394335"/>
          </a:xfrm>
          <a:prstGeom prst="rect">
            <a:avLst/>
          </a:prstGeom>
        </p:spPr>
        <p:txBody>
          <a:bodyPr anchor="t" rtlCol="false" tIns="0" lIns="0" bIns="0" rIns="0">
            <a:spAutoFit/>
          </a:bodyPr>
          <a:lstStyle/>
          <a:p>
            <a:pPr algn="l">
              <a:lnSpc>
                <a:spcPts val="2879"/>
              </a:lnSpc>
            </a:pPr>
            <a:r>
              <a:rPr lang="en-US" sz="2400" b="true">
                <a:solidFill>
                  <a:srgbClr val="4ADE80"/>
                </a:solidFill>
                <a:latin typeface="Nunito Sans Bold"/>
                <a:ea typeface="Nunito Sans Bold"/>
                <a:cs typeface="Nunito Sans Bold"/>
                <a:sym typeface="Nunito Sans Bold"/>
              </a:rPr>
              <a:t>4 · Disponibilidad</a:t>
            </a:r>
          </a:p>
        </p:txBody>
      </p:sp>
      <p:sp>
        <p:nvSpPr>
          <p:cNvPr name="TextBox 19" id="19"/>
          <p:cNvSpPr txBox="true"/>
          <p:nvPr/>
        </p:nvSpPr>
        <p:spPr>
          <a:xfrm rot="0">
            <a:off x="9563100" y="5237797"/>
            <a:ext cx="7416927" cy="410528"/>
          </a:xfrm>
          <a:prstGeom prst="rect">
            <a:avLst/>
          </a:prstGeom>
        </p:spPr>
        <p:txBody>
          <a:bodyPr anchor="t" rtlCol="false" tIns="0" lIns="0" bIns="0" rIns="0">
            <a:spAutoFit/>
          </a:bodyPr>
          <a:lstStyle/>
          <a:p>
            <a:pPr algn="l">
              <a:lnSpc>
                <a:spcPts val="2632"/>
              </a:lnSpc>
            </a:pPr>
            <a:r>
              <a:rPr lang="en-US" sz="1950">
                <a:solidFill>
                  <a:srgbClr val="B9CCC2"/>
                </a:solidFill>
                <a:latin typeface="Nunito Sans"/>
                <a:ea typeface="Nunito Sans"/>
                <a:cs typeface="Nunito Sans"/>
                <a:sym typeface="Nunito Sans"/>
              </a:rPr>
              <a:t>Límite de peticiones y bloqueo temporal del origen abusivo.</a:t>
            </a:r>
          </a:p>
        </p:txBody>
      </p:sp>
      <p:grpSp>
        <p:nvGrpSpPr>
          <p:cNvPr name="Group 20" id="20"/>
          <p:cNvGrpSpPr/>
          <p:nvPr/>
        </p:nvGrpSpPr>
        <p:grpSpPr>
          <a:xfrm rot="0">
            <a:off x="1219200" y="6143625"/>
            <a:ext cx="7810500" cy="1404938"/>
            <a:chOff x="0" y="0"/>
            <a:chExt cx="10414000" cy="1873250"/>
          </a:xfrm>
        </p:grpSpPr>
        <p:sp>
          <p:nvSpPr>
            <p:cNvPr name="Freeform 21" id="21"/>
            <p:cNvSpPr/>
            <p:nvPr/>
          </p:nvSpPr>
          <p:spPr>
            <a:xfrm flipH="false" flipV="false" rot="0">
              <a:off x="0" y="0"/>
              <a:ext cx="10414000" cy="1873250"/>
            </a:xfrm>
            <a:custGeom>
              <a:avLst/>
              <a:gdLst/>
              <a:ahLst/>
              <a:cxnLst/>
              <a:rect r="r" b="b" t="t" l="l"/>
              <a:pathLst>
                <a:path h="1873250" w="10414000">
                  <a:moveTo>
                    <a:pt x="0" y="228600"/>
                  </a:moveTo>
                  <a:cubicBezTo>
                    <a:pt x="0" y="102362"/>
                    <a:pt x="102362" y="0"/>
                    <a:pt x="228600" y="0"/>
                  </a:cubicBezTo>
                  <a:lnTo>
                    <a:pt x="10185400" y="0"/>
                  </a:lnTo>
                  <a:cubicBezTo>
                    <a:pt x="10311638" y="0"/>
                    <a:pt x="10414000" y="102362"/>
                    <a:pt x="10414000" y="228600"/>
                  </a:cubicBezTo>
                  <a:lnTo>
                    <a:pt x="10414000" y="1644650"/>
                  </a:lnTo>
                  <a:cubicBezTo>
                    <a:pt x="10414000" y="1770888"/>
                    <a:pt x="10311638" y="1873250"/>
                    <a:pt x="10185400" y="1873250"/>
                  </a:cubicBezTo>
                  <a:lnTo>
                    <a:pt x="228600" y="1873250"/>
                  </a:lnTo>
                  <a:cubicBezTo>
                    <a:pt x="102362" y="1873250"/>
                    <a:pt x="0" y="1770888"/>
                    <a:pt x="0" y="1644650"/>
                  </a:cubicBezTo>
                  <a:close/>
                </a:path>
              </a:pathLst>
            </a:custGeom>
            <a:solidFill>
              <a:srgbClr val="16382D"/>
            </a:solidFill>
          </p:spPr>
        </p:sp>
      </p:grpSp>
      <p:sp>
        <p:nvSpPr>
          <p:cNvPr name="TextBox 22" id="22"/>
          <p:cNvSpPr txBox="true"/>
          <p:nvPr/>
        </p:nvSpPr>
        <p:spPr>
          <a:xfrm rot="0">
            <a:off x="1524000" y="6457950"/>
            <a:ext cx="7416927" cy="394335"/>
          </a:xfrm>
          <a:prstGeom prst="rect">
            <a:avLst/>
          </a:prstGeom>
        </p:spPr>
        <p:txBody>
          <a:bodyPr anchor="t" rtlCol="false" tIns="0" lIns="0" bIns="0" rIns="0">
            <a:spAutoFit/>
          </a:bodyPr>
          <a:lstStyle/>
          <a:p>
            <a:pPr algn="l">
              <a:lnSpc>
                <a:spcPts val="2879"/>
              </a:lnSpc>
            </a:pPr>
            <a:r>
              <a:rPr lang="en-US" sz="2400" b="true">
                <a:solidFill>
                  <a:srgbClr val="4ADE80"/>
                </a:solidFill>
                <a:latin typeface="Nunito Sans Bold"/>
                <a:ea typeface="Nunito Sans Bold"/>
                <a:cs typeface="Nunito Sans Bold"/>
                <a:sym typeface="Nunito Sans Bold"/>
              </a:rPr>
              <a:t>5 · Acceso y respaldo</a:t>
            </a:r>
          </a:p>
        </p:txBody>
      </p:sp>
      <p:sp>
        <p:nvSpPr>
          <p:cNvPr name="TextBox 23" id="23"/>
          <p:cNvSpPr txBox="true"/>
          <p:nvPr/>
        </p:nvSpPr>
        <p:spPr>
          <a:xfrm rot="0">
            <a:off x="1524000" y="6871335"/>
            <a:ext cx="7416927" cy="410528"/>
          </a:xfrm>
          <a:prstGeom prst="rect">
            <a:avLst/>
          </a:prstGeom>
        </p:spPr>
        <p:txBody>
          <a:bodyPr anchor="t" rtlCol="false" tIns="0" lIns="0" bIns="0" rIns="0">
            <a:spAutoFit/>
          </a:bodyPr>
          <a:lstStyle/>
          <a:p>
            <a:pPr algn="l">
              <a:lnSpc>
                <a:spcPts val="2632"/>
              </a:lnSpc>
            </a:pPr>
            <a:r>
              <a:rPr lang="en-US" sz="1950">
                <a:solidFill>
                  <a:srgbClr val="B9CCC2"/>
                </a:solidFill>
                <a:latin typeface="Nunito Sans"/>
                <a:ea typeface="Nunito Sans"/>
                <a:cs typeface="Nunito Sans"/>
                <a:sym typeface="Nunito Sans"/>
              </a:rPr>
              <a:t>Cada rol ve solo lo suyo; respaldos periódicos.</a:t>
            </a:r>
          </a:p>
        </p:txBody>
      </p:sp>
      <p:grpSp>
        <p:nvGrpSpPr>
          <p:cNvPr name="Group 24" id="24"/>
          <p:cNvGrpSpPr/>
          <p:nvPr/>
        </p:nvGrpSpPr>
        <p:grpSpPr>
          <a:xfrm rot="0">
            <a:off x="9258300" y="6143625"/>
            <a:ext cx="7810500" cy="1404938"/>
            <a:chOff x="0" y="0"/>
            <a:chExt cx="10414000" cy="1873250"/>
          </a:xfrm>
        </p:grpSpPr>
        <p:sp>
          <p:nvSpPr>
            <p:cNvPr name="Freeform 25" id="25"/>
            <p:cNvSpPr/>
            <p:nvPr/>
          </p:nvSpPr>
          <p:spPr>
            <a:xfrm flipH="false" flipV="false" rot="0">
              <a:off x="0" y="0"/>
              <a:ext cx="10414000" cy="1873250"/>
            </a:xfrm>
            <a:custGeom>
              <a:avLst/>
              <a:gdLst/>
              <a:ahLst/>
              <a:cxnLst/>
              <a:rect r="r" b="b" t="t" l="l"/>
              <a:pathLst>
                <a:path h="1873250" w="10414000">
                  <a:moveTo>
                    <a:pt x="0" y="228600"/>
                  </a:moveTo>
                  <a:cubicBezTo>
                    <a:pt x="0" y="102362"/>
                    <a:pt x="102362" y="0"/>
                    <a:pt x="228600" y="0"/>
                  </a:cubicBezTo>
                  <a:lnTo>
                    <a:pt x="10185400" y="0"/>
                  </a:lnTo>
                  <a:cubicBezTo>
                    <a:pt x="10311638" y="0"/>
                    <a:pt x="10414000" y="102362"/>
                    <a:pt x="10414000" y="228600"/>
                  </a:cubicBezTo>
                  <a:lnTo>
                    <a:pt x="10414000" y="1644650"/>
                  </a:lnTo>
                  <a:cubicBezTo>
                    <a:pt x="10414000" y="1770888"/>
                    <a:pt x="10311638" y="1873250"/>
                    <a:pt x="10185400" y="1873250"/>
                  </a:cubicBezTo>
                  <a:lnTo>
                    <a:pt x="228600" y="1873250"/>
                  </a:lnTo>
                  <a:cubicBezTo>
                    <a:pt x="102362" y="1873250"/>
                    <a:pt x="0" y="1770888"/>
                    <a:pt x="0" y="1644650"/>
                  </a:cubicBezTo>
                  <a:close/>
                </a:path>
              </a:pathLst>
            </a:custGeom>
            <a:solidFill>
              <a:srgbClr val="16382D"/>
            </a:solidFill>
          </p:spPr>
        </p:sp>
      </p:grpSp>
      <p:sp>
        <p:nvSpPr>
          <p:cNvPr name="TextBox 26" id="26"/>
          <p:cNvSpPr txBox="true"/>
          <p:nvPr/>
        </p:nvSpPr>
        <p:spPr>
          <a:xfrm rot="0">
            <a:off x="9563100" y="6457950"/>
            <a:ext cx="7416927" cy="394335"/>
          </a:xfrm>
          <a:prstGeom prst="rect">
            <a:avLst/>
          </a:prstGeom>
        </p:spPr>
        <p:txBody>
          <a:bodyPr anchor="t" rtlCol="false" tIns="0" lIns="0" bIns="0" rIns="0">
            <a:spAutoFit/>
          </a:bodyPr>
          <a:lstStyle/>
          <a:p>
            <a:pPr algn="l">
              <a:lnSpc>
                <a:spcPts val="2879"/>
              </a:lnSpc>
            </a:pPr>
            <a:r>
              <a:rPr lang="en-US" sz="2400" b="true">
                <a:solidFill>
                  <a:srgbClr val="F5F6F0"/>
                </a:solidFill>
                <a:latin typeface="Nunito Sans Bold"/>
                <a:ea typeface="Nunito Sans Bold"/>
                <a:cs typeface="Nunito Sans Bold"/>
                <a:sym typeface="Nunito Sans Bold"/>
              </a:rPr>
              <a:t>DevSecOps</a:t>
            </a:r>
          </a:p>
        </p:txBody>
      </p:sp>
      <p:sp>
        <p:nvSpPr>
          <p:cNvPr name="TextBox 27" id="27"/>
          <p:cNvSpPr txBox="true"/>
          <p:nvPr/>
        </p:nvSpPr>
        <p:spPr>
          <a:xfrm rot="0">
            <a:off x="9563100" y="6871335"/>
            <a:ext cx="7416927" cy="410528"/>
          </a:xfrm>
          <a:prstGeom prst="rect">
            <a:avLst/>
          </a:prstGeom>
        </p:spPr>
        <p:txBody>
          <a:bodyPr anchor="t" rtlCol="false" tIns="0" lIns="0" bIns="0" rIns="0">
            <a:spAutoFit/>
          </a:bodyPr>
          <a:lstStyle/>
          <a:p>
            <a:pPr algn="l">
              <a:lnSpc>
                <a:spcPts val="2632"/>
              </a:lnSpc>
            </a:pPr>
            <a:r>
              <a:rPr lang="en-US" sz="1950">
                <a:solidFill>
                  <a:srgbClr val="B9CCC2"/>
                </a:solidFill>
                <a:latin typeface="Nunito Sans"/>
                <a:ea typeface="Nunito Sans"/>
                <a:cs typeface="Nunito Sans"/>
                <a:sym typeface="Nunito Sans"/>
              </a:rPr>
              <a:t>Gitleaks, Trivy, SonarQube y OWASP ZAP en cada cambio.</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RESTRICCIONES</a:t>
            </a:r>
          </a:p>
        </p:txBody>
      </p:sp>
      <p:sp>
        <p:nvSpPr>
          <p:cNvPr name="TextBox 3" id="3"/>
          <p:cNvSpPr txBox="true"/>
          <p:nvPr/>
        </p:nvSpPr>
        <p:spPr>
          <a:xfrm rot="0">
            <a:off x="1219200" y="1756410"/>
            <a:ext cx="16325088" cy="670560"/>
          </a:xfrm>
          <a:prstGeom prst="rect">
            <a:avLst/>
          </a:prstGeom>
        </p:spPr>
        <p:txBody>
          <a:bodyPr anchor="t" rtlCol="false" tIns="0" lIns="0" bIns="0" rIns="0">
            <a:spAutoFit/>
          </a:bodyPr>
          <a:lstStyle/>
          <a:p>
            <a:pPr algn="l">
              <a:lnSpc>
                <a:spcPts val="5280"/>
              </a:lnSpc>
            </a:pPr>
            <a:r>
              <a:rPr lang="en-US" sz="4800" b="true">
                <a:solidFill>
                  <a:srgbClr val="13261F"/>
                </a:solidFill>
                <a:latin typeface="Rubik Bold"/>
                <a:ea typeface="Rubik Bold"/>
                <a:cs typeface="Rubik Bold"/>
                <a:sym typeface="Rubik Bold"/>
              </a:rPr>
              <a:t>Los límites dentro de los que trabajamos</a:t>
            </a:r>
          </a:p>
        </p:txBody>
      </p:sp>
      <p:grpSp>
        <p:nvGrpSpPr>
          <p:cNvPr name="Group 4" id="4"/>
          <p:cNvGrpSpPr/>
          <p:nvPr/>
        </p:nvGrpSpPr>
        <p:grpSpPr>
          <a:xfrm rot="0">
            <a:off x="1219200" y="2807970"/>
            <a:ext cx="5130765" cy="2245995"/>
            <a:chOff x="0" y="0"/>
            <a:chExt cx="6841020" cy="2994660"/>
          </a:xfrm>
        </p:grpSpPr>
        <p:sp>
          <p:nvSpPr>
            <p:cNvPr name="Freeform 5" id="5"/>
            <p:cNvSpPr/>
            <p:nvPr/>
          </p:nvSpPr>
          <p:spPr>
            <a:xfrm flipH="false" flipV="false" rot="0">
              <a:off x="0" y="0"/>
              <a:ext cx="6840982" cy="2994660"/>
            </a:xfrm>
            <a:custGeom>
              <a:avLst/>
              <a:gdLst/>
              <a:ahLst/>
              <a:cxnLst/>
              <a:rect r="r" b="b" t="t" l="l"/>
              <a:pathLst>
                <a:path h="2994660" w="6840982">
                  <a:moveTo>
                    <a:pt x="0" y="223139"/>
                  </a:moveTo>
                  <a:cubicBezTo>
                    <a:pt x="0" y="99949"/>
                    <a:pt x="99949" y="0"/>
                    <a:pt x="223139" y="0"/>
                  </a:cubicBezTo>
                  <a:lnTo>
                    <a:pt x="6617843" y="0"/>
                  </a:lnTo>
                  <a:cubicBezTo>
                    <a:pt x="6741161" y="0"/>
                    <a:pt x="6840982" y="99949"/>
                    <a:pt x="6840982" y="223139"/>
                  </a:cubicBezTo>
                  <a:lnTo>
                    <a:pt x="6840982" y="2771521"/>
                  </a:lnTo>
                  <a:cubicBezTo>
                    <a:pt x="6840982" y="2894838"/>
                    <a:pt x="6741033" y="2994660"/>
                    <a:pt x="6617843" y="2994660"/>
                  </a:cubicBezTo>
                  <a:lnTo>
                    <a:pt x="223139" y="2994660"/>
                  </a:lnTo>
                  <a:cubicBezTo>
                    <a:pt x="99949" y="2994660"/>
                    <a:pt x="0" y="2894711"/>
                    <a:pt x="0" y="2771521"/>
                  </a:cubicBezTo>
                  <a:close/>
                </a:path>
              </a:pathLst>
            </a:custGeom>
            <a:solidFill>
              <a:srgbClr val="FFFFFF"/>
            </a:solidFill>
            <a:ln w="9525" cap="sq">
              <a:solidFill>
                <a:srgbClr val="DCE3DA"/>
              </a:solidFill>
              <a:prstDash val="solid"/>
              <a:miter/>
            </a:ln>
          </p:spPr>
        </p:sp>
      </p:grpSp>
      <p:grpSp>
        <p:nvGrpSpPr>
          <p:cNvPr name="Group 6" id="6"/>
          <p:cNvGrpSpPr/>
          <p:nvPr/>
        </p:nvGrpSpPr>
        <p:grpSpPr>
          <a:xfrm rot="0">
            <a:off x="1512570" y="3101350"/>
            <a:ext cx="457200" cy="457200"/>
            <a:chOff x="0" y="0"/>
            <a:chExt cx="609600" cy="609600"/>
          </a:xfrm>
        </p:grpSpPr>
        <p:sp>
          <p:nvSpPr>
            <p:cNvPr name="Freeform 7" id="7" descr="Clock"/>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3"/>
              <a:stretch>
                <a:fillRect l="0" t="0" r="0" b="0"/>
              </a:stretch>
            </a:blipFill>
          </p:spPr>
        </p:sp>
      </p:grpSp>
      <p:sp>
        <p:nvSpPr>
          <p:cNvPr name="TextBox 8" id="8"/>
          <p:cNvSpPr txBox="true"/>
          <p:nvPr/>
        </p:nvSpPr>
        <p:spPr>
          <a:xfrm rot="0">
            <a:off x="1512570" y="3644275"/>
            <a:ext cx="4680337" cy="390525"/>
          </a:xfrm>
          <a:prstGeom prst="rect">
            <a:avLst/>
          </a:prstGeom>
        </p:spPr>
        <p:txBody>
          <a:bodyPr anchor="t" rtlCol="false" tIns="0" lIns="0" bIns="0" rIns="0">
            <a:spAutoFit/>
          </a:bodyPr>
          <a:lstStyle/>
          <a:p>
            <a:pPr algn="l">
              <a:lnSpc>
                <a:spcPts val="2700"/>
              </a:lnSpc>
            </a:pPr>
            <a:r>
              <a:rPr lang="en-US" sz="2250" b="true">
                <a:solidFill>
                  <a:srgbClr val="13261F"/>
                </a:solidFill>
                <a:latin typeface="Nunito Sans Bold"/>
                <a:ea typeface="Nunito Sans Bold"/>
                <a:cs typeface="Nunito Sans Bold"/>
                <a:sym typeface="Nunito Sans Bold"/>
              </a:rPr>
              <a:t>Tiempo</a:t>
            </a:r>
          </a:p>
        </p:txBody>
      </p:sp>
      <p:sp>
        <p:nvSpPr>
          <p:cNvPr name="TextBox 9" id="9"/>
          <p:cNvSpPr txBox="true"/>
          <p:nvPr/>
        </p:nvSpPr>
        <p:spPr>
          <a:xfrm rot="0">
            <a:off x="1512570" y="4053850"/>
            <a:ext cx="4680337" cy="744855"/>
          </a:xfrm>
          <a:prstGeom prst="rect">
            <a:avLst/>
          </a:prstGeom>
        </p:spPr>
        <p:txBody>
          <a:bodyPr anchor="t" rtlCol="false" tIns="0" lIns="0" bIns="0" rIns="0">
            <a:spAutoFit/>
          </a:bodyPr>
          <a:lstStyle/>
          <a:p>
            <a:pPr algn="l">
              <a:lnSpc>
                <a:spcPts val="2632"/>
              </a:lnSpc>
            </a:pPr>
            <a:r>
              <a:rPr lang="en-US" sz="1950">
                <a:solidFill>
                  <a:srgbClr val="4A5A52"/>
                </a:solidFill>
                <a:latin typeface="Nunito Sans"/>
                <a:ea typeface="Nunito Sans"/>
                <a:cs typeface="Nunito Sans"/>
                <a:sym typeface="Nunito Sans"/>
              </a:rPr>
              <a:t>Fin máximo el 15/01/2027; sprints de duración fija.</a:t>
            </a:r>
          </a:p>
        </p:txBody>
      </p:sp>
      <p:grpSp>
        <p:nvGrpSpPr>
          <p:cNvPr name="Group 10" id="10"/>
          <p:cNvGrpSpPr/>
          <p:nvPr/>
        </p:nvGrpSpPr>
        <p:grpSpPr>
          <a:xfrm rot="0">
            <a:off x="6578565" y="2807970"/>
            <a:ext cx="5130765" cy="2245995"/>
            <a:chOff x="0" y="0"/>
            <a:chExt cx="6841020" cy="2994660"/>
          </a:xfrm>
        </p:grpSpPr>
        <p:sp>
          <p:nvSpPr>
            <p:cNvPr name="Freeform 11" id="11"/>
            <p:cNvSpPr/>
            <p:nvPr/>
          </p:nvSpPr>
          <p:spPr>
            <a:xfrm flipH="false" flipV="false" rot="0">
              <a:off x="0" y="0"/>
              <a:ext cx="6840982" cy="2994660"/>
            </a:xfrm>
            <a:custGeom>
              <a:avLst/>
              <a:gdLst/>
              <a:ahLst/>
              <a:cxnLst/>
              <a:rect r="r" b="b" t="t" l="l"/>
              <a:pathLst>
                <a:path h="2994660" w="6840982">
                  <a:moveTo>
                    <a:pt x="0" y="223139"/>
                  </a:moveTo>
                  <a:cubicBezTo>
                    <a:pt x="0" y="99949"/>
                    <a:pt x="99949" y="0"/>
                    <a:pt x="223139" y="0"/>
                  </a:cubicBezTo>
                  <a:lnTo>
                    <a:pt x="6617843" y="0"/>
                  </a:lnTo>
                  <a:cubicBezTo>
                    <a:pt x="6741161" y="0"/>
                    <a:pt x="6840982" y="99949"/>
                    <a:pt x="6840982" y="223139"/>
                  </a:cubicBezTo>
                  <a:lnTo>
                    <a:pt x="6840982" y="2771521"/>
                  </a:lnTo>
                  <a:cubicBezTo>
                    <a:pt x="6840982" y="2894838"/>
                    <a:pt x="6741033" y="2994660"/>
                    <a:pt x="6617843" y="2994660"/>
                  </a:cubicBezTo>
                  <a:lnTo>
                    <a:pt x="223139" y="2994660"/>
                  </a:lnTo>
                  <a:cubicBezTo>
                    <a:pt x="99949" y="2994660"/>
                    <a:pt x="0" y="2894711"/>
                    <a:pt x="0" y="2771521"/>
                  </a:cubicBezTo>
                  <a:close/>
                </a:path>
              </a:pathLst>
            </a:custGeom>
            <a:solidFill>
              <a:srgbClr val="FFFFFF"/>
            </a:solidFill>
            <a:ln w="9525" cap="sq">
              <a:solidFill>
                <a:srgbClr val="DCE3DA"/>
              </a:solidFill>
              <a:prstDash val="solid"/>
              <a:miter/>
            </a:ln>
          </p:spPr>
        </p:sp>
      </p:grpSp>
      <p:grpSp>
        <p:nvGrpSpPr>
          <p:cNvPr name="Group 12" id="12"/>
          <p:cNvGrpSpPr/>
          <p:nvPr/>
        </p:nvGrpSpPr>
        <p:grpSpPr>
          <a:xfrm rot="0">
            <a:off x="6871935" y="3101350"/>
            <a:ext cx="457200" cy="457200"/>
            <a:chOff x="0" y="0"/>
            <a:chExt cx="609600" cy="609600"/>
          </a:xfrm>
        </p:grpSpPr>
        <p:sp>
          <p:nvSpPr>
            <p:cNvPr name="Freeform 13" id="13" descr="Users"/>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4"/>
              <a:stretch>
                <a:fillRect l="0" t="0" r="0" b="0"/>
              </a:stretch>
            </a:blipFill>
          </p:spPr>
        </p:sp>
      </p:grpSp>
      <p:sp>
        <p:nvSpPr>
          <p:cNvPr name="TextBox 14" id="14"/>
          <p:cNvSpPr txBox="true"/>
          <p:nvPr/>
        </p:nvSpPr>
        <p:spPr>
          <a:xfrm rot="0">
            <a:off x="6871935" y="3644275"/>
            <a:ext cx="4680337" cy="390525"/>
          </a:xfrm>
          <a:prstGeom prst="rect">
            <a:avLst/>
          </a:prstGeom>
        </p:spPr>
        <p:txBody>
          <a:bodyPr anchor="t" rtlCol="false" tIns="0" lIns="0" bIns="0" rIns="0">
            <a:spAutoFit/>
          </a:bodyPr>
          <a:lstStyle/>
          <a:p>
            <a:pPr algn="l">
              <a:lnSpc>
                <a:spcPts val="2700"/>
              </a:lnSpc>
            </a:pPr>
            <a:r>
              <a:rPr lang="en-US" sz="2250" b="true">
                <a:solidFill>
                  <a:srgbClr val="13261F"/>
                </a:solidFill>
                <a:latin typeface="Nunito Sans Bold"/>
                <a:ea typeface="Nunito Sans Bold"/>
                <a:cs typeface="Nunito Sans Bold"/>
                <a:sym typeface="Nunito Sans Bold"/>
              </a:rPr>
              <a:t>Equipo y presupuesto</a:t>
            </a:r>
          </a:p>
        </p:txBody>
      </p:sp>
      <p:sp>
        <p:nvSpPr>
          <p:cNvPr name="TextBox 15" id="15"/>
          <p:cNvSpPr txBox="true"/>
          <p:nvPr/>
        </p:nvSpPr>
        <p:spPr>
          <a:xfrm rot="0">
            <a:off x="6871935" y="4053850"/>
            <a:ext cx="4680337" cy="744855"/>
          </a:xfrm>
          <a:prstGeom prst="rect">
            <a:avLst/>
          </a:prstGeom>
        </p:spPr>
        <p:txBody>
          <a:bodyPr anchor="t" rtlCol="false" tIns="0" lIns="0" bIns="0" rIns="0">
            <a:spAutoFit/>
          </a:bodyPr>
          <a:lstStyle/>
          <a:p>
            <a:pPr algn="l">
              <a:lnSpc>
                <a:spcPts val="2632"/>
              </a:lnSpc>
            </a:pPr>
            <a:r>
              <a:rPr lang="en-US" sz="1950">
                <a:solidFill>
                  <a:srgbClr val="4A5A52"/>
                </a:solidFill>
                <a:latin typeface="Nunito Sans"/>
                <a:ea typeface="Nunito Sans"/>
                <a:cs typeface="Nunito Sans"/>
                <a:sym typeface="Nunito Sans"/>
              </a:rPr>
              <a:t>Tres estudiantes; herramientas gratuitas y número de prueba de WhatsApp.</a:t>
            </a:r>
          </a:p>
        </p:txBody>
      </p:sp>
      <p:grpSp>
        <p:nvGrpSpPr>
          <p:cNvPr name="Group 16" id="16"/>
          <p:cNvGrpSpPr/>
          <p:nvPr/>
        </p:nvGrpSpPr>
        <p:grpSpPr>
          <a:xfrm rot="0">
            <a:off x="11937921" y="2807970"/>
            <a:ext cx="5130765" cy="2245995"/>
            <a:chOff x="0" y="0"/>
            <a:chExt cx="6841020" cy="2994660"/>
          </a:xfrm>
        </p:grpSpPr>
        <p:sp>
          <p:nvSpPr>
            <p:cNvPr name="Freeform 17" id="17"/>
            <p:cNvSpPr/>
            <p:nvPr/>
          </p:nvSpPr>
          <p:spPr>
            <a:xfrm flipH="false" flipV="false" rot="0">
              <a:off x="0" y="0"/>
              <a:ext cx="6840982" cy="2994660"/>
            </a:xfrm>
            <a:custGeom>
              <a:avLst/>
              <a:gdLst/>
              <a:ahLst/>
              <a:cxnLst/>
              <a:rect r="r" b="b" t="t" l="l"/>
              <a:pathLst>
                <a:path h="2994660" w="6840982">
                  <a:moveTo>
                    <a:pt x="0" y="223139"/>
                  </a:moveTo>
                  <a:cubicBezTo>
                    <a:pt x="0" y="99949"/>
                    <a:pt x="99949" y="0"/>
                    <a:pt x="223139" y="0"/>
                  </a:cubicBezTo>
                  <a:lnTo>
                    <a:pt x="6617843" y="0"/>
                  </a:lnTo>
                  <a:cubicBezTo>
                    <a:pt x="6741161" y="0"/>
                    <a:pt x="6840982" y="99949"/>
                    <a:pt x="6840982" y="223139"/>
                  </a:cubicBezTo>
                  <a:lnTo>
                    <a:pt x="6840982" y="2771521"/>
                  </a:lnTo>
                  <a:cubicBezTo>
                    <a:pt x="6840982" y="2894838"/>
                    <a:pt x="6741033" y="2994660"/>
                    <a:pt x="6617843" y="2994660"/>
                  </a:cubicBezTo>
                  <a:lnTo>
                    <a:pt x="223139" y="2994660"/>
                  </a:lnTo>
                  <a:cubicBezTo>
                    <a:pt x="99949" y="2994660"/>
                    <a:pt x="0" y="2894711"/>
                    <a:pt x="0" y="2771521"/>
                  </a:cubicBezTo>
                  <a:close/>
                </a:path>
              </a:pathLst>
            </a:custGeom>
            <a:solidFill>
              <a:srgbClr val="FFFFFF"/>
            </a:solidFill>
            <a:ln w="9525" cap="sq">
              <a:solidFill>
                <a:srgbClr val="DCE3DA"/>
              </a:solidFill>
              <a:prstDash val="solid"/>
              <a:miter/>
            </a:ln>
          </p:spPr>
        </p:sp>
      </p:grpSp>
      <p:grpSp>
        <p:nvGrpSpPr>
          <p:cNvPr name="Group 18" id="18"/>
          <p:cNvGrpSpPr/>
          <p:nvPr/>
        </p:nvGrpSpPr>
        <p:grpSpPr>
          <a:xfrm rot="0">
            <a:off x="12231291" y="3101350"/>
            <a:ext cx="457200" cy="457200"/>
            <a:chOff x="0" y="0"/>
            <a:chExt cx="609600" cy="609600"/>
          </a:xfrm>
        </p:grpSpPr>
        <p:sp>
          <p:nvSpPr>
            <p:cNvPr name="Freeform 19" id="19" descr="Book"/>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5"/>
              <a:stretch>
                <a:fillRect l="0" t="0" r="0" b="0"/>
              </a:stretch>
            </a:blipFill>
          </p:spPr>
        </p:sp>
      </p:grpSp>
      <p:sp>
        <p:nvSpPr>
          <p:cNvPr name="TextBox 20" id="20"/>
          <p:cNvSpPr txBox="true"/>
          <p:nvPr/>
        </p:nvSpPr>
        <p:spPr>
          <a:xfrm rot="0">
            <a:off x="12231291" y="3644275"/>
            <a:ext cx="4680337" cy="390525"/>
          </a:xfrm>
          <a:prstGeom prst="rect">
            <a:avLst/>
          </a:prstGeom>
        </p:spPr>
        <p:txBody>
          <a:bodyPr anchor="t" rtlCol="false" tIns="0" lIns="0" bIns="0" rIns="0">
            <a:spAutoFit/>
          </a:bodyPr>
          <a:lstStyle/>
          <a:p>
            <a:pPr algn="l">
              <a:lnSpc>
                <a:spcPts val="2700"/>
              </a:lnSpc>
            </a:pPr>
            <a:r>
              <a:rPr lang="en-US" sz="2250" b="true">
                <a:solidFill>
                  <a:srgbClr val="13261F"/>
                </a:solidFill>
                <a:latin typeface="Nunito Sans Bold"/>
                <a:ea typeface="Nunito Sans Bold"/>
                <a:cs typeface="Nunito Sans Bold"/>
                <a:sym typeface="Nunito Sans Bold"/>
              </a:rPr>
              <a:t>Normativa</a:t>
            </a:r>
          </a:p>
        </p:txBody>
      </p:sp>
      <p:sp>
        <p:nvSpPr>
          <p:cNvPr name="TextBox 21" id="21"/>
          <p:cNvSpPr txBox="true"/>
          <p:nvPr/>
        </p:nvSpPr>
        <p:spPr>
          <a:xfrm rot="0">
            <a:off x="12231291" y="4053850"/>
            <a:ext cx="4680337" cy="744855"/>
          </a:xfrm>
          <a:prstGeom prst="rect">
            <a:avLst/>
          </a:prstGeom>
        </p:spPr>
        <p:txBody>
          <a:bodyPr anchor="t" rtlCol="false" tIns="0" lIns="0" bIns="0" rIns="0">
            <a:spAutoFit/>
          </a:bodyPr>
          <a:lstStyle/>
          <a:p>
            <a:pPr algn="l">
              <a:lnSpc>
                <a:spcPts val="2632"/>
              </a:lnSpc>
            </a:pPr>
            <a:r>
              <a:rPr lang="en-US" sz="1950">
                <a:solidFill>
                  <a:srgbClr val="4A5A52"/>
                </a:solidFill>
                <a:latin typeface="Nunito Sans"/>
                <a:ea typeface="Nunito Sans"/>
                <a:cs typeface="Nunito Sans"/>
                <a:sym typeface="Nunito Sans"/>
              </a:rPr>
              <a:t>Formato del Ministerio y cálculos idénticos a las hojas del colegio.</a:t>
            </a:r>
          </a:p>
        </p:txBody>
      </p:sp>
      <p:grpSp>
        <p:nvGrpSpPr>
          <p:cNvPr name="Group 22" id="22"/>
          <p:cNvGrpSpPr/>
          <p:nvPr/>
        </p:nvGrpSpPr>
        <p:grpSpPr>
          <a:xfrm rot="0">
            <a:off x="1219200" y="5282575"/>
            <a:ext cx="5130765" cy="2245995"/>
            <a:chOff x="0" y="0"/>
            <a:chExt cx="6841020" cy="2994660"/>
          </a:xfrm>
        </p:grpSpPr>
        <p:sp>
          <p:nvSpPr>
            <p:cNvPr name="Freeform 23" id="23"/>
            <p:cNvSpPr/>
            <p:nvPr/>
          </p:nvSpPr>
          <p:spPr>
            <a:xfrm flipH="false" flipV="false" rot="0">
              <a:off x="0" y="0"/>
              <a:ext cx="6840982" cy="2994660"/>
            </a:xfrm>
            <a:custGeom>
              <a:avLst/>
              <a:gdLst/>
              <a:ahLst/>
              <a:cxnLst/>
              <a:rect r="r" b="b" t="t" l="l"/>
              <a:pathLst>
                <a:path h="2994660" w="6840982">
                  <a:moveTo>
                    <a:pt x="0" y="223139"/>
                  </a:moveTo>
                  <a:cubicBezTo>
                    <a:pt x="0" y="99949"/>
                    <a:pt x="99949" y="0"/>
                    <a:pt x="223139" y="0"/>
                  </a:cubicBezTo>
                  <a:lnTo>
                    <a:pt x="6617843" y="0"/>
                  </a:lnTo>
                  <a:cubicBezTo>
                    <a:pt x="6741161" y="0"/>
                    <a:pt x="6840982" y="99949"/>
                    <a:pt x="6840982" y="223139"/>
                  </a:cubicBezTo>
                  <a:lnTo>
                    <a:pt x="6840982" y="2771521"/>
                  </a:lnTo>
                  <a:cubicBezTo>
                    <a:pt x="6840982" y="2894838"/>
                    <a:pt x="6741033" y="2994660"/>
                    <a:pt x="6617843" y="2994660"/>
                  </a:cubicBezTo>
                  <a:lnTo>
                    <a:pt x="223139" y="2994660"/>
                  </a:lnTo>
                  <a:cubicBezTo>
                    <a:pt x="99949" y="2994660"/>
                    <a:pt x="0" y="2894711"/>
                    <a:pt x="0" y="2771521"/>
                  </a:cubicBezTo>
                  <a:close/>
                </a:path>
              </a:pathLst>
            </a:custGeom>
            <a:solidFill>
              <a:srgbClr val="FFFFFF"/>
            </a:solidFill>
            <a:ln w="9525" cap="sq">
              <a:solidFill>
                <a:srgbClr val="DCE3DA"/>
              </a:solidFill>
              <a:prstDash val="solid"/>
              <a:miter/>
            </a:ln>
          </p:spPr>
        </p:sp>
      </p:grpSp>
      <p:grpSp>
        <p:nvGrpSpPr>
          <p:cNvPr name="Group 24" id="24"/>
          <p:cNvGrpSpPr/>
          <p:nvPr/>
        </p:nvGrpSpPr>
        <p:grpSpPr>
          <a:xfrm rot="0">
            <a:off x="1512570" y="5575935"/>
            <a:ext cx="457200" cy="457200"/>
            <a:chOff x="0" y="0"/>
            <a:chExt cx="609600" cy="609600"/>
          </a:xfrm>
        </p:grpSpPr>
        <p:sp>
          <p:nvSpPr>
            <p:cNvPr name="Freeform 25" id="25" descr="Trust"/>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6"/>
              <a:stretch>
                <a:fillRect l="0" t="0" r="0" b="0"/>
              </a:stretch>
            </a:blipFill>
          </p:spPr>
        </p:sp>
      </p:grpSp>
      <p:sp>
        <p:nvSpPr>
          <p:cNvPr name="TextBox 26" id="26"/>
          <p:cNvSpPr txBox="true"/>
          <p:nvPr/>
        </p:nvSpPr>
        <p:spPr>
          <a:xfrm rot="0">
            <a:off x="1512570" y="6118860"/>
            <a:ext cx="4680337" cy="390525"/>
          </a:xfrm>
          <a:prstGeom prst="rect">
            <a:avLst/>
          </a:prstGeom>
        </p:spPr>
        <p:txBody>
          <a:bodyPr anchor="t" rtlCol="false" tIns="0" lIns="0" bIns="0" rIns="0">
            <a:spAutoFit/>
          </a:bodyPr>
          <a:lstStyle/>
          <a:p>
            <a:pPr algn="l">
              <a:lnSpc>
                <a:spcPts val="2700"/>
              </a:lnSpc>
            </a:pPr>
            <a:r>
              <a:rPr lang="en-US" sz="2250" b="true">
                <a:solidFill>
                  <a:srgbClr val="13261F"/>
                </a:solidFill>
                <a:latin typeface="Nunito Sans Bold"/>
                <a:ea typeface="Nunito Sans Bold"/>
                <a:cs typeface="Nunito Sans Bold"/>
                <a:sym typeface="Nunito Sans Bold"/>
              </a:rPr>
              <a:t>Legal</a:t>
            </a:r>
          </a:p>
        </p:txBody>
      </p:sp>
      <p:sp>
        <p:nvSpPr>
          <p:cNvPr name="TextBox 27" id="27"/>
          <p:cNvSpPr txBox="true"/>
          <p:nvPr/>
        </p:nvSpPr>
        <p:spPr>
          <a:xfrm rot="0">
            <a:off x="1512570" y="6528435"/>
            <a:ext cx="4680337" cy="744855"/>
          </a:xfrm>
          <a:prstGeom prst="rect">
            <a:avLst/>
          </a:prstGeom>
        </p:spPr>
        <p:txBody>
          <a:bodyPr anchor="t" rtlCol="false" tIns="0" lIns="0" bIns="0" rIns="0">
            <a:spAutoFit/>
          </a:bodyPr>
          <a:lstStyle/>
          <a:p>
            <a:pPr algn="l">
              <a:lnSpc>
                <a:spcPts val="2632"/>
              </a:lnSpc>
            </a:pPr>
            <a:r>
              <a:rPr lang="en-US" sz="1950">
                <a:solidFill>
                  <a:srgbClr val="4A5A52"/>
                </a:solidFill>
                <a:latin typeface="Nunito Sans"/>
                <a:ea typeface="Nunito Sans"/>
                <a:cs typeface="Nunito Sans"/>
                <a:sym typeface="Nunito Sans"/>
              </a:rPr>
              <a:t>Datos de menores: consentimiento y datos ficticios en el repositorio.</a:t>
            </a:r>
          </a:p>
        </p:txBody>
      </p:sp>
      <p:grpSp>
        <p:nvGrpSpPr>
          <p:cNvPr name="Group 28" id="28"/>
          <p:cNvGrpSpPr/>
          <p:nvPr/>
        </p:nvGrpSpPr>
        <p:grpSpPr>
          <a:xfrm rot="0">
            <a:off x="6578565" y="5282575"/>
            <a:ext cx="5130765" cy="2245995"/>
            <a:chOff x="0" y="0"/>
            <a:chExt cx="6841020" cy="2994660"/>
          </a:xfrm>
        </p:grpSpPr>
        <p:sp>
          <p:nvSpPr>
            <p:cNvPr name="Freeform 29" id="29"/>
            <p:cNvSpPr/>
            <p:nvPr/>
          </p:nvSpPr>
          <p:spPr>
            <a:xfrm flipH="false" flipV="false" rot="0">
              <a:off x="0" y="0"/>
              <a:ext cx="6840982" cy="2994660"/>
            </a:xfrm>
            <a:custGeom>
              <a:avLst/>
              <a:gdLst/>
              <a:ahLst/>
              <a:cxnLst/>
              <a:rect r="r" b="b" t="t" l="l"/>
              <a:pathLst>
                <a:path h="2994660" w="6840982">
                  <a:moveTo>
                    <a:pt x="0" y="223139"/>
                  </a:moveTo>
                  <a:cubicBezTo>
                    <a:pt x="0" y="99949"/>
                    <a:pt x="99949" y="0"/>
                    <a:pt x="223139" y="0"/>
                  </a:cubicBezTo>
                  <a:lnTo>
                    <a:pt x="6617843" y="0"/>
                  </a:lnTo>
                  <a:cubicBezTo>
                    <a:pt x="6741161" y="0"/>
                    <a:pt x="6840982" y="99949"/>
                    <a:pt x="6840982" y="223139"/>
                  </a:cubicBezTo>
                  <a:lnTo>
                    <a:pt x="6840982" y="2771521"/>
                  </a:lnTo>
                  <a:cubicBezTo>
                    <a:pt x="6840982" y="2894838"/>
                    <a:pt x="6741033" y="2994660"/>
                    <a:pt x="6617843" y="2994660"/>
                  </a:cubicBezTo>
                  <a:lnTo>
                    <a:pt x="223139" y="2994660"/>
                  </a:lnTo>
                  <a:cubicBezTo>
                    <a:pt x="99949" y="2994660"/>
                    <a:pt x="0" y="2894711"/>
                    <a:pt x="0" y="2771521"/>
                  </a:cubicBezTo>
                  <a:close/>
                </a:path>
              </a:pathLst>
            </a:custGeom>
            <a:solidFill>
              <a:srgbClr val="FFFFFF"/>
            </a:solidFill>
            <a:ln w="9525" cap="sq">
              <a:solidFill>
                <a:srgbClr val="DCE3DA"/>
              </a:solidFill>
              <a:prstDash val="solid"/>
              <a:miter/>
            </a:ln>
          </p:spPr>
        </p:sp>
      </p:grpSp>
      <p:grpSp>
        <p:nvGrpSpPr>
          <p:cNvPr name="Group 30" id="30"/>
          <p:cNvGrpSpPr/>
          <p:nvPr/>
        </p:nvGrpSpPr>
        <p:grpSpPr>
          <a:xfrm rot="0">
            <a:off x="6871935" y="5575935"/>
            <a:ext cx="457200" cy="457200"/>
            <a:chOff x="0" y="0"/>
            <a:chExt cx="609600" cy="609600"/>
          </a:xfrm>
        </p:grpSpPr>
        <p:sp>
          <p:nvSpPr>
            <p:cNvPr name="Freeform 31" id="31" descr="Cloud"/>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7"/>
              <a:stretch>
                <a:fillRect l="0" t="0" r="0" b="0"/>
              </a:stretch>
            </a:blipFill>
          </p:spPr>
        </p:sp>
      </p:grpSp>
      <p:sp>
        <p:nvSpPr>
          <p:cNvPr name="TextBox 32" id="32"/>
          <p:cNvSpPr txBox="true"/>
          <p:nvPr/>
        </p:nvSpPr>
        <p:spPr>
          <a:xfrm rot="0">
            <a:off x="6871935" y="6118860"/>
            <a:ext cx="4680337" cy="390525"/>
          </a:xfrm>
          <a:prstGeom prst="rect">
            <a:avLst/>
          </a:prstGeom>
        </p:spPr>
        <p:txBody>
          <a:bodyPr anchor="t" rtlCol="false" tIns="0" lIns="0" bIns="0" rIns="0">
            <a:spAutoFit/>
          </a:bodyPr>
          <a:lstStyle/>
          <a:p>
            <a:pPr algn="l">
              <a:lnSpc>
                <a:spcPts val="2700"/>
              </a:lnSpc>
            </a:pPr>
            <a:r>
              <a:rPr lang="en-US" sz="2250" b="true">
                <a:solidFill>
                  <a:srgbClr val="13261F"/>
                </a:solidFill>
                <a:latin typeface="Nunito Sans Bold"/>
                <a:ea typeface="Nunito Sans Bold"/>
                <a:cs typeface="Nunito Sans Bold"/>
                <a:sym typeface="Nunito Sans Bold"/>
              </a:rPr>
              <a:t>Técnica</a:t>
            </a:r>
          </a:p>
        </p:txBody>
      </p:sp>
      <p:sp>
        <p:nvSpPr>
          <p:cNvPr name="TextBox 33" id="33"/>
          <p:cNvSpPr txBox="true"/>
          <p:nvPr/>
        </p:nvSpPr>
        <p:spPr>
          <a:xfrm rot="0">
            <a:off x="6871935" y="6528435"/>
            <a:ext cx="4680337" cy="744855"/>
          </a:xfrm>
          <a:prstGeom prst="rect">
            <a:avLst/>
          </a:prstGeom>
        </p:spPr>
        <p:txBody>
          <a:bodyPr anchor="t" rtlCol="false" tIns="0" lIns="0" bIns="0" rIns="0">
            <a:spAutoFit/>
          </a:bodyPr>
          <a:lstStyle/>
          <a:p>
            <a:pPr algn="l">
              <a:lnSpc>
                <a:spcPts val="2632"/>
              </a:lnSpc>
            </a:pPr>
            <a:r>
              <a:rPr lang="en-US" sz="1950">
                <a:solidFill>
                  <a:srgbClr val="4A5A52"/>
                </a:solidFill>
                <a:latin typeface="Nunito Sans"/>
                <a:ea typeface="Nunito Sans"/>
                <a:cs typeface="Nunito Sans"/>
                <a:sym typeface="Nunito Sans"/>
              </a:rPr>
              <a:t>Internet inestable y sin app nativa: PWA que funciona sin conexión.</a:t>
            </a:r>
          </a:p>
        </p:txBody>
      </p:sp>
      <p:grpSp>
        <p:nvGrpSpPr>
          <p:cNvPr name="Group 34" id="34"/>
          <p:cNvGrpSpPr/>
          <p:nvPr/>
        </p:nvGrpSpPr>
        <p:grpSpPr>
          <a:xfrm rot="0">
            <a:off x="11937921" y="5282575"/>
            <a:ext cx="5130765" cy="2245995"/>
            <a:chOff x="0" y="0"/>
            <a:chExt cx="6841020" cy="2994660"/>
          </a:xfrm>
        </p:grpSpPr>
        <p:sp>
          <p:nvSpPr>
            <p:cNvPr name="Freeform 35" id="35"/>
            <p:cNvSpPr/>
            <p:nvPr/>
          </p:nvSpPr>
          <p:spPr>
            <a:xfrm flipH="false" flipV="false" rot="0">
              <a:off x="0" y="0"/>
              <a:ext cx="6840982" cy="2994660"/>
            </a:xfrm>
            <a:custGeom>
              <a:avLst/>
              <a:gdLst/>
              <a:ahLst/>
              <a:cxnLst/>
              <a:rect r="r" b="b" t="t" l="l"/>
              <a:pathLst>
                <a:path h="2994660" w="6840982">
                  <a:moveTo>
                    <a:pt x="0" y="228600"/>
                  </a:moveTo>
                  <a:cubicBezTo>
                    <a:pt x="0" y="102362"/>
                    <a:pt x="102362" y="0"/>
                    <a:pt x="228600" y="0"/>
                  </a:cubicBezTo>
                  <a:lnTo>
                    <a:pt x="6612382" y="0"/>
                  </a:lnTo>
                  <a:cubicBezTo>
                    <a:pt x="6738620" y="0"/>
                    <a:pt x="6840982" y="102362"/>
                    <a:pt x="6840982" y="228600"/>
                  </a:cubicBezTo>
                  <a:lnTo>
                    <a:pt x="6840982" y="2766060"/>
                  </a:lnTo>
                  <a:cubicBezTo>
                    <a:pt x="6840982" y="2892298"/>
                    <a:pt x="6738620" y="2994660"/>
                    <a:pt x="6612382" y="2994660"/>
                  </a:cubicBezTo>
                  <a:lnTo>
                    <a:pt x="228600" y="2994660"/>
                  </a:lnTo>
                  <a:cubicBezTo>
                    <a:pt x="102362" y="2994660"/>
                    <a:pt x="0" y="2892298"/>
                    <a:pt x="0" y="2766060"/>
                  </a:cubicBezTo>
                  <a:close/>
                </a:path>
              </a:pathLst>
            </a:custGeom>
            <a:solidFill>
              <a:srgbClr val="0F2A22"/>
            </a:solidFill>
          </p:spPr>
        </p:sp>
      </p:grpSp>
      <p:grpSp>
        <p:nvGrpSpPr>
          <p:cNvPr name="Group 36" id="36"/>
          <p:cNvGrpSpPr/>
          <p:nvPr/>
        </p:nvGrpSpPr>
        <p:grpSpPr>
          <a:xfrm rot="0">
            <a:off x="12223671" y="5568325"/>
            <a:ext cx="457200" cy="457200"/>
            <a:chOff x="0" y="0"/>
            <a:chExt cx="609600" cy="609600"/>
          </a:xfrm>
        </p:grpSpPr>
        <p:sp>
          <p:nvSpPr>
            <p:cNvPr name="Freeform 37" id="37" descr="Code"/>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8"/>
              <a:stretch>
                <a:fillRect l="0" t="0" r="0" b="0"/>
              </a:stretch>
            </a:blipFill>
          </p:spPr>
        </p:sp>
      </p:grpSp>
      <p:sp>
        <p:nvSpPr>
          <p:cNvPr name="TextBox 38" id="38"/>
          <p:cNvSpPr txBox="true"/>
          <p:nvPr/>
        </p:nvSpPr>
        <p:spPr>
          <a:xfrm rot="0">
            <a:off x="12223671" y="6111250"/>
            <a:ext cx="4696035" cy="390525"/>
          </a:xfrm>
          <a:prstGeom prst="rect">
            <a:avLst/>
          </a:prstGeom>
        </p:spPr>
        <p:txBody>
          <a:bodyPr anchor="t" rtlCol="false" tIns="0" lIns="0" bIns="0" rIns="0">
            <a:spAutoFit/>
          </a:bodyPr>
          <a:lstStyle/>
          <a:p>
            <a:pPr algn="l">
              <a:lnSpc>
                <a:spcPts val="2700"/>
              </a:lnSpc>
            </a:pPr>
            <a:r>
              <a:rPr lang="en-US" sz="2250" b="true">
                <a:solidFill>
                  <a:srgbClr val="F5F6F0"/>
                </a:solidFill>
                <a:latin typeface="Nunito Sans Bold"/>
                <a:ea typeface="Nunito Sans Bold"/>
                <a:cs typeface="Nunito Sans Bold"/>
                <a:sym typeface="Nunito Sans Bold"/>
              </a:rPr>
              <a:t>Académica</a:t>
            </a:r>
          </a:p>
        </p:txBody>
      </p:sp>
      <p:sp>
        <p:nvSpPr>
          <p:cNvPr name="TextBox 39" id="39"/>
          <p:cNvSpPr txBox="true"/>
          <p:nvPr/>
        </p:nvSpPr>
        <p:spPr>
          <a:xfrm rot="0">
            <a:off x="12223671" y="6520825"/>
            <a:ext cx="4696035" cy="744855"/>
          </a:xfrm>
          <a:prstGeom prst="rect">
            <a:avLst/>
          </a:prstGeom>
        </p:spPr>
        <p:txBody>
          <a:bodyPr anchor="t" rtlCol="false" tIns="0" lIns="0" bIns="0" rIns="0">
            <a:spAutoFit/>
          </a:bodyPr>
          <a:lstStyle/>
          <a:p>
            <a:pPr algn="l">
              <a:lnSpc>
                <a:spcPts val="2632"/>
              </a:lnSpc>
            </a:pPr>
            <a:r>
              <a:rPr lang="en-US" sz="1950">
                <a:solidFill>
                  <a:srgbClr val="B9CCC2"/>
                </a:solidFill>
                <a:latin typeface="Nunito Sans"/>
                <a:ea typeface="Nunito Sans"/>
                <a:cs typeface="Nunito Sans"/>
                <a:sym typeface="Nunito Sans"/>
              </a:rPr>
              <a:t>Mínimo 3 microservicios con BD relacional, varios lenguajes y CI/CD.</a:t>
            </a:r>
          </a:p>
        </p:txBody>
      </p:sp>
      <p:sp>
        <p:nvSpPr>
          <p:cNvPr name="TextBox 40" id="40"/>
          <p:cNvSpPr txBox="true"/>
          <p:nvPr/>
        </p:nvSpPr>
        <p:spPr>
          <a:xfrm rot="0">
            <a:off x="1219200" y="9271645"/>
            <a:ext cx="16325088" cy="297180"/>
          </a:xfrm>
          <a:prstGeom prst="rect">
            <a:avLst/>
          </a:prstGeom>
        </p:spPr>
        <p:txBody>
          <a:bodyPr anchor="t" rtlCol="false" tIns="0" lIns="0" bIns="0" rIns="0">
            <a:spAutoFit/>
          </a:bodyPr>
          <a:lstStyle/>
          <a:p>
            <a:pPr algn="l">
              <a:lnSpc>
                <a:spcPts val="2520"/>
              </a:lnSpc>
            </a:pPr>
            <a:r>
              <a:rPr lang="en-US" sz="1800">
                <a:solidFill>
                  <a:srgbClr val="4A5A52"/>
                </a:solidFill>
                <a:latin typeface="Nunito Sans"/>
                <a:ea typeface="Nunito Sans"/>
                <a:cs typeface="Nunito Sans"/>
                <a:sym typeface="Nunito Sans"/>
              </a:rPr>
              <a:t>WhatsApp automático cobra por mensaje y exige plantillas aprobadas (SRS 2.3): por eso el canal principal es push gratis y WhatsApp asistido; el automático es opcional</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SUPUESTOS</a:t>
            </a:r>
          </a:p>
        </p:txBody>
      </p:sp>
      <p:sp>
        <p:nvSpPr>
          <p:cNvPr name="TextBox 3" id="3"/>
          <p:cNvSpPr txBox="true"/>
          <p:nvPr/>
        </p:nvSpPr>
        <p:spPr>
          <a:xfrm rot="0">
            <a:off x="1219200" y="1756410"/>
            <a:ext cx="16325088" cy="670560"/>
          </a:xfrm>
          <a:prstGeom prst="rect">
            <a:avLst/>
          </a:prstGeom>
        </p:spPr>
        <p:txBody>
          <a:bodyPr anchor="t" rtlCol="false" tIns="0" lIns="0" bIns="0" rIns="0">
            <a:spAutoFit/>
          </a:bodyPr>
          <a:lstStyle/>
          <a:p>
            <a:pPr algn="l">
              <a:lnSpc>
                <a:spcPts val="5280"/>
              </a:lnSpc>
            </a:pPr>
            <a:r>
              <a:rPr lang="en-US" sz="4800" b="true">
                <a:solidFill>
                  <a:srgbClr val="13261F"/>
                </a:solidFill>
                <a:latin typeface="Rubik Bold"/>
                <a:ea typeface="Rubik Bold"/>
                <a:cs typeface="Rubik Bold"/>
                <a:sym typeface="Rubik Bold"/>
              </a:rPr>
              <a:t>Lo que damos por cierto, y qué hacemos si falla</a:t>
            </a:r>
          </a:p>
        </p:txBody>
      </p:sp>
      <p:graphicFrame>
        <p:nvGraphicFramePr>
          <p:cNvPr name="Table 4" id="4"/>
          <p:cNvGraphicFramePr>
            <a:graphicFrameLocks noGrp="true"/>
          </p:cNvGraphicFramePr>
          <p:nvPr/>
        </p:nvGraphicFramePr>
        <p:xfrm>
          <a:off x="1234440" y="2785118"/>
          <a:ext cx="15811500" cy="4114800"/>
        </p:xfrm>
        <a:graphic>
          <a:graphicData uri="http://schemas.openxmlformats.org/drawingml/2006/table">
            <a:tbl>
              <a:tblPr/>
              <a:tblGrid>
                <a:gridCol w="7905750"/>
                <a:gridCol w="7905750"/>
              </a:tblGrid>
              <a:tr h="514350">
                <a:tc>
                  <a:txBody>
                    <a:bodyPr anchor="t" rtlCol="false"/>
                    <a:lstStyle/>
                    <a:p>
                      <a:pPr algn="l">
                        <a:lnSpc>
                          <a:spcPts val="2625"/>
                        </a:lnSpc>
                        <a:defRPr/>
                      </a:pPr>
                      <a:r>
                        <a:rPr lang="en-US" sz="1875" b="true">
                          <a:solidFill>
                            <a:srgbClr val="F5F6F0"/>
                          </a:solidFill>
                          <a:latin typeface="Nunito Sans Bold"/>
                          <a:ea typeface="Nunito Sans Bold"/>
                          <a:cs typeface="Nunito Sans Bold"/>
                          <a:sym typeface="Nunito Sans Bold"/>
                        </a:rPr>
                        <a:t>Supuesto</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10251F"/>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10251F"/>
                      </a:solidFill>
                      <a:prstDash val="solid"/>
                      <a:round/>
                      <a:headEnd type="none" w="med" len="med"/>
                      <a:tailEnd type="none" w="med" len="med"/>
                    </a:lnB>
                    <a:solidFill>
                      <a:srgbClr val="0F2A22"/>
                    </a:solidFill>
                  </a:tcPr>
                </a:tc>
                <a:tc>
                  <a:txBody>
                    <a:bodyPr anchor="t" rtlCol="false"/>
                    <a:lstStyle/>
                    <a:p>
                      <a:pPr algn="l">
                        <a:lnSpc>
                          <a:spcPts val="2625"/>
                        </a:lnSpc>
                        <a:defRPr/>
                      </a:pPr>
                      <a:r>
                        <a:rPr lang="en-US" sz="1875" b="true">
                          <a:solidFill>
                            <a:srgbClr val="F5F6F0"/>
                          </a:solidFill>
                          <a:latin typeface="Nunito Sans Bold"/>
                          <a:ea typeface="Nunito Sans Bold"/>
                          <a:cs typeface="Nunito Sans Bold"/>
                          <a:sym typeface="Nunito Sans Bold"/>
                        </a:rPr>
                        <a:t>Si no se cumple</a:t>
                      </a:r>
                      <a:endParaRPr lang="en-US" sz="1100"/>
                    </a:p>
                  </a:txBody>
                  <a:tcPr marL="55563" marR="55563" marT="55563" marB="55563" anchor="t">
                    <a:lnL cmpd="sng" algn="ctr" cap="flat" w="12700">
                      <a:solidFill>
                        <a:srgbClr val="10251F"/>
                      </a:solidFill>
                      <a:prstDash val="solid"/>
                      <a:round/>
                      <a:headEnd type="none" w="med" len="med"/>
                      <a:tailEnd type="none" w="med" len="med"/>
                    </a:lnL>
                    <a:lnR cmpd="sng" algn="ctr" cap="flat" w="12700">
                      <a:solidFill>
                        <a:srgbClr val="10251F"/>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10251F"/>
                      </a:solidFill>
                      <a:prstDash val="solid"/>
                      <a:round/>
                      <a:headEnd type="none" w="med" len="med"/>
                      <a:tailEnd type="none" w="med" len="med"/>
                    </a:lnB>
                    <a:solidFill>
                      <a:srgbClr val="0F2A22"/>
                    </a:solidFill>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El colegio entrega a tiempo listados, hojas y formatos</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10251F"/>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Datos de ejemplo y validación posterior</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10251F"/>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El vicerrector revisa cada incremento</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Grabación de la demostración y aprobación escrita</a:t>
                      </a:r>
                      <a:endParaRPr lang="en-US" sz="1100"/>
                    </a:p>
                  </a:txBody>
                  <a:tcPr marL="55563" marR="55563" marT="55563" marB="55563"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Cada estudiante tiene el WhatsApp autorizado del representante</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El aviso se muestra en el tablero del estudiante y del docente</a:t>
                      </a:r>
                      <a:endParaRPr lang="en-US" sz="1100"/>
                    </a:p>
                  </a:txBody>
                  <a:tcPr marL="55563" marR="55563" marT="55563" marB="55563" anchor="t">
                    <a:lnL cmpd="sng" algn="ctr" cap="flat" w="12700">
                      <a:solidFill>
                        <a:srgbClr val="AEC4B5"/>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El proveedor aprueba las plantillas</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Push y WhatsApp asistido funcionan sin el proveedor</a:t>
                      </a:r>
                      <a:endParaRPr lang="en-US" sz="1100"/>
                    </a:p>
                  </a:txBody>
                  <a:tcPr marL="55563" marR="55563" marT="55563" marB="55563" anchor="t">
                    <a:lnL cmpd="sng" algn="ctr" cap="flat" w="12700">
                      <a:solidFill>
                        <a:srgbClr val="AEC4B5"/>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Docentes con computadora o celular y navegador actual</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Diseño para celular y capacitación</a:t>
                      </a:r>
                      <a:endParaRPr lang="en-US" sz="1100"/>
                    </a:p>
                  </a:txBody>
                  <a:tcPr marL="55563" marR="55563" marT="55563" marB="55563"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Fórmulas del año lectivo estables</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Parámetros configurables (RNF-10)</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r>
              <a:tr h="514350">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Hay un servidor para pruebas y producción</a:t>
                      </a:r>
                      <a:endParaRPr lang="en-US" sz="1100"/>
                    </a:p>
                  </a:txBody>
                  <a:tcPr marL="55563" marR="55563" marT="55563" marB="55563" anchor="t">
                    <a:lnL cmpd="sng" algn="ctr" cap="flat" w="12700">
                      <a:solidFill>
                        <a:srgbClr val="C4C4BF"/>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625"/>
                        </a:lnSpc>
                        <a:defRPr/>
                      </a:pPr>
                      <a:r>
                        <a:rPr lang="en-US" sz="1875">
                          <a:solidFill>
                            <a:srgbClr val="13261F"/>
                          </a:solidFill>
                          <a:latin typeface="Nunito Sans"/>
                          <a:ea typeface="Nunito Sans"/>
                          <a:cs typeface="Nunito Sans"/>
                          <a:sym typeface="Nunito Sans"/>
                        </a:rPr>
                        <a:t>Entrega en imágenes de contenedor</a:t>
                      </a:r>
                      <a:endParaRPr lang="en-US" sz="1100"/>
                    </a:p>
                  </a:txBody>
                  <a:tcPr marL="55563" marR="55563" marT="55563" marB="55563"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r>
            </a:tbl>
          </a:graphicData>
        </a:graphic>
      </p:graphicFrame>
    </p:spTree>
  </p:cSld>
  <p:clrMapOvr>
    <a:masterClrMapping/>
  </p:clrMapOvr>
</p:sld>
</file>

<file path=ppt/slides/slide17.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RIESGOS</a:t>
            </a:r>
          </a:p>
        </p:txBody>
      </p:sp>
      <p:sp>
        <p:nvSpPr>
          <p:cNvPr name="TextBox 3" id="3"/>
          <p:cNvSpPr txBox="true"/>
          <p:nvPr/>
        </p:nvSpPr>
        <p:spPr>
          <a:xfrm rot="0">
            <a:off x="1219200" y="1756410"/>
            <a:ext cx="16325088" cy="628650"/>
          </a:xfrm>
          <a:prstGeom prst="rect">
            <a:avLst/>
          </a:prstGeom>
        </p:spPr>
        <p:txBody>
          <a:bodyPr anchor="t" rtlCol="false" tIns="0" lIns="0" bIns="0" rIns="0">
            <a:spAutoFit/>
          </a:bodyPr>
          <a:lstStyle/>
          <a:p>
            <a:pPr algn="l">
              <a:lnSpc>
                <a:spcPts val="4950"/>
              </a:lnSpc>
            </a:pPr>
            <a:r>
              <a:rPr lang="en-US" sz="4500" b="true">
                <a:solidFill>
                  <a:srgbClr val="13261F"/>
                </a:solidFill>
                <a:latin typeface="Rubik Bold"/>
                <a:ea typeface="Rubik Bold"/>
                <a:cs typeface="Rubik Bold"/>
                <a:sym typeface="Rubik Bold"/>
              </a:rPr>
              <a:t>Los riesgos principales y cómo los controlamos</a:t>
            </a:r>
          </a:p>
        </p:txBody>
      </p:sp>
      <p:graphicFrame>
        <p:nvGraphicFramePr>
          <p:cNvPr name="Table 4" id="4"/>
          <p:cNvGraphicFramePr>
            <a:graphicFrameLocks noGrp="true"/>
          </p:cNvGraphicFramePr>
          <p:nvPr/>
        </p:nvGraphicFramePr>
        <p:xfrm>
          <a:off x="1234440" y="2705103"/>
          <a:ext cx="15792450" cy="4457700"/>
        </p:xfrm>
        <a:graphic>
          <a:graphicData uri="http://schemas.openxmlformats.org/drawingml/2006/table">
            <a:tbl>
              <a:tblPr/>
              <a:tblGrid>
                <a:gridCol w="1132570"/>
                <a:gridCol w="5512303"/>
                <a:gridCol w="1758246"/>
                <a:gridCol w="7389331"/>
              </a:tblGrid>
              <a:tr h="495300">
                <a:tc>
                  <a:txBody>
                    <a:bodyPr anchor="t" rtlCol="false"/>
                    <a:lstStyle/>
                    <a:p>
                      <a:pPr algn="l">
                        <a:lnSpc>
                          <a:spcPts val="2520"/>
                        </a:lnSpc>
                        <a:defRPr/>
                      </a:pPr>
                      <a:r>
                        <a:rPr lang="en-US" sz="1800" b="true">
                          <a:solidFill>
                            <a:srgbClr val="F5F6F0"/>
                          </a:solidFill>
                          <a:latin typeface="Nunito Sans Bold"/>
                          <a:ea typeface="Nunito Sans Bold"/>
                          <a:cs typeface="Nunito Sans Bold"/>
                          <a:sym typeface="Nunito Sans Bold"/>
                        </a:rPr>
                        <a:t>ID</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10251F"/>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10251F"/>
                      </a:solidFill>
                      <a:prstDash val="solid"/>
                      <a:round/>
                      <a:headEnd type="none" w="med" len="med"/>
                      <a:tailEnd type="none" w="med" len="med"/>
                    </a:lnB>
                    <a:solidFill>
                      <a:srgbClr val="0F2A22"/>
                    </a:solidFill>
                  </a:tcPr>
                </a:tc>
                <a:tc>
                  <a:txBody>
                    <a:bodyPr anchor="t" rtlCol="false"/>
                    <a:lstStyle/>
                    <a:p>
                      <a:pPr algn="l">
                        <a:lnSpc>
                          <a:spcPts val="2520"/>
                        </a:lnSpc>
                        <a:defRPr/>
                      </a:pPr>
                      <a:r>
                        <a:rPr lang="en-US" sz="1800" b="true">
                          <a:solidFill>
                            <a:srgbClr val="F5F6F0"/>
                          </a:solidFill>
                          <a:latin typeface="Nunito Sans Bold"/>
                          <a:ea typeface="Nunito Sans Bold"/>
                          <a:cs typeface="Nunito Sans Bold"/>
                          <a:sym typeface="Nunito Sans Bold"/>
                        </a:rPr>
                        <a:t>Riesgo</a:t>
                      </a:r>
                      <a:endParaRPr lang="en-US" sz="1100"/>
                    </a:p>
                  </a:txBody>
                  <a:tcPr marL="53340" marR="53340" marT="53340" marB="53340" anchor="t">
                    <a:lnL cmpd="sng" algn="ctr" cap="flat" w="12700">
                      <a:solidFill>
                        <a:srgbClr val="10251F"/>
                      </a:solidFill>
                      <a:prstDash val="solid"/>
                      <a:round/>
                      <a:headEnd type="none" w="med" len="med"/>
                      <a:tailEnd type="none" w="med" len="med"/>
                    </a:lnL>
                    <a:lnR cmpd="sng" algn="ctr" cap="flat" w="12700">
                      <a:solidFill>
                        <a:srgbClr val="10251F"/>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10251F"/>
                      </a:solidFill>
                      <a:prstDash val="solid"/>
                      <a:round/>
                      <a:headEnd type="none" w="med" len="med"/>
                      <a:tailEnd type="none" w="med" len="med"/>
                    </a:lnB>
                    <a:solidFill>
                      <a:srgbClr val="0F2A22"/>
                    </a:solidFill>
                  </a:tcPr>
                </a:tc>
                <a:tc>
                  <a:txBody>
                    <a:bodyPr anchor="t" rtlCol="false"/>
                    <a:lstStyle/>
                    <a:p>
                      <a:pPr algn="l">
                        <a:lnSpc>
                          <a:spcPts val="2520"/>
                        </a:lnSpc>
                        <a:defRPr/>
                      </a:pPr>
                      <a:r>
                        <a:rPr lang="en-US" sz="1800" b="true">
                          <a:solidFill>
                            <a:srgbClr val="F5F6F0"/>
                          </a:solidFill>
                          <a:latin typeface="Nunito Sans Bold"/>
                          <a:ea typeface="Nunito Sans Bold"/>
                          <a:cs typeface="Nunito Sans Bold"/>
                          <a:sym typeface="Nunito Sans Bold"/>
                        </a:rPr>
                        <a:t>Nivel</a:t>
                      </a:r>
                      <a:endParaRPr lang="en-US" sz="1100"/>
                    </a:p>
                  </a:txBody>
                  <a:tcPr marL="53340" marR="53340" marT="53340" marB="53340" anchor="t">
                    <a:lnL cmpd="sng" algn="ctr" cap="flat" w="12700">
                      <a:solidFill>
                        <a:srgbClr val="10251F"/>
                      </a:solidFill>
                      <a:prstDash val="solid"/>
                      <a:round/>
                      <a:headEnd type="none" w="med" len="med"/>
                      <a:tailEnd type="none" w="med" len="med"/>
                    </a:lnL>
                    <a:lnR cmpd="sng" algn="ctr" cap="flat" w="12700">
                      <a:solidFill>
                        <a:srgbClr val="10251F"/>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10251F"/>
                      </a:solidFill>
                      <a:prstDash val="solid"/>
                      <a:round/>
                      <a:headEnd type="none" w="med" len="med"/>
                      <a:tailEnd type="none" w="med" len="med"/>
                    </a:lnB>
                    <a:solidFill>
                      <a:srgbClr val="0F2A22"/>
                    </a:solidFill>
                  </a:tcPr>
                </a:tc>
                <a:tc>
                  <a:txBody>
                    <a:bodyPr anchor="t" rtlCol="false"/>
                    <a:lstStyle/>
                    <a:p>
                      <a:pPr algn="l">
                        <a:lnSpc>
                          <a:spcPts val="2520"/>
                        </a:lnSpc>
                        <a:defRPr/>
                      </a:pPr>
                      <a:r>
                        <a:rPr lang="en-US" sz="1800" b="true">
                          <a:solidFill>
                            <a:srgbClr val="F5F6F0"/>
                          </a:solidFill>
                          <a:latin typeface="Nunito Sans Bold"/>
                          <a:ea typeface="Nunito Sans Bold"/>
                          <a:cs typeface="Nunito Sans Bold"/>
                          <a:sym typeface="Nunito Sans Bold"/>
                        </a:rPr>
                        <a:t>Respuesta</a:t>
                      </a:r>
                      <a:endParaRPr lang="en-US" sz="1100"/>
                    </a:p>
                  </a:txBody>
                  <a:tcPr marL="53340" marR="53340" marT="53340" marB="53340" anchor="t">
                    <a:lnL cmpd="sng" algn="ctr" cap="flat" w="12700">
                      <a:solidFill>
                        <a:srgbClr val="10251F"/>
                      </a:solidFill>
                      <a:prstDash val="solid"/>
                      <a:round/>
                      <a:headEnd type="none" w="med" len="med"/>
                      <a:tailEnd type="none" w="med" len="med"/>
                    </a:lnL>
                    <a:lnR cmpd="sng" algn="ctr" cap="flat" w="12700">
                      <a:solidFill>
                        <a:srgbClr val="10251F"/>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10251F"/>
                      </a:solidFill>
                      <a:prstDash val="solid"/>
                      <a:round/>
                      <a:headEnd type="none" w="med" len="med"/>
                      <a:tailEnd type="none" w="med" len="med"/>
                    </a:lnB>
                    <a:solidFill>
                      <a:srgbClr val="0F2A22"/>
                    </a:solidFill>
                  </a:tcPr>
                </a:tc>
              </a:tr>
              <a:tr h="495300">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R1</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10251F"/>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Retraso por el alcance</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10251F"/>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Alto</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10251F"/>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Backlog priorizado; lo de prioridad Media es opcional</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10251F"/>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r>
              <a:tr h="495300">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R2</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Poca disponibilidad del vicerrector</a:t>
                      </a:r>
                      <a:endParaRPr lang="en-US" sz="1100"/>
                    </a:p>
                  </a:txBody>
                  <a:tcPr marL="53340" marR="53340" marT="53340" marB="53340"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Alto</a:t>
                      </a:r>
                      <a:endParaRPr lang="en-US" sz="1100"/>
                    </a:p>
                  </a:txBody>
                  <a:tcPr marL="53340" marR="53340" marT="53340" marB="53340"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Demostraciones agendadas o grabadas</a:t>
                      </a:r>
                      <a:endParaRPr lang="en-US" sz="1100"/>
                    </a:p>
                  </a:txBody>
                  <a:tcPr marL="53340" marR="53340" marT="53340" marB="53340"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r>
              <a:tr h="495300">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R5</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Pérdida de notas al sincronizar</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Alto</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Conflictos por campo, versiones y registro</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BABEB8"/>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r>
              <a:tr h="495300">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R6</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Aviso a una persona equivocada</a:t>
                      </a:r>
                      <a:endParaRPr lang="en-US" sz="1100"/>
                    </a:p>
                  </a:txBody>
                  <a:tcPr marL="53340" marR="53340" marT="53340" marB="53340" anchor="t">
                    <a:lnL cmpd="sng" algn="ctr" cap="flat" w="12700">
                      <a:solidFill>
                        <a:srgbClr val="AEC4B5"/>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Alto</a:t>
                      </a:r>
                      <a:endParaRPr lang="en-US" sz="1100"/>
                    </a:p>
                  </a:txBody>
                  <a:tcPr marL="53340" marR="53340" marT="53340" marB="53340" anchor="t">
                    <a:lnL cmpd="sng" algn="ctr" cap="flat" w="12700">
                      <a:solidFill>
                        <a:srgbClr val="AEC4B5"/>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Número verificado, autorización, plantilla sin la nota</a:t>
                      </a:r>
                      <a:endParaRPr lang="en-US" sz="1100"/>
                    </a:p>
                  </a:txBody>
                  <a:tcPr marL="53340" marR="53340" marT="53340" marB="53340" anchor="t">
                    <a:lnL cmpd="sng" algn="ctr" cap="flat" w="12700">
                      <a:solidFill>
                        <a:srgbClr val="AEC4B5"/>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r>
              <a:tr h="495300">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R9</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Robo de cuentas</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Alto</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Cambio de clave inicial, hash y bloqueo tras 3 intentos</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r>
              <a:tr h="495300">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R10</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Demora o costo del proveedor de WhatsApp</a:t>
                      </a:r>
                      <a:endParaRPr lang="en-US" sz="1100"/>
                    </a:p>
                  </a:txBody>
                  <a:tcPr marL="53340" marR="53340" marT="53340" marB="53340" anchor="t">
                    <a:lnL cmpd="sng" algn="ctr" cap="flat" w="12700">
                      <a:solidFill>
                        <a:srgbClr val="AEC4B5"/>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Medio</a:t>
                      </a:r>
                      <a:endParaRPr lang="en-US" sz="1100"/>
                    </a:p>
                  </a:txBody>
                  <a:tcPr marL="53340" marR="53340" marT="53340" marB="53340" anchor="t">
                    <a:lnL cmpd="sng" algn="ctr" cap="flat" w="12700">
                      <a:solidFill>
                        <a:srgbClr val="AEC4B5"/>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Avisos por niveles: push y WhatsApp asistido gratis</a:t>
                      </a:r>
                      <a:endParaRPr lang="en-US" sz="1100"/>
                    </a:p>
                  </a:txBody>
                  <a:tcPr marL="53340" marR="53340" marT="53340" marB="53340" anchor="t">
                    <a:lnL cmpd="sng" algn="ctr" cap="flat" w="12700">
                      <a:solidFill>
                        <a:srgbClr val="AEC4B5"/>
                      </a:solidFill>
                      <a:prstDash val="solid"/>
                      <a:round/>
                      <a:headEnd type="none" w="med" len="med"/>
                      <a:tailEnd type="none" w="med" len="med"/>
                    </a:lnL>
                    <a:lnR cmpd="sng" algn="ctr" cap="flat" w="12700">
                      <a:solidFill>
                        <a:srgbClr val="AEC4B5"/>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AEC4B5"/>
                      </a:solidFill>
                      <a:prstDash val="solid"/>
                      <a:round/>
                      <a:headEnd type="none" w="med" len="med"/>
                      <a:tailEnd type="none" w="med" len="med"/>
                    </a:lnB>
                    <a:solidFill>
                      <a:srgbClr val="D9F5E3"/>
                    </a:solidFill>
                  </a:tcPr>
                </a:tc>
              </a:tr>
              <a:tr h="495300">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R13</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Baja adopción de los docentes</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Alto</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Máximo tres pasos y capacitación</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C4C4BF"/>
                      </a:solidFill>
                      <a:prstDash val="solid"/>
                      <a:round/>
                      <a:headEnd type="none" w="med" len="med"/>
                      <a:tailEnd type="none" w="med" len="med"/>
                    </a:lnR>
                    <a:lnT cmpd="sng" algn="ctr" cap="flat" w="12700">
                      <a:solidFill>
                        <a:srgbClr val="AEC4B5"/>
                      </a:solidFill>
                      <a:prstDash val="solid"/>
                      <a:round/>
                      <a:headEnd type="none" w="med" len="med"/>
                      <a:tailEnd type="none" w="med" len="med"/>
                    </a:lnT>
                    <a:lnB cmpd="sng" algn="ctr" cap="flat" w="12700">
                      <a:solidFill>
                        <a:srgbClr val="C4C4BF"/>
                      </a:solidFill>
                      <a:prstDash val="solid"/>
                      <a:round/>
                      <a:headEnd type="none" w="med" len="med"/>
                      <a:tailEnd type="none" w="med" len="med"/>
                    </a:lnB>
                  </a:tcPr>
                </a:tc>
              </a:tr>
              <a:tr h="495300">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R14</a:t>
                      </a:r>
                      <a:endParaRPr lang="en-US" sz="1100"/>
                    </a:p>
                  </a:txBody>
                  <a:tcPr marL="53340" marR="53340" marT="53340" marB="53340" anchor="t">
                    <a:lnL cmpd="sng" algn="ctr" cap="flat" w="12700">
                      <a:solidFill>
                        <a:srgbClr val="C4C4BF"/>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Complejidad de los microservicios</a:t>
                      </a:r>
                      <a:endParaRPr lang="en-US" sz="1100"/>
                    </a:p>
                  </a:txBody>
                  <a:tcPr marL="53340" marR="53340" marT="53340" marB="53340"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Medio</a:t>
                      </a:r>
                      <a:endParaRPr lang="en-US" sz="1100"/>
                    </a:p>
                  </a:txBody>
                  <a:tcPr marL="53340" marR="53340" marT="53340" marB="53340"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c>
                  <a:txBody>
                    <a:bodyPr anchor="t" rtlCol="false"/>
                    <a:lstStyle/>
                    <a:p>
                      <a:pPr algn="l">
                        <a:lnSpc>
                          <a:spcPts val="2520"/>
                        </a:lnSpc>
                        <a:defRPr/>
                      </a:pPr>
                      <a:r>
                        <a:rPr lang="en-US" sz="1800">
                          <a:solidFill>
                            <a:srgbClr val="13261F"/>
                          </a:solidFill>
                          <a:latin typeface="Nunito Sans"/>
                          <a:ea typeface="Nunito Sans"/>
                          <a:cs typeface="Nunito Sans"/>
                          <a:sym typeface="Nunito Sans"/>
                        </a:rPr>
                        <a:t>Monorepo, contratos OpenAPI y esqueleto en el sprint 3</a:t>
                      </a:r>
                      <a:endParaRPr lang="en-US" sz="1100"/>
                    </a:p>
                  </a:txBody>
                  <a:tcPr marL="53340" marR="53340" marT="53340" marB="53340" anchor="t">
                    <a:lnL cmpd="sng" algn="ctr" cap="flat" w="12700">
                      <a:solidFill>
                        <a:srgbClr val="BABEB8"/>
                      </a:solidFill>
                      <a:prstDash val="solid"/>
                      <a:round/>
                      <a:headEnd type="none" w="med" len="med"/>
                      <a:tailEnd type="none" w="med" len="med"/>
                    </a:lnL>
                    <a:lnR cmpd="sng" algn="ctr" cap="flat" w="12700">
                      <a:solidFill>
                        <a:srgbClr val="BABEB8"/>
                      </a:solidFill>
                      <a:prstDash val="solid"/>
                      <a:round/>
                      <a:headEnd type="none" w="med" len="med"/>
                      <a:tailEnd type="none" w="med" len="med"/>
                    </a:lnR>
                    <a:lnT cmpd="sng" algn="ctr" cap="flat" w="12700">
                      <a:solidFill>
                        <a:srgbClr val="C4C4BF"/>
                      </a:solidFill>
                      <a:prstDash val="solid"/>
                      <a:round/>
                      <a:headEnd type="none" w="med" len="med"/>
                      <a:tailEnd type="none" w="med" len="med"/>
                    </a:lnT>
                    <a:lnB cmpd="sng" algn="ctr" cap="flat" w="12700">
                      <a:solidFill>
                        <a:srgbClr val="BABEB8"/>
                      </a:solidFill>
                      <a:prstDash val="solid"/>
                      <a:round/>
                      <a:headEnd type="none" w="med" len="med"/>
                      <a:tailEnd type="none" w="med" len="med"/>
                    </a:lnB>
                    <a:solidFill>
                      <a:srgbClr val="E9EEE6"/>
                    </a:solidFill>
                  </a:tcPr>
                </a:tc>
              </a:tr>
            </a:tbl>
          </a:graphicData>
        </a:graphic>
      </p:graphicFrame>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219200" y="1171575"/>
            <a:ext cx="16325088" cy="432435"/>
          </a:xfrm>
          <a:prstGeom prst="rect">
            <a:avLst/>
          </a:prstGeom>
        </p:spPr>
        <p:txBody>
          <a:bodyPr anchor="t" rtlCol="false" tIns="0" lIns="0" bIns="0" rIns="0">
            <a:spAutoFit/>
          </a:bodyPr>
          <a:lstStyle/>
          <a:p>
            <a:pPr algn="l">
              <a:lnSpc>
                <a:spcPts val="2729"/>
              </a:lnSpc>
            </a:pPr>
            <a:r>
              <a:rPr lang="en-US" b="true" sz="1950" spc="225">
                <a:solidFill>
                  <a:srgbClr val="137A41"/>
                </a:solidFill>
                <a:latin typeface="Nunito Sans Bold"/>
                <a:ea typeface="Nunito Sans Bold"/>
                <a:cs typeface="Nunito Sans Bold"/>
                <a:sym typeface="Nunito Sans Bold"/>
              </a:rPr>
              <a:t>CALIDAD Y PRUEBAS</a:t>
            </a:r>
          </a:p>
        </p:txBody>
      </p:sp>
      <p:sp>
        <p:nvSpPr>
          <p:cNvPr name="TextBox 3" id="3"/>
          <p:cNvSpPr txBox="true"/>
          <p:nvPr/>
        </p:nvSpPr>
        <p:spPr>
          <a:xfrm rot="0">
            <a:off x="1219200" y="1756410"/>
            <a:ext cx="16325088" cy="670560"/>
          </a:xfrm>
          <a:prstGeom prst="rect">
            <a:avLst/>
          </a:prstGeom>
        </p:spPr>
        <p:txBody>
          <a:bodyPr anchor="t" rtlCol="false" tIns="0" lIns="0" bIns="0" rIns="0">
            <a:spAutoFit/>
          </a:bodyPr>
          <a:lstStyle/>
          <a:p>
            <a:pPr algn="l">
              <a:lnSpc>
                <a:spcPts val="5280"/>
              </a:lnSpc>
            </a:pPr>
            <a:r>
              <a:rPr lang="en-US" sz="4800" b="true">
                <a:solidFill>
                  <a:srgbClr val="13261F"/>
                </a:solidFill>
                <a:latin typeface="Rubik Bold"/>
                <a:ea typeface="Rubik Bold"/>
                <a:cs typeface="Rubik Bold"/>
                <a:sym typeface="Rubik Bold"/>
              </a:rPr>
              <a:t>Cómo demostramos que funciona</a:t>
            </a:r>
          </a:p>
        </p:txBody>
      </p:sp>
      <p:grpSp>
        <p:nvGrpSpPr>
          <p:cNvPr name="Group 4" id="4"/>
          <p:cNvGrpSpPr/>
          <p:nvPr/>
        </p:nvGrpSpPr>
        <p:grpSpPr>
          <a:xfrm rot="0">
            <a:off x="1219200" y="2846080"/>
            <a:ext cx="5095161" cy="2771775"/>
            <a:chOff x="0" y="0"/>
            <a:chExt cx="6793547" cy="3695700"/>
          </a:xfrm>
        </p:grpSpPr>
        <p:sp>
          <p:nvSpPr>
            <p:cNvPr name="Freeform 5" id="5"/>
            <p:cNvSpPr/>
            <p:nvPr/>
          </p:nvSpPr>
          <p:spPr>
            <a:xfrm flipH="false" flipV="false" rot="0">
              <a:off x="0" y="0"/>
              <a:ext cx="6793484" cy="3695700"/>
            </a:xfrm>
            <a:custGeom>
              <a:avLst/>
              <a:gdLst/>
              <a:ahLst/>
              <a:cxnLst/>
              <a:rect r="r" b="b" t="t" l="l"/>
              <a:pathLst>
                <a:path h="3695700" w="6793484">
                  <a:moveTo>
                    <a:pt x="0" y="254000"/>
                  </a:moveTo>
                  <a:cubicBezTo>
                    <a:pt x="0" y="113665"/>
                    <a:pt x="113665" y="0"/>
                    <a:pt x="254000" y="0"/>
                  </a:cubicBezTo>
                  <a:lnTo>
                    <a:pt x="6539484" y="0"/>
                  </a:lnTo>
                  <a:cubicBezTo>
                    <a:pt x="6679819" y="0"/>
                    <a:pt x="6793484" y="113665"/>
                    <a:pt x="6793484" y="254000"/>
                  </a:cubicBezTo>
                  <a:lnTo>
                    <a:pt x="6793484" y="3441700"/>
                  </a:lnTo>
                  <a:cubicBezTo>
                    <a:pt x="6793484" y="3582035"/>
                    <a:pt x="6679819" y="3695700"/>
                    <a:pt x="6539484" y="3695700"/>
                  </a:cubicBezTo>
                  <a:lnTo>
                    <a:pt x="254000" y="3695700"/>
                  </a:lnTo>
                  <a:cubicBezTo>
                    <a:pt x="113665" y="3695700"/>
                    <a:pt x="0" y="3582035"/>
                    <a:pt x="0" y="3441700"/>
                  </a:cubicBezTo>
                  <a:close/>
                </a:path>
              </a:pathLst>
            </a:custGeom>
            <a:solidFill>
              <a:srgbClr val="0F2A22"/>
            </a:solidFill>
          </p:spPr>
        </p:sp>
      </p:grpSp>
      <p:sp>
        <p:nvSpPr>
          <p:cNvPr name="TextBox 6" id="6"/>
          <p:cNvSpPr txBox="true"/>
          <p:nvPr/>
        </p:nvSpPr>
        <p:spPr>
          <a:xfrm rot="0">
            <a:off x="1562100" y="3322330"/>
            <a:ext cx="4541644" cy="819150"/>
          </a:xfrm>
          <a:prstGeom prst="rect">
            <a:avLst/>
          </a:prstGeom>
        </p:spPr>
        <p:txBody>
          <a:bodyPr anchor="t" rtlCol="false" tIns="0" lIns="0" bIns="0" rIns="0">
            <a:spAutoFit/>
          </a:bodyPr>
          <a:lstStyle/>
          <a:p>
            <a:pPr algn="l">
              <a:lnSpc>
                <a:spcPts val="7200"/>
              </a:lnSpc>
            </a:pPr>
            <a:r>
              <a:rPr lang="en-US" sz="7200" b="true">
                <a:solidFill>
                  <a:srgbClr val="4ADE80"/>
                </a:solidFill>
                <a:latin typeface="Rubik Bold"/>
                <a:ea typeface="Rubik Bold"/>
                <a:cs typeface="Rubik Bold"/>
                <a:sym typeface="Rubik Bold"/>
              </a:rPr>
              <a:t>460</a:t>
            </a:r>
          </a:p>
        </p:txBody>
      </p:sp>
      <p:sp>
        <p:nvSpPr>
          <p:cNvPr name="TextBox 7" id="7"/>
          <p:cNvSpPr txBox="true"/>
          <p:nvPr/>
        </p:nvSpPr>
        <p:spPr>
          <a:xfrm rot="0">
            <a:off x="1562100" y="4151005"/>
            <a:ext cx="4541644" cy="1146810"/>
          </a:xfrm>
          <a:prstGeom prst="rect">
            <a:avLst/>
          </a:prstGeom>
        </p:spPr>
        <p:txBody>
          <a:bodyPr anchor="t" rtlCol="false" tIns="0" lIns="0" bIns="0" rIns="0">
            <a:spAutoFit/>
          </a:bodyPr>
          <a:lstStyle/>
          <a:p>
            <a:pPr algn="l">
              <a:lnSpc>
                <a:spcPts val="2835"/>
              </a:lnSpc>
            </a:pPr>
            <a:r>
              <a:rPr lang="en-US" sz="2100">
                <a:solidFill>
                  <a:srgbClr val="F5F6F0"/>
                </a:solidFill>
                <a:latin typeface="Nunito Sans"/>
                <a:ea typeface="Nunito Sans"/>
                <a:cs typeface="Nunito Sans"/>
                <a:sym typeface="Nunito Sans"/>
              </a:rPr>
              <a:t>usuarios simultáneos (400 estudiantes y 60 docentes) en la prueba de carga con k6</a:t>
            </a:r>
          </a:p>
        </p:txBody>
      </p:sp>
      <p:grpSp>
        <p:nvGrpSpPr>
          <p:cNvPr name="Group 8" id="8"/>
          <p:cNvGrpSpPr/>
          <p:nvPr/>
        </p:nvGrpSpPr>
        <p:grpSpPr>
          <a:xfrm rot="0">
            <a:off x="6581061" y="2846080"/>
            <a:ext cx="5110515" cy="2771775"/>
            <a:chOff x="0" y="0"/>
            <a:chExt cx="6814020" cy="3695700"/>
          </a:xfrm>
        </p:grpSpPr>
        <p:sp>
          <p:nvSpPr>
            <p:cNvPr name="Freeform 9" id="9"/>
            <p:cNvSpPr/>
            <p:nvPr/>
          </p:nvSpPr>
          <p:spPr>
            <a:xfrm flipH="false" flipV="false" rot="0">
              <a:off x="0" y="0"/>
              <a:ext cx="6814058" cy="3695700"/>
            </a:xfrm>
            <a:custGeom>
              <a:avLst/>
              <a:gdLst/>
              <a:ahLst/>
              <a:cxnLst/>
              <a:rect r="r" b="b" t="t" l="l"/>
              <a:pathLst>
                <a:path h="3695700" w="6814058">
                  <a:moveTo>
                    <a:pt x="0" y="248539"/>
                  </a:moveTo>
                  <a:cubicBezTo>
                    <a:pt x="0" y="111252"/>
                    <a:pt x="111252" y="0"/>
                    <a:pt x="248539" y="0"/>
                  </a:cubicBezTo>
                  <a:lnTo>
                    <a:pt x="6565519" y="0"/>
                  </a:lnTo>
                  <a:cubicBezTo>
                    <a:pt x="6702806" y="0"/>
                    <a:pt x="6814058" y="111252"/>
                    <a:pt x="6814058" y="248539"/>
                  </a:cubicBezTo>
                  <a:lnTo>
                    <a:pt x="6814058" y="3447161"/>
                  </a:lnTo>
                  <a:cubicBezTo>
                    <a:pt x="6814058" y="3584448"/>
                    <a:pt x="6702806" y="3695700"/>
                    <a:pt x="6565519" y="3695700"/>
                  </a:cubicBezTo>
                  <a:lnTo>
                    <a:pt x="248539" y="3695700"/>
                  </a:lnTo>
                  <a:cubicBezTo>
                    <a:pt x="111252" y="3695700"/>
                    <a:pt x="0" y="3584448"/>
                    <a:pt x="0" y="3447161"/>
                  </a:cubicBezTo>
                  <a:close/>
                </a:path>
              </a:pathLst>
            </a:custGeom>
            <a:solidFill>
              <a:srgbClr val="FFFFFF"/>
            </a:solidFill>
            <a:ln w="9525" cap="sq">
              <a:solidFill>
                <a:srgbClr val="DCE3DA"/>
              </a:solidFill>
              <a:prstDash val="solid"/>
              <a:miter/>
            </a:ln>
          </p:spPr>
        </p:sp>
      </p:grpSp>
      <p:sp>
        <p:nvSpPr>
          <p:cNvPr name="TextBox 10" id="10"/>
          <p:cNvSpPr txBox="true"/>
          <p:nvPr/>
        </p:nvSpPr>
        <p:spPr>
          <a:xfrm rot="0">
            <a:off x="6931581" y="3329940"/>
            <a:ext cx="4541768" cy="819150"/>
          </a:xfrm>
          <a:prstGeom prst="rect">
            <a:avLst/>
          </a:prstGeom>
        </p:spPr>
        <p:txBody>
          <a:bodyPr anchor="t" rtlCol="false" tIns="0" lIns="0" bIns="0" rIns="0">
            <a:spAutoFit/>
          </a:bodyPr>
          <a:lstStyle/>
          <a:p>
            <a:pPr algn="l">
              <a:lnSpc>
                <a:spcPts val="7200"/>
              </a:lnSpc>
            </a:pPr>
            <a:r>
              <a:rPr lang="en-US" sz="7200" b="true">
                <a:solidFill>
                  <a:srgbClr val="137A41"/>
                </a:solidFill>
                <a:latin typeface="Rubik Bold"/>
                <a:ea typeface="Rubik Bold"/>
                <a:cs typeface="Rubik Bold"/>
                <a:sym typeface="Rubik Bold"/>
              </a:rPr>
              <a:t>100 %</a:t>
            </a:r>
          </a:p>
        </p:txBody>
      </p:sp>
      <p:sp>
        <p:nvSpPr>
          <p:cNvPr name="TextBox 11" id="11"/>
          <p:cNvSpPr txBox="true"/>
          <p:nvPr/>
        </p:nvSpPr>
        <p:spPr>
          <a:xfrm rot="0">
            <a:off x="6931581" y="4158615"/>
            <a:ext cx="4541768" cy="786765"/>
          </a:xfrm>
          <a:prstGeom prst="rect">
            <a:avLst/>
          </a:prstGeom>
        </p:spPr>
        <p:txBody>
          <a:bodyPr anchor="t" rtlCol="false" tIns="0" lIns="0" bIns="0" rIns="0">
            <a:spAutoFit/>
          </a:bodyPr>
          <a:lstStyle/>
          <a:p>
            <a:pPr algn="l">
              <a:lnSpc>
                <a:spcPts val="2835"/>
              </a:lnSpc>
            </a:pPr>
            <a:r>
              <a:rPr lang="en-US" sz="2100">
                <a:solidFill>
                  <a:srgbClr val="4A5A52"/>
                </a:solidFill>
                <a:latin typeface="Nunito Sans"/>
                <a:ea typeface="Nunito Sans"/>
                <a:cs typeface="Nunito Sans"/>
                <a:sym typeface="Nunito Sans"/>
              </a:rPr>
              <a:t>de coincidencia con la hoja oficial de calificaciones (I-05)</a:t>
            </a:r>
          </a:p>
        </p:txBody>
      </p:sp>
      <p:grpSp>
        <p:nvGrpSpPr>
          <p:cNvPr name="Group 12" id="12"/>
          <p:cNvGrpSpPr/>
          <p:nvPr/>
        </p:nvGrpSpPr>
        <p:grpSpPr>
          <a:xfrm rot="0">
            <a:off x="11958285" y="2846080"/>
            <a:ext cx="5110515" cy="2771775"/>
            <a:chOff x="0" y="0"/>
            <a:chExt cx="6814020" cy="3695700"/>
          </a:xfrm>
        </p:grpSpPr>
        <p:sp>
          <p:nvSpPr>
            <p:cNvPr name="Freeform 13" id="13"/>
            <p:cNvSpPr/>
            <p:nvPr/>
          </p:nvSpPr>
          <p:spPr>
            <a:xfrm flipH="false" flipV="false" rot="0">
              <a:off x="0" y="0"/>
              <a:ext cx="6814058" cy="3695700"/>
            </a:xfrm>
            <a:custGeom>
              <a:avLst/>
              <a:gdLst/>
              <a:ahLst/>
              <a:cxnLst/>
              <a:rect r="r" b="b" t="t" l="l"/>
              <a:pathLst>
                <a:path h="3695700" w="6814058">
                  <a:moveTo>
                    <a:pt x="0" y="248539"/>
                  </a:moveTo>
                  <a:cubicBezTo>
                    <a:pt x="0" y="111252"/>
                    <a:pt x="111252" y="0"/>
                    <a:pt x="248539" y="0"/>
                  </a:cubicBezTo>
                  <a:lnTo>
                    <a:pt x="6565519" y="0"/>
                  </a:lnTo>
                  <a:cubicBezTo>
                    <a:pt x="6702806" y="0"/>
                    <a:pt x="6814058" y="111252"/>
                    <a:pt x="6814058" y="248539"/>
                  </a:cubicBezTo>
                  <a:lnTo>
                    <a:pt x="6814058" y="3447161"/>
                  </a:lnTo>
                  <a:cubicBezTo>
                    <a:pt x="6814058" y="3584448"/>
                    <a:pt x="6702806" y="3695700"/>
                    <a:pt x="6565519" y="3695700"/>
                  </a:cubicBezTo>
                  <a:lnTo>
                    <a:pt x="248539" y="3695700"/>
                  </a:lnTo>
                  <a:cubicBezTo>
                    <a:pt x="111252" y="3695700"/>
                    <a:pt x="0" y="3584448"/>
                    <a:pt x="0" y="3447161"/>
                  </a:cubicBezTo>
                  <a:close/>
                </a:path>
              </a:pathLst>
            </a:custGeom>
            <a:solidFill>
              <a:srgbClr val="FFFFFF"/>
            </a:solidFill>
            <a:ln w="9525" cap="sq">
              <a:solidFill>
                <a:srgbClr val="DCE3DA"/>
              </a:solidFill>
              <a:prstDash val="solid"/>
              <a:miter/>
            </a:ln>
          </p:spPr>
        </p:sp>
      </p:grpSp>
      <p:sp>
        <p:nvSpPr>
          <p:cNvPr name="TextBox 14" id="14"/>
          <p:cNvSpPr txBox="true"/>
          <p:nvPr/>
        </p:nvSpPr>
        <p:spPr>
          <a:xfrm rot="0">
            <a:off x="12308805" y="3329940"/>
            <a:ext cx="4541768" cy="819150"/>
          </a:xfrm>
          <a:prstGeom prst="rect">
            <a:avLst/>
          </a:prstGeom>
        </p:spPr>
        <p:txBody>
          <a:bodyPr anchor="t" rtlCol="false" tIns="0" lIns="0" bIns="0" rIns="0">
            <a:spAutoFit/>
          </a:bodyPr>
          <a:lstStyle/>
          <a:p>
            <a:pPr algn="l">
              <a:lnSpc>
                <a:spcPts val="7200"/>
              </a:lnSpc>
            </a:pPr>
            <a:r>
              <a:rPr lang="en-US" sz="7200" b="true">
                <a:solidFill>
                  <a:srgbClr val="137A41"/>
                </a:solidFill>
                <a:latin typeface="Rubik Bold"/>
                <a:ea typeface="Rubik Bold"/>
                <a:cs typeface="Rubik Bold"/>
                <a:sym typeface="Rubik Bold"/>
              </a:rPr>
              <a:t>0,5 s</a:t>
            </a:r>
          </a:p>
        </p:txBody>
      </p:sp>
      <p:sp>
        <p:nvSpPr>
          <p:cNvPr name="TextBox 15" id="15"/>
          <p:cNvSpPr txBox="true"/>
          <p:nvPr/>
        </p:nvSpPr>
        <p:spPr>
          <a:xfrm rot="0">
            <a:off x="12308805" y="4158615"/>
            <a:ext cx="4541768" cy="1146810"/>
          </a:xfrm>
          <a:prstGeom prst="rect">
            <a:avLst/>
          </a:prstGeom>
        </p:spPr>
        <p:txBody>
          <a:bodyPr anchor="t" rtlCol="false" tIns="0" lIns="0" bIns="0" rIns="0">
            <a:spAutoFit/>
          </a:bodyPr>
          <a:lstStyle/>
          <a:p>
            <a:pPr algn="l">
              <a:lnSpc>
                <a:spcPts val="2835"/>
              </a:lnSpc>
            </a:pPr>
            <a:r>
              <a:rPr lang="en-US" sz="2100">
                <a:solidFill>
                  <a:srgbClr val="4A5A52"/>
                </a:solidFill>
                <a:latin typeface="Nunito Sans"/>
                <a:ea typeface="Nunito Sans"/>
                <a:cs typeface="Nunito Sans"/>
                <a:sym typeface="Nunito Sans"/>
              </a:rPr>
              <a:t>meta de respuesta para el 95 % de las peticiones, con menos de 1 % de errores</a:t>
            </a:r>
          </a:p>
        </p:txBody>
      </p:sp>
      <p:grpSp>
        <p:nvGrpSpPr>
          <p:cNvPr name="Group 16" id="16"/>
          <p:cNvGrpSpPr/>
          <p:nvPr/>
        </p:nvGrpSpPr>
        <p:grpSpPr>
          <a:xfrm rot="0">
            <a:off x="1219200" y="6075055"/>
            <a:ext cx="15849600" cy="1253490"/>
            <a:chOff x="0" y="0"/>
            <a:chExt cx="21132800" cy="1671320"/>
          </a:xfrm>
        </p:grpSpPr>
        <p:sp>
          <p:nvSpPr>
            <p:cNvPr name="Freeform 17" id="17"/>
            <p:cNvSpPr/>
            <p:nvPr/>
          </p:nvSpPr>
          <p:spPr>
            <a:xfrm flipH="false" flipV="false" rot="0">
              <a:off x="0" y="0"/>
              <a:ext cx="21132800" cy="1671320"/>
            </a:xfrm>
            <a:custGeom>
              <a:avLst/>
              <a:gdLst/>
              <a:ahLst/>
              <a:cxnLst/>
              <a:rect r="r" b="b" t="t" l="l"/>
              <a:pathLst>
                <a:path h="1671320" w="21132800">
                  <a:moveTo>
                    <a:pt x="0" y="203200"/>
                  </a:moveTo>
                  <a:cubicBezTo>
                    <a:pt x="0" y="90932"/>
                    <a:pt x="90932" y="0"/>
                    <a:pt x="203200" y="0"/>
                  </a:cubicBezTo>
                  <a:lnTo>
                    <a:pt x="20929600" y="0"/>
                  </a:lnTo>
                  <a:cubicBezTo>
                    <a:pt x="21041868" y="0"/>
                    <a:pt x="21132800" y="90932"/>
                    <a:pt x="21132800" y="203200"/>
                  </a:cubicBezTo>
                  <a:lnTo>
                    <a:pt x="21132800" y="1468120"/>
                  </a:lnTo>
                  <a:cubicBezTo>
                    <a:pt x="21132800" y="1580388"/>
                    <a:pt x="21041868" y="1671320"/>
                    <a:pt x="20929600" y="1671320"/>
                  </a:cubicBezTo>
                  <a:lnTo>
                    <a:pt x="203200" y="1671320"/>
                  </a:lnTo>
                  <a:cubicBezTo>
                    <a:pt x="90932" y="1671320"/>
                    <a:pt x="0" y="1580388"/>
                    <a:pt x="0" y="1468120"/>
                  </a:cubicBezTo>
                  <a:close/>
                </a:path>
              </a:pathLst>
            </a:custGeom>
            <a:solidFill>
              <a:srgbClr val="E9EEE6"/>
            </a:solidFill>
          </p:spPr>
        </p:sp>
      </p:grpSp>
      <p:grpSp>
        <p:nvGrpSpPr>
          <p:cNvPr name="Group 18" id="18"/>
          <p:cNvGrpSpPr/>
          <p:nvPr/>
        </p:nvGrpSpPr>
        <p:grpSpPr>
          <a:xfrm rot="0">
            <a:off x="1562100" y="6473190"/>
            <a:ext cx="369218" cy="457200"/>
            <a:chOff x="0" y="0"/>
            <a:chExt cx="492290" cy="609600"/>
          </a:xfrm>
        </p:grpSpPr>
        <p:sp>
          <p:nvSpPr>
            <p:cNvPr name="Freeform 19" id="19" descr="CheckCircle"/>
            <p:cNvSpPr/>
            <p:nvPr/>
          </p:nvSpPr>
          <p:spPr>
            <a:xfrm flipH="false" flipV="false" rot="0">
              <a:off x="0" y="0"/>
              <a:ext cx="492252" cy="609600"/>
            </a:xfrm>
            <a:custGeom>
              <a:avLst/>
              <a:gdLst/>
              <a:ahLst/>
              <a:cxnLst/>
              <a:rect r="r" b="b" t="t" l="l"/>
              <a:pathLst>
                <a:path h="609600" w="492252">
                  <a:moveTo>
                    <a:pt x="0" y="0"/>
                  </a:moveTo>
                  <a:lnTo>
                    <a:pt x="492252" y="0"/>
                  </a:lnTo>
                  <a:lnTo>
                    <a:pt x="492252" y="609600"/>
                  </a:lnTo>
                  <a:lnTo>
                    <a:pt x="0" y="609600"/>
                  </a:lnTo>
                  <a:lnTo>
                    <a:pt x="0" y="0"/>
                  </a:lnTo>
                  <a:close/>
                </a:path>
              </a:pathLst>
            </a:custGeom>
            <a:blipFill>
              <a:blip r:embed="rId3"/>
              <a:stretch>
                <a:fillRect l="0" t="304" r="-7" b="304"/>
              </a:stretch>
            </a:blipFill>
          </p:spPr>
        </p:sp>
      </p:grpSp>
      <p:sp>
        <p:nvSpPr>
          <p:cNvPr name="TextBox 20" id="20"/>
          <p:cNvSpPr txBox="true"/>
          <p:nvPr/>
        </p:nvSpPr>
        <p:spPr>
          <a:xfrm rot="0">
            <a:off x="2159918" y="6313180"/>
            <a:ext cx="15002970" cy="786765"/>
          </a:xfrm>
          <a:prstGeom prst="rect">
            <a:avLst/>
          </a:prstGeom>
        </p:spPr>
        <p:txBody>
          <a:bodyPr anchor="t" rtlCol="false" tIns="0" lIns="0" bIns="0" rIns="0">
            <a:spAutoFit/>
          </a:bodyPr>
          <a:lstStyle/>
          <a:p>
            <a:pPr algn="l">
              <a:lnSpc>
                <a:spcPts val="2835"/>
              </a:lnSpc>
            </a:pPr>
            <a:r>
              <a:rPr lang="en-US" sz="2100">
                <a:solidFill>
                  <a:srgbClr val="13261F"/>
                </a:solidFill>
                <a:latin typeface="Nunito Sans"/>
                <a:ea typeface="Nunito Sans"/>
                <a:cs typeface="Nunito Sans"/>
                <a:sym typeface="Nunito Sans"/>
              </a:rPr>
              <a:t>Unitarias (JUnit, Vitest, pytest) · integración con Testcontainers · e2e con Playwright, también sin conexión · prueba del aviso push y con número de prueba de WhatsApp</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sp>
        <p:nvSpPr>
          <p:cNvPr name="Freeform 2" id="2"/>
          <p:cNvSpPr/>
          <p:nvPr/>
        </p:nvSpPr>
        <p:spPr>
          <a:xfrm flipH="false" flipV="false" rot="0">
            <a:off x="9096756" y="245191"/>
            <a:ext cx="3888032" cy="9796617"/>
          </a:xfrm>
          <a:custGeom>
            <a:avLst/>
            <a:gdLst/>
            <a:ahLst/>
            <a:cxnLst/>
            <a:rect r="r" b="b" t="t" l="l"/>
            <a:pathLst>
              <a:path h="9796617" w="3888032">
                <a:moveTo>
                  <a:pt x="0" y="0"/>
                </a:moveTo>
                <a:lnTo>
                  <a:pt x="3888032" y="0"/>
                </a:lnTo>
                <a:lnTo>
                  <a:pt x="3888032" y="9796618"/>
                </a:lnTo>
                <a:lnTo>
                  <a:pt x="0" y="9796618"/>
                </a:lnTo>
                <a:lnTo>
                  <a:pt x="0" y="0"/>
                </a:lnTo>
                <a:close/>
              </a:path>
            </a:pathLst>
          </a:custGeom>
          <a:blipFill>
            <a:blip r:embed="rId3"/>
            <a:stretch>
              <a:fillRect l="0" t="0" r="0" b="0"/>
            </a:stretch>
          </a:blipFill>
        </p:spPr>
      </p:sp>
      <p:sp>
        <p:nvSpPr>
          <p:cNvPr id="21" name="Eyebrow"/>
          <p:cNvSpPr txBox="1"/>
          <p:nvPr/>
        </p:nvSpPr>
        <p:spPr>
          <a:xfrm>
            <a:off x="1219200" y="1171575"/>
            <a:ext cx="7400000" cy="432435"/>
          </a:xfrm>
          <a:prstGeom prst="rect">
            <a:avLst/>
          </a:prstGeom>
          <a:noFill/>
          <a:ln>
            <a:noFill/>
          </a:ln>
        </p:spPr>
        <p:txBody>
          <a:bodyPr wrap="square" lIns="0" tIns="0" rIns="0" bIns="0" anchor="t">
            <a:normAutofit/>
          </a:bodyPr>
          <a:lstStyle/>
          <a:p>
            <a:pPr>
              <a:spcAft>
                <a:spcPts val="0"/>
              </a:spcAft>
              <a:buNone/>
            </a:pPr>
            <a:r>
              <a:rPr lang="es-EC" sz="1950" b="1" spc="225" dirty="0">
                <a:solidFill>
                  <a:srgbClr val="137A41"/>
                </a:solidFill>
                <a:latin typeface="Nunito Sans Bold"/>
              </a:rPr>
              <a:t>AVISOS A LOS REPRESENTANTES</a:t>
            </a:r>
          </a:p>
        </p:txBody>
      </p:sp>
      <p:sp>
        <p:nvSpPr>
          <p:cNvPr id="22" name="Título"/>
          <p:cNvSpPr txBox="1"/>
          <p:nvPr/>
        </p:nvSpPr>
        <p:spPr>
          <a:xfrm>
            <a:off x="1219200" y="1756410"/>
            <a:ext cx="7400000" cy="1500000"/>
          </a:xfrm>
          <a:prstGeom prst="rect">
            <a:avLst/>
          </a:prstGeom>
          <a:noFill/>
          <a:ln>
            <a:noFill/>
          </a:ln>
        </p:spPr>
        <p:txBody>
          <a:bodyPr wrap="square" lIns="0" tIns="0" rIns="0" bIns="0" anchor="t">
            <a:normAutofit/>
          </a:bodyPr>
          <a:lstStyle/>
          <a:p>
            <a:pPr>
              <a:spcAft>
                <a:spcPts val="0"/>
              </a:spcAft>
              <a:buNone/>
            </a:pPr>
            <a:r>
              <a:rPr lang="es-EC" sz="4800" b="1" dirty="0">
                <a:solidFill>
                  <a:srgbClr val="13261F"/>
                </a:solidFill>
                <a:latin typeface="Rubik Bold"/>
              </a:rPr>
              <a:t>Tres mensajes, tres canales</a:t>
            </a:r>
          </a:p>
        </p:txBody>
      </p:sp>
      <p:sp>
        <p:nvSpPr>
          <p:cNvPr id="23" name="Mensajes"/>
          <p:cNvSpPr txBox="1"/>
          <p:nvPr/>
        </p:nvSpPr>
        <p:spPr>
          <a:xfrm>
            <a:off x="1219200" y="3600000"/>
            <a:ext cx="7400000" cy="3300000"/>
          </a:xfrm>
          <a:prstGeom prst="rect">
            <a:avLst/>
          </a:prstGeom>
          <a:noFill/>
          <a:ln>
            <a:noFill/>
          </a:ln>
        </p:spPr>
        <p:txBody>
          <a:bodyPr wrap="square" lIns="0" tIns="0" rIns="0" bIns="0" anchor="t">
            <a:normAutofit/>
          </a:bodyPr>
          <a:lstStyle/>
          <a:p>
            <a:pPr>
              <a:spcAft>
                <a:spcPts val="900"/>
              </a:spcAft>
              <a:buNone/>
            </a:pPr>
            <a:r>
              <a:rPr lang="es-EC" sz="2200" dirty="0">
                <a:solidFill>
                  <a:srgbClr val="4A5A52"/>
                </a:solidFill>
                <a:latin typeface="Nunito Sans"/>
              </a:rPr>
              <a:t>Solo se envían estos mensajes, sin la nota exacta:</a:t>
            </a:r>
          </a:p>
          <a:p>
            <a:pPr marL="342900" indent="-342900">
              <a:spcAft>
                <a:spcPts val="600"/>
              </a:spcAft>
              <a:buFont typeface="Arial"/>
              <a:buChar char="•"/>
            </a:pPr>
            <a:r>
              <a:rPr lang="es-EC" sz="2200" b="1" dirty="0">
                <a:solidFill>
                  <a:srgbClr val="13261F"/>
                </a:solidFill>
                <a:latin typeface="Nunito Sans Bold"/>
              </a:rPr>
              <a:t>Confirmación de autorización</a:t>
            </a:r>
          </a:p>
          <a:p>
            <a:pPr marL="342900" indent="-342900">
              <a:spcAft>
                <a:spcPts val="600"/>
              </a:spcAft>
              <a:buFont typeface="Arial"/>
              <a:buChar char="•"/>
            </a:pPr>
            <a:r>
              <a:rPr lang="es-EC" sz="2200" b="1" dirty="0">
                <a:solidFill>
                  <a:srgbClr val="13261F"/>
                </a:solidFill>
                <a:latin typeface="Nunito Sans Bold"/>
              </a:rPr>
              <a:t>Promedio menor a 7 en una materia</a:t>
            </a:r>
          </a:p>
          <a:p>
            <a:pPr marL="342900" indent="-342900">
              <a:spcAft>
                <a:spcPts val="900"/>
              </a:spcAft>
              <a:buFont typeface="Arial"/>
              <a:buChar char="•"/>
            </a:pPr>
            <a:r>
              <a:rPr lang="es-EC" sz="2200" b="1" dirty="0">
                <a:solidFill>
                  <a:srgbClr val="13261F"/>
                </a:solidFill>
                <a:latin typeface="Nunito Sans Bold"/>
              </a:rPr>
              <a:t>Falta sin justificar</a:t>
            </a:r>
          </a:p>
          <a:p>
            <a:pPr>
              <a:spcAft>
                <a:spcPts val="0"/>
              </a:spcAft>
              <a:buNone/>
            </a:pPr>
            <a:r>
              <a:rPr lang="es-EC" sz="1800" dirty="0">
                <a:solidFill>
                  <a:srgbClr val="4A5A52"/>
                </a:solidFill>
                <a:latin typeface="Nunito Sans"/>
              </a:rPr>
              <a:t>Todos tienen el botón «No recibir avisos». Atrasos, tareas y comunicados se ven en la aplicación.</a:t>
            </a:r>
          </a:p>
        </p:txBody>
      </p:sp>
      <p:sp>
        <p:nvSpPr>
          <p:cNvPr id="24" name="Fuente"/>
          <p:cNvSpPr txBox="1"/>
          <p:nvPr/>
        </p:nvSpPr>
        <p:spPr>
          <a:xfrm>
            <a:off x="1219200" y="9250000"/>
            <a:ext cx="7400000" cy="450000"/>
          </a:xfrm>
          <a:prstGeom prst="rect">
            <a:avLst/>
          </a:prstGeom>
          <a:noFill/>
          <a:ln>
            <a:noFill/>
          </a:ln>
        </p:spPr>
        <p:txBody>
          <a:bodyPr wrap="square" lIns="0" tIns="0" rIns="0" bIns="0" anchor="t">
            <a:normAutofit/>
          </a:bodyPr>
          <a:lstStyle/>
          <a:p>
            <a:pPr>
              <a:spcAft>
                <a:spcPts val="0"/>
              </a:spcAft>
              <a:buNone/>
            </a:pPr>
            <a:r>
              <a:rPr lang="es-EC" sz="1350" dirty="0">
                <a:solidFill>
                  <a:srgbClr val="6B7A72"/>
                </a:solidFill>
                <a:latin typeface="Nunito Sans"/>
              </a:rPr>
              <a:t>Vista previa con datos ficticios · RF-29 a RF-34 · cambio CR-01</a:t>
            </a:r>
          </a:p>
        </p:txBody>
      </p:sp>
      <p:sp>
        <p:nvSpPr>
          <p:cNvPr id="25" name="Canal 1"/>
          <p:cNvSpPr txBox="1"/>
          <p:nvPr/>
        </p:nvSpPr>
        <p:spPr>
          <a:xfrm>
            <a:off x="13550000" y="1171575"/>
            <a:ext cx="4000000" cy="2350000"/>
          </a:xfrm>
          <a:prstGeom prst="roundRect">
            <a:avLst>
              <a:gd name="adj" fmla="val 8000"/>
            </a:avLst>
          </a:prstGeom>
          <a:solidFill>
            <a:srgbClr val="0F2A22"/>
          </a:solidFill>
          <a:ln>
            <a:noFill/>
          </a:ln>
        </p:spPr>
        <p:txBody>
          <a:bodyPr wrap="square" lIns="228600" tIns="228600" rIns="228600" bIns="228600" anchor="ctr">
            <a:normAutofit/>
          </a:bodyPr>
          <a:lstStyle/>
          <a:p>
            <a:pPr>
              <a:spcAft>
                <a:spcPts val="700"/>
              </a:spcAft>
              <a:buNone/>
            </a:pPr>
            <a:r>
              <a:rPr lang="es-EC" sz="2200" b="1" dirty="0">
                <a:solidFill>
                  <a:srgbClr val="4ADE80"/>
                </a:solidFill>
                <a:latin typeface="Nunito Sans Bold"/>
              </a:rPr>
              <a:t>1 · Push de la app</a:t>
            </a:r>
          </a:p>
          <a:p>
            <a:pPr>
              <a:spcAft>
                <a:spcPts val="0"/>
              </a:spcAft>
              <a:buNone/>
            </a:pPr>
            <a:r>
              <a:rPr lang="es-EC" sz="1800" dirty="0">
                <a:solidFill>
                  <a:srgbClr val="D6E4DC"/>
                </a:solidFill>
                <a:latin typeface="Nunito Sans"/>
              </a:rPr>
              <a:t>Gratis y automático. Llega al instante al celular del representante.</a:t>
            </a:r>
          </a:p>
        </p:txBody>
      </p:sp>
      <p:sp>
        <p:nvSpPr>
          <p:cNvPr id="26" name="Canal 2"/>
          <p:cNvSpPr txBox="1"/>
          <p:nvPr/>
        </p:nvSpPr>
        <p:spPr>
          <a:xfrm>
            <a:off x="13550000" y="3871575"/>
            <a:ext cx="4000000" cy="2350000"/>
          </a:xfrm>
          <a:prstGeom prst="roundRect">
            <a:avLst>
              <a:gd name="adj" fmla="val 8000"/>
            </a:avLst>
          </a:prstGeom>
          <a:solidFill>
            <a:srgbClr val="FFFFFF"/>
          </a:solidFill>
          <a:ln w="12700">
            <a:solidFill>
              <a:srgbClr val="DDE3DE"/>
            </a:solidFill>
          </a:ln>
        </p:spPr>
        <p:txBody>
          <a:bodyPr wrap="square" lIns="228600" tIns="228600" rIns="228600" bIns="228600" anchor="ctr">
            <a:normAutofit/>
          </a:bodyPr>
          <a:lstStyle/>
          <a:p>
            <a:pPr>
              <a:spcAft>
                <a:spcPts val="700"/>
              </a:spcAft>
              <a:buNone/>
            </a:pPr>
            <a:r>
              <a:rPr lang="es-EC" sz="2200" b="1" dirty="0">
                <a:solidFill>
                  <a:srgbClr val="137A41"/>
                </a:solidFill>
                <a:latin typeface="Nunito Sans Bold"/>
              </a:rPr>
              <a:t>2 · WhatsApp asistido</a:t>
            </a:r>
          </a:p>
          <a:p>
            <a:pPr>
              <a:spcAft>
                <a:spcPts val="0"/>
              </a:spcAft>
              <a:buNone/>
            </a:pPr>
            <a:r>
              <a:rPr lang="es-EC" sz="1800" dirty="0">
                <a:solidFill>
                  <a:srgbClr val="4A5A52"/>
                </a:solidFill>
                <a:latin typeface="Nunito Sans"/>
              </a:rPr>
              <a:t>Gratis. El docente o la secretaría lo envía con un clic, ya escrito.</a:t>
            </a:r>
          </a:p>
        </p:txBody>
      </p:sp>
      <p:sp>
        <p:nvSpPr>
          <p:cNvPr id="27" name="Canal 3"/>
          <p:cNvSpPr txBox="1"/>
          <p:nvPr/>
        </p:nvSpPr>
        <p:spPr>
          <a:xfrm>
            <a:off x="13550000" y="6571575"/>
            <a:ext cx="4000000" cy="2350000"/>
          </a:xfrm>
          <a:prstGeom prst="roundRect">
            <a:avLst>
              <a:gd name="adj" fmla="val 8000"/>
            </a:avLst>
          </a:prstGeom>
          <a:solidFill>
            <a:srgbClr val="FFFFFF"/>
          </a:solidFill>
          <a:ln w="12700">
            <a:solidFill>
              <a:srgbClr val="DDE3DE"/>
            </a:solidFill>
          </a:ln>
        </p:spPr>
        <p:txBody>
          <a:bodyPr wrap="square" lIns="228600" tIns="228600" rIns="228600" bIns="228600" anchor="ctr">
            <a:normAutofit/>
          </a:bodyPr>
          <a:lstStyle/>
          <a:p>
            <a:pPr>
              <a:spcAft>
                <a:spcPts val="700"/>
              </a:spcAft>
              <a:buNone/>
            </a:pPr>
            <a:r>
              <a:rPr lang="es-EC" sz="2200" b="1" dirty="0">
                <a:solidFill>
                  <a:srgbClr val="137A41"/>
                </a:solidFill>
                <a:latin typeface="Nunito Sans Bold"/>
              </a:rPr>
              <a:t>3 · WhatsApp automático</a:t>
            </a:r>
          </a:p>
          <a:p>
            <a:pPr>
              <a:spcAft>
                <a:spcPts val="0"/>
              </a:spcAft>
              <a:buNone/>
            </a:pPr>
            <a:r>
              <a:rPr lang="es-EC" sz="1800" dirty="0">
                <a:solidFill>
                  <a:srgbClr val="4A5A52"/>
                </a:solidFill>
                <a:latin typeface="Nunito Sans"/>
              </a:rPr>
              <a:t>Opcional. API oficial con costo por mensaje, si el colegio lo activa.</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0F2A22"/>
        </a:solidFill>
      </p:bgPr>
    </p:bg>
    <p:spTree>
      <p:nvGrpSpPr>
        <p:cNvPr id="1" name=""/>
        <p:cNvGrpSpPr/>
        <p:nvPr/>
      </p:nvGrpSpPr>
      <p:grpSpPr>
        <a:xfrm>
          <a:off x="0" y="0"/>
          <a:ext cx="0" cy="0"/>
          <a:chOff x="0" y="0"/>
          <a:chExt cx="0" cy="0"/>
        </a:xfrm>
      </p:grpSpPr>
      <p:sp>
        <p:nvSpPr>
          <p:cNvPr name="TextBox 2" id="2"/>
          <p:cNvSpPr txBox="true"/>
          <p:nvPr/>
        </p:nvSpPr>
        <p:spPr>
          <a:xfrm rot="0">
            <a:off x="1219200" y="1877377"/>
            <a:ext cx="16325088" cy="449580"/>
          </a:xfrm>
          <a:prstGeom prst="rect">
            <a:avLst/>
          </a:prstGeom>
        </p:spPr>
        <p:txBody>
          <a:bodyPr anchor="t" rtlCol="false" tIns="0" lIns="0" bIns="0" rIns="0">
            <a:spAutoFit/>
          </a:bodyPr>
          <a:lstStyle/>
          <a:p>
            <a:pPr algn="l">
              <a:lnSpc>
                <a:spcPts val="2940"/>
              </a:lnSpc>
            </a:pPr>
            <a:r>
              <a:rPr lang="en-US" b="true" sz="2100" spc="225">
                <a:solidFill>
                  <a:srgbClr val="4ADE80"/>
                </a:solidFill>
                <a:latin typeface="Nunito Sans Bold"/>
                <a:ea typeface="Nunito Sans Bold"/>
                <a:cs typeface="Nunito Sans Bold"/>
                <a:sym typeface="Nunito Sans Bold"/>
              </a:rPr>
              <a:t>EN RESUMEN</a:t>
            </a:r>
          </a:p>
        </p:txBody>
      </p:sp>
      <p:sp>
        <p:nvSpPr>
          <p:cNvPr name="TextBox 3" id="3"/>
          <p:cNvSpPr txBox="true"/>
          <p:nvPr/>
        </p:nvSpPr>
        <p:spPr>
          <a:xfrm rot="0">
            <a:off x="1219200" y="2888942"/>
            <a:ext cx="14716125" cy="2988945"/>
          </a:xfrm>
          <a:prstGeom prst="rect">
            <a:avLst/>
          </a:prstGeom>
        </p:spPr>
        <p:txBody>
          <a:bodyPr anchor="t" rtlCol="false" tIns="0" lIns="0" bIns="0" rIns="0">
            <a:spAutoFit/>
          </a:bodyPr>
          <a:lstStyle/>
          <a:p>
            <a:pPr algn="l">
              <a:lnSpc>
                <a:spcPts val="7920"/>
              </a:lnSpc>
            </a:pPr>
            <a:r>
              <a:rPr lang="en-US" sz="7200" b="true">
                <a:solidFill>
                  <a:srgbClr val="F5F6F0"/>
                </a:solidFill>
                <a:latin typeface="Rubik Bold"/>
                <a:ea typeface="Rubik Bold"/>
                <a:cs typeface="Rubik Bold"/>
                <a:sym typeface="Rubik Bold"/>
              </a:rPr>
              <a:t>Menos papel para el docente. Padres informados el mismo día.</a:t>
            </a:r>
          </a:p>
        </p:txBody>
      </p:sp>
      <p:sp>
        <p:nvSpPr>
          <p:cNvPr name="AutoShape 4" id="4"/>
          <p:cNvSpPr/>
          <p:nvPr/>
        </p:nvSpPr>
        <p:spPr>
          <a:xfrm rot="19140">
            <a:off x="1204874" y="6377940"/>
            <a:ext cx="5134051" cy="0"/>
          </a:xfrm>
          <a:prstGeom prst="line">
            <a:avLst/>
          </a:prstGeom>
          <a:ln cap="rnd" w="19050">
            <a:solidFill>
              <a:srgbClr val="4ADE80"/>
            </a:solidFill>
            <a:prstDash val="solid"/>
            <a:headEnd type="none" len="sm" w="sm"/>
            <a:tailEnd type="none" len="sm" w="sm"/>
          </a:ln>
        </p:spPr>
      </p:sp>
      <p:sp>
        <p:nvSpPr>
          <p:cNvPr name="TextBox 5" id="5"/>
          <p:cNvSpPr txBox="true"/>
          <p:nvPr/>
        </p:nvSpPr>
        <p:spPr>
          <a:xfrm rot="0">
            <a:off x="1219200" y="6548438"/>
            <a:ext cx="5258562" cy="847725"/>
          </a:xfrm>
          <a:prstGeom prst="rect">
            <a:avLst/>
          </a:prstGeom>
        </p:spPr>
        <p:txBody>
          <a:bodyPr anchor="t" rtlCol="false" tIns="0" lIns="0" bIns="0" rIns="0">
            <a:spAutoFit/>
          </a:bodyPr>
          <a:lstStyle/>
          <a:p>
            <a:pPr algn="l">
              <a:lnSpc>
                <a:spcPts val="3037"/>
              </a:lnSpc>
            </a:pPr>
            <a:r>
              <a:rPr lang="en-US" sz="2250">
                <a:solidFill>
                  <a:srgbClr val="B9CCC2"/>
                </a:solidFill>
                <a:latin typeface="Nunito Sans"/>
                <a:ea typeface="Nunito Sans"/>
                <a:cs typeface="Nunito Sans"/>
                <a:sym typeface="Nunito Sans"/>
              </a:rPr>
              <a:t>Planificación y notas automáticas, con el formato oficial</a:t>
            </a:r>
          </a:p>
        </p:txBody>
      </p:sp>
      <p:sp>
        <p:nvSpPr>
          <p:cNvPr name="AutoShape 6" id="6"/>
          <p:cNvSpPr/>
          <p:nvPr/>
        </p:nvSpPr>
        <p:spPr>
          <a:xfrm rot="19140">
            <a:off x="6576974" y="6377940"/>
            <a:ext cx="5134051" cy="0"/>
          </a:xfrm>
          <a:prstGeom prst="line">
            <a:avLst/>
          </a:prstGeom>
          <a:ln cap="rnd" w="19050">
            <a:solidFill>
              <a:srgbClr val="4ADE80"/>
            </a:solidFill>
            <a:prstDash val="solid"/>
            <a:headEnd type="none" len="sm" w="sm"/>
            <a:tailEnd type="none" len="sm" w="sm"/>
          </a:ln>
        </p:spPr>
      </p:sp>
      <p:sp>
        <p:nvSpPr>
          <p:cNvPr name="TextBox 7" id="7"/>
          <p:cNvSpPr txBox="true"/>
          <p:nvPr/>
        </p:nvSpPr>
        <p:spPr>
          <a:xfrm rot="0">
            <a:off x="6591300" y="6548438"/>
            <a:ext cx="5258562" cy="847725"/>
          </a:xfrm>
          <a:prstGeom prst="rect">
            <a:avLst/>
          </a:prstGeom>
        </p:spPr>
        <p:txBody>
          <a:bodyPr anchor="t" rtlCol="false" tIns="0" lIns="0" bIns="0" rIns="0">
            <a:spAutoFit/>
          </a:bodyPr>
          <a:lstStyle/>
          <a:p>
            <a:pPr algn="l">
              <a:lnSpc>
                <a:spcPts val="3037"/>
              </a:lnSpc>
            </a:pPr>
            <a:r>
              <a:rPr lang="en-US" sz="2250">
                <a:solidFill>
                  <a:srgbClr val="B9CCC2"/>
                </a:solidFill>
                <a:latin typeface="Nunito Sans"/>
                <a:ea typeface="Nunito Sans"/>
                <a:cs typeface="Nunito Sans"/>
                <a:sym typeface="Nunito Sans"/>
              </a:rPr>
              <a:t>Avisos gratis por push y WhatsApp, con consentimiento</a:t>
            </a:r>
          </a:p>
        </p:txBody>
      </p:sp>
      <p:sp>
        <p:nvSpPr>
          <p:cNvPr name="AutoShape 8" id="8"/>
          <p:cNvSpPr/>
          <p:nvPr/>
        </p:nvSpPr>
        <p:spPr>
          <a:xfrm rot="19140">
            <a:off x="11949074" y="6377940"/>
            <a:ext cx="5134051" cy="0"/>
          </a:xfrm>
          <a:prstGeom prst="line">
            <a:avLst/>
          </a:prstGeom>
          <a:ln cap="rnd" w="19050">
            <a:solidFill>
              <a:srgbClr val="4ADE80"/>
            </a:solidFill>
            <a:prstDash val="solid"/>
            <a:headEnd type="none" len="sm" w="sm"/>
            <a:tailEnd type="none" len="sm" w="sm"/>
          </a:ln>
        </p:spPr>
      </p:sp>
      <p:sp>
        <p:nvSpPr>
          <p:cNvPr name="TextBox 9" id="9"/>
          <p:cNvSpPr txBox="true"/>
          <p:nvPr/>
        </p:nvSpPr>
        <p:spPr>
          <a:xfrm rot="0">
            <a:off x="11963400" y="6548438"/>
            <a:ext cx="5258562" cy="847725"/>
          </a:xfrm>
          <a:prstGeom prst="rect">
            <a:avLst/>
          </a:prstGeom>
        </p:spPr>
        <p:txBody>
          <a:bodyPr anchor="t" rtlCol="false" tIns="0" lIns="0" bIns="0" rIns="0">
            <a:spAutoFit/>
          </a:bodyPr>
          <a:lstStyle/>
          <a:p>
            <a:pPr algn="l">
              <a:lnSpc>
                <a:spcPts val="3037"/>
              </a:lnSpc>
            </a:pPr>
            <a:r>
              <a:rPr lang="en-US" sz="2250">
                <a:solidFill>
                  <a:srgbClr val="B9CCC2"/>
                </a:solidFill>
                <a:latin typeface="Nunito Sans"/>
                <a:ea typeface="Nunito Sans"/>
                <a:cs typeface="Nunito Sans"/>
                <a:sym typeface="Nunito Sans"/>
              </a:rPr>
              <a:t>Funciona sin internet y escala a 460 usuarios</a:t>
            </a:r>
          </a:p>
        </p:txBody>
      </p:sp>
      <p:sp>
        <p:nvSpPr>
          <p:cNvPr name="TextBox 10" id="10"/>
          <p:cNvSpPr txBox="true"/>
          <p:nvPr/>
        </p:nvSpPr>
        <p:spPr>
          <a:xfrm rot="0">
            <a:off x="1219200" y="7843837"/>
            <a:ext cx="16325088" cy="565785"/>
          </a:xfrm>
          <a:prstGeom prst="rect">
            <a:avLst/>
          </a:prstGeom>
        </p:spPr>
        <p:txBody>
          <a:bodyPr anchor="t" rtlCol="false" tIns="0" lIns="0" bIns="0" rIns="0">
            <a:spAutoFit/>
          </a:bodyPr>
          <a:lstStyle/>
          <a:p>
            <a:pPr algn="l">
              <a:lnSpc>
                <a:spcPts val="3779"/>
              </a:lnSpc>
            </a:pPr>
            <a:r>
              <a:rPr lang="en-US" sz="2700" b="true">
                <a:solidFill>
                  <a:srgbClr val="F5F6F0"/>
                </a:solidFill>
                <a:latin typeface="Nunito Sans Bold"/>
                <a:ea typeface="Nunito Sans Bold"/>
                <a:cs typeface="Nunito Sans Bold"/>
                <a:sym typeface="Nunito Sans Bold"/>
              </a:rPr>
              <a:t>Gracias · ¿Preguntas?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DAHZIgnEeZM</dc:identifier>
  <dcterms:modified xsi:type="dcterms:W3CDTF">2011-08-01T06:04:30Z</dcterms:modified>
  <cp:revision>1</cp:revision>
  <dc:title>Propuesta de SI – Plataforma Académica Andoas.pptx</dc:title>
</cp:coreProperties>
</file>